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Revenue / Operating Income / Net Income ($B)</a:t>
            </a:r>
          </a:p>
        </c:rich>
      </c:tx>
      <c:layout/>
      <c:overlay val="0"/>
    </c:title>
    <c:autoTitleDeleted val="0"/>
    <c:plotArea>
      <c:layout/>
      <c:barChart>
        <c:barDir val="col"/>
        <c:grouping val="clustered"/>
        <c:varyColors val="0"/>
        <c:ser>
          <c:idx val="0"/>
          <c:order val="0"/>
          <c:tx>
            <c:strRef>
              <c:f>Sheet1!$B$1</c:f>
              <c:strCache>
                <c:ptCount val="1"/>
                <c:pt idx="0">
                  <c:v>Revenue ($)</c:v>
                </c:pt>
              </c:strCache>
            </c:strRef>
          </c:tx>
          <c:spPr>
            <a:solidFill>
              <a:srgbClr val="1F2D5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2025</c:v>
                  </c:pt>
                </c:lvl>
              </c:multiLvlStrCache>
            </c:multiLvlStrRef>
          </c:cat>
          <c:val>
            <c:numRef>
              <c:f>Sheet1!$B$2:$B$4</c:f>
              <c:numCache>
                <c:formatCode>General</c:formatCode>
                <c:ptCount val="3"/>
                <c:pt idx="0">
                  <c:v>158.104</c:v>
                </c:pt>
                <c:pt idx="1">
                  <c:v>177.556</c:v>
                </c:pt>
                <c:pt idx="2">
                  <c:v>182.447</c:v>
                </c:pt>
              </c:numCache>
            </c:numRef>
          </c:val>
        </c:ser>
        <c:ser>
          <c:idx val="1"/>
          <c:order val="1"/>
          <c:tx>
            <c:strRef>
              <c:f>Sheet1!$C$1</c:f>
              <c:strCache>
                <c:ptCount val="1"/>
                <c:pt idx="0">
                  <c:v>Net Income ($)</c:v>
                </c:pt>
              </c:strCache>
            </c:strRef>
          </c:tx>
          <c:spPr>
            <a:solidFill>
              <a:srgbClr val="2E6F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2025</c:v>
                  </c:pt>
                </c:lvl>
              </c:multiLvlStrCache>
            </c:multiLvlStrRef>
          </c:cat>
          <c:val>
            <c:numRef>
              <c:f>Sheet1!$C$2:$C$4</c:f>
              <c:numCache>
                <c:formatCode>General</c:formatCode>
                <c:ptCount val="3"/>
                <c:pt idx="0">
                  <c:v>49.552</c:v>
                </c:pt>
                <c:pt idx="1">
                  <c:v>58.471</c:v>
                </c:pt>
                <c:pt idx="2">
                  <c:v>57.048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linkedin.com/search/results/people/?keywords=James%20Dimon%20JPMORGAN%20CHASE%20%26%20CO" TargetMode="External"/><Relationship Id="rId3" Type="http://schemas.openxmlformats.org/officeDocument/2006/relationships/hyperlink" Target="https://www.linkedin.com/search/results/people/?keywords=Jeremy%20Barnum%20JPMORGAN%20CHASE%20%26%20CO" TargetMode="External"/><Relationship Id="rId1" Type="http://schemas.openxmlformats.org/officeDocument/2006/relationships/image" Target="../media/image-5-1.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468880"/>
            <a:ext cx="10725912" cy="11887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JPMORGAN CHASE &amp; CO</a:t>
            </a:r>
            <a:endParaRPr lang="en-US" sz="4400" dirty="0"/>
          </a:p>
        </p:txBody>
      </p:sp>
      <p:sp>
        <p:nvSpPr>
          <p:cNvPr id="3" name="Text 1"/>
          <p:cNvSpPr/>
          <p:nvPr/>
        </p:nvSpPr>
        <p:spPr>
          <a:xfrm>
            <a:off x="731520" y="3566160"/>
            <a:ext cx="10725912" cy="548640"/>
          </a:xfrm>
          <a:prstGeom prst="rect">
            <a:avLst/>
          </a:prstGeom>
          <a:noFill/>
          <a:ln/>
        </p:spPr>
        <p:txBody>
          <a:bodyPr wrap="square" rtlCol="0" anchor="ctr"/>
          <a:lstStyle/>
          <a:p>
            <a:pPr indent="0" marL="0">
              <a:buNone/>
            </a:pPr>
            <a:r>
              <a:rPr lang="en-US" sz="2000" dirty="0">
                <a:solidFill>
                  <a:srgbClr val="AFC6E3"/>
                </a:solidFill>
                <a:latin typeface="Calibri" pitchFamily="34" charset="0"/>
                <a:ea typeface="Calibri" pitchFamily="34" charset="-122"/>
                <a:cs typeface="Calibri" pitchFamily="34" charset="-120"/>
              </a:rPr>
              <a:t>Company Intelligence</a:t>
            </a:r>
            <a:endParaRPr lang="en-US" sz="2000" dirty="0"/>
          </a:p>
        </p:txBody>
      </p:sp>
      <p:sp>
        <p:nvSpPr>
          <p:cNvPr id="4" name="Text 2"/>
          <p:cNvSpPr/>
          <p:nvPr/>
        </p:nvSpPr>
        <p:spPr>
          <a:xfrm>
            <a:off x="731520" y="4069080"/>
            <a:ext cx="3657600" cy="365760"/>
          </a:xfrm>
          <a:prstGeom prst="rect">
            <a:avLst/>
          </a:prstGeom>
          <a:noFill/>
          <a:ln/>
        </p:spPr>
        <p:txBody>
          <a:bodyPr wrap="square" rtlCol="0" anchor="ctr"/>
          <a:lstStyle/>
          <a:p>
            <a:pPr indent="0" marL="0">
              <a:buNone/>
            </a:pPr>
            <a:r>
              <a:rPr lang="en-US" sz="1300" dirty="0">
                <a:solidFill>
                  <a:srgbClr val="7E96BF"/>
                </a:solidFill>
                <a:latin typeface="Calibri" pitchFamily="34" charset="0"/>
                <a:ea typeface="Calibri" pitchFamily="34" charset="-122"/>
                <a:cs typeface="Calibri" pitchFamily="34" charset="-120"/>
              </a:rPr>
              <a:t>JPM</a:t>
            </a:r>
            <a:endParaRPr lang="en-US" sz="1300" dirty="0"/>
          </a:p>
        </p:txBody>
      </p:sp>
      <p:sp>
        <p:nvSpPr>
          <p:cNvPr id="5" name="Text 3"/>
          <p:cNvSpPr/>
          <p:nvPr/>
        </p:nvSpPr>
        <p:spPr>
          <a:xfrm>
            <a:off x="731520" y="6217920"/>
            <a:ext cx="5486400" cy="365760"/>
          </a:xfrm>
          <a:prstGeom prst="rect">
            <a:avLst/>
          </a:prstGeom>
          <a:noFill/>
          <a:ln/>
        </p:spPr>
        <p:txBody>
          <a:bodyPr wrap="square" rtlCol="0" anchor="ctr"/>
          <a:lstStyle/>
          <a:p>
            <a:pPr indent="0" marL="0">
              <a:buNone/>
            </a:pPr>
            <a:r>
              <a:rPr lang="en-US" sz="1100" dirty="0">
                <a:solidFill>
                  <a:srgbClr val="7E96BF"/>
                </a:solidFill>
                <a:latin typeface="Calibri" pitchFamily="34" charset="0"/>
                <a:ea typeface="Calibri" pitchFamily="34" charset="-122"/>
                <a:cs typeface="Calibri" pitchFamily="34" charset="-120"/>
              </a:rPr>
              <a:t>Information Resource Centre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Company Overview</a:t>
            </a:r>
            <a:endParaRPr lang="en-US" sz="2600" dirty="0"/>
          </a:p>
        </p:txBody>
      </p:sp>
      <p:sp>
        <p:nvSpPr>
          <p:cNvPr id="3" name="Shape 1"/>
          <p:cNvSpPr/>
          <p:nvPr/>
        </p:nvSpPr>
        <p:spPr>
          <a:xfrm>
            <a:off x="457200"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FOUNDED</a:t>
            </a:r>
            <a:endParaRPr lang="en-US" sz="900" dirty="0"/>
          </a:p>
        </p:txBody>
      </p:sp>
      <p:sp>
        <p:nvSpPr>
          <p:cNvPr id="5" name="Text 3"/>
          <p:cNvSpPr/>
          <p:nvPr/>
        </p:nvSpPr>
        <p:spPr>
          <a:xfrm>
            <a:off x="566928"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1968</a:t>
            </a:r>
            <a:endParaRPr lang="en-US" sz="1200" dirty="0"/>
          </a:p>
        </p:txBody>
      </p:sp>
      <p:sp>
        <p:nvSpPr>
          <p:cNvPr id="6" name="Shape 4"/>
          <p:cNvSpPr/>
          <p:nvPr/>
        </p:nvSpPr>
        <p:spPr>
          <a:xfrm>
            <a:off x="2766974"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2876702"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HEADQUARTERS</a:t>
            </a:r>
            <a:endParaRPr lang="en-US" sz="900" dirty="0"/>
          </a:p>
        </p:txBody>
      </p:sp>
      <p:sp>
        <p:nvSpPr>
          <p:cNvPr id="8" name="Text 6"/>
          <p:cNvSpPr/>
          <p:nvPr/>
        </p:nvSpPr>
        <p:spPr>
          <a:xfrm>
            <a:off x="2876702"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270 Park Avenue, New York City</a:t>
            </a:r>
            <a:endParaRPr lang="en-US" sz="1200" dirty="0"/>
          </a:p>
        </p:txBody>
      </p:sp>
      <p:sp>
        <p:nvSpPr>
          <p:cNvPr id="9" name="Shape 7"/>
          <p:cNvSpPr/>
          <p:nvPr/>
        </p:nvSpPr>
        <p:spPr>
          <a:xfrm>
            <a:off x="5076749"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186477"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EMPLOYEES</a:t>
            </a:r>
            <a:endParaRPr lang="en-US" sz="900" dirty="0"/>
          </a:p>
        </p:txBody>
      </p:sp>
      <p:sp>
        <p:nvSpPr>
          <p:cNvPr id="11" name="Text 9"/>
          <p:cNvSpPr/>
          <p:nvPr/>
        </p:nvSpPr>
        <p:spPr>
          <a:xfrm>
            <a:off x="5186477"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318,512</a:t>
            </a:r>
            <a:endParaRPr lang="en-US" sz="1200" dirty="0"/>
          </a:p>
        </p:txBody>
      </p:sp>
      <p:sp>
        <p:nvSpPr>
          <p:cNvPr id="12" name="Shape 10"/>
          <p:cNvSpPr/>
          <p:nvPr/>
        </p:nvSpPr>
        <p:spPr>
          <a:xfrm>
            <a:off x="7386523"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7496251"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a:t>
            </a:r>
            <a:endParaRPr lang="en-US" sz="900" dirty="0"/>
          </a:p>
        </p:txBody>
      </p:sp>
      <p:sp>
        <p:nvSpPr>
          <p:cNvPr id="14" name="Text 12"/>
          <p:cNvSpPr/>
          <p:nvPr/>
        </p:nvSpPr>
        <p:spPr>
          <a:xfrm>
            <a:off x="7496251"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$182.4B</a:t>
            </a:r>
            <a:endParaRPr lang="en-US" sz="1200" dirty="0"/>
          </a:p>
        </p:txBody>
      </p:sp>
      <p:sp>
        <p:nvSpPr>
          <p:cNvPr id="15" name="Shape 13"/>
          <p:cNvSpPr/>
          <p:nvPr/>
        </p:nvSpPr>
        <p:spPr>
          <a:xfrm>
            <a:off x="9696298"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9806026"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MARKET CAP</a:t>
            </a:r>
            <a:endParaRPr lang="en-US" sz="900" dirty="0"/>
          </a:p>
        </p:txBody>
      </p:sp>
      <p:sp>
        <p:nvSpPr>
          <p:cNvPr id="17" name="Text 15"/>
          <p:cNvSpPr/>
          <p:nvPr/>
        </p:nvSpPr>
        <p:spPr>
          <a:xfrm>
            <a:off x="9806026"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$949.7B</a:t>
            </a:r>
            <a:endParaRPr lang="en-US" sz="1200" dirty="0"/>
          </a:p>
        </p:txBody>
      </p:sp>
      <p:sp>
        <p:nvSpPr>
          <p:cNvPr id="18" name="Shape 16"/>
          <p:cNvSpPr/>
          <p:nvPr/>
        </p:nvSpPr>
        <p:spPr>
          <a:xfrm>
            <a:off x="457200" y="2423160"/>
            <a:ext cx="5500116" cy="1417320"/>
          </a:xfrm>
          <a:prstGeom prst="roundRect">
            <a:avLst>
              <a:gd name="adj" fmla="val 387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594360" y="2514600"/>
            <a:ext cx="5225796"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Brands</a:t>
            </a:r>
            <a:endParaRPr lang="en-US" sz="1200" dirty="0"/>
          </a:p>
        </p:txBody>
      </p:sp>
      <p:sp>
        <p:nvSpPr>
          <p:cNvPr id="20" name="Text 18"/>
          <p:cNvSpPr/>
          <p:nvPr/>
        </p:nvSpPr>
        <p:spPr>
          <a:xfrm>
            <a:off x="594360" y="2807208"/>
            <a:ext cx="5225796" cy="914400"/>
          </a:xfrm>
          <a:prstGeom prst="rect">
            <a:avLst/>
          </a:prstGeom>
          <a:noFill/>
          <a:ln/>
        </p:spPr>
        <p:txBody>
          <a:bodyPr wrap="square" rtlCol="0" anchor="t">
            <a:normAutofit/>
          </a:bodyPr>
          <a:lstStyle/>
          <a:p>
            <a:pPr indent="0" marL="0">
              <a:buNone/>
            </a:pPr>
            <a:r>
              <a:rPr lang="en-US" sz="1000" dirty="0">
                <a:solidFill>
                  <a:srgbClr val="13192E"/>
                </a:solidFill>
                <a:latin typeface="Calibri" pitchFamily="34" charset="0"/>
                <a:ea typeface="Calibri" pitchFamily="34" charset="-122"/>
                <a:cs typeface="Calibri" pitchFamily="34" charset="-120"/>
              </a:rPr>
              <a:t>J.P. Morgan, Chase</a:t>
            </a:r>
            <a:endParaRPr lang="en-US" sz="1000" dirty="0"/>
          </a:p>
        </p:txBody>
      </p:sp>
      <p:sp>
        <p:nvSpPr>
          <p:cNvPr id="21" name="Shape 19"/>
          <p:cNvSpPr/>
          <p:nvPr/>
        </p:nvSpPr>
        <p:spPr>
          <a:xfrm>
            <a:off x="6231636" y="2423160"/>
            <a:ext cx="5500116" cy="1417320"/>
          </a:xfrm>
          <a:prstGeom prst="roundRect">
            <a:avLst>
              <a:gd name="adj" fmla="val 387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6368796" y="2514600"/>
            <a:ext cx="5225796"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Services</a:t>
            </a:r>
            <a:endParaRPr lang="en-US" sz="1200" dirty="0"/>
          </a:p>
        </p:txBody>
      </p:sp>
      <p:sp>
        <p:nvSpPr>
          <p:cNvPr id="23" name="Text 21"/>
          <p:cNvSpPr/>
          <p:nvPr/>
        </p:nvSpPr>
        <p:spPr>
          <a:xfrm>
            <a:off x="6368796" y="2807208"/>
            <a:ext cx="5225796" cy="914400"/>
          </a:xfrm>
          <a:prstGeom prst="rect">
            <a:avLst/>
          </a:prstGeom>
          <a:noFill/>
          <a:ln/>
        </p:spPr>
        <p:txBody>
          <a:bodyPr wrap="square" rtlCol="0" anchor="t">
            <a:normAutofit/>
          </a:bodyPr>
          <a:lstStyle/>
          <a:p>
            <a:pPr indent="0" marL="0">
              <a:buNone/>
            </a:pPr>
            <a:r>
              <a:rPr lang="en-US" sz="1000" dirty="0">
                <a:solidFill>
                  <a:srgbClr val="13192E"/>
                </a:solidFill>
                <a:latin typeface="Calibri" pitchFamily="34" charset="0"/>
                <a:ea typeface="Calibri" pitchFamily="34" charset="-122"/>
                <a:cs typeface="Calibri" pitchFamily="34" charset="-120"/>
              </a:rPr>
              <a:t>investment banking, financial services for consumers and small businesses, commercial banking, financial transaction processing, asset management</a:t>
            </a:r>
            <a:endParaRPr lang="en-US" sz="1000" dirty="0"/>
          </a:p>
        </p:txBody>
      </p:sp>
      <p:sp>
        <p:nvSpPr>
          <p:cNvPr id="24" name="Shape 22"/>
          <p:cNvSpPr/>
          <p:nvPr/>
        </p:nvSpPr>
        <p:spPr>
          <a:xfrm>
            <a:off x="457200" y="4069080"/>
            <a:ext cx="11000232" cy="2286000"/>
          </a:xfrm>
          <a:prstGeom prst="roundRect">
            <a:avLst>
              <a:gd name="adj" fmla="val 24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5" name="Text 23"/>
          <p:cNvSpPr/>
          <p:nvPr/>
        </p:nvSpPr>
        <p:spPr>
          <a:xfrm>
            <a:off x="594360" y="4160520"/>
            <a:ext cx="1072591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Key Acquisitions</a:t>
            </a:r>
            <a:endParaRPr lang="en-US" sz="1200" dirty="0"/>
          </a:p>
        </p:txBody>
      </p:sp>
      <p:sp>
        <p:nvSpPr>
          <p:cNvPr id="26" name="Text 24"/>
          <p:cNvSpPr/>
          <p:nvPr/>
        </p:nvSpPr>
        <p:spPr>
          <a:xfrm>
            <a:off x="594360" y="4453128"/>
            <a:ext cx="10725912" cy="1783080"/>
          </a:xfrm>
          <a:prstGeom prst="rect">
            <a:avLst/>
          </a:prstGeom>
          <a:noFill/>
          <a:ln/>
        </p:spPr>
        <p:txBody>
          <a:bodyPr wrap="square" rtlCol="0" anchor="t"/>
          <a:lstStyle/>
          <a:p>
            <a:pPr marL="342900" indent="-342900">
              <a:buSzPct val="100000"/>
              <a:buChar char="•"/>
            </a:pPr>
            <a:r>
              <a:rPr lang="en-US" sz="1000" dirty="0">
                <a:solidFill>
                  <a:srgbClr val="13192E"/>
                </a:solidFill>
                <a:latin typeface="Calibri" pitchFamily="34" charset="0"/>
                <a:ea typeface="Calibri" pitchFamily="34" charset="-122"/>
                <a:cs typeface="Calibri" pitchFamily="34" charset="-120"/>
              </a:rPr>
              <a:t>2024 First Republic</a:t>
            </a:r>
            <a:endParaRPr lang="en-US" sz="1000" dirty="0"/>
          </a:p>
        </p:txBody>
      </p:sp>
      <p:sp>
        <p:nvSpPr>
          <p:cNvPr id="27" name="Text 25"/>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28" name="Text 26"/>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Geographic Presence</a:t>
            </a:r>
            <a:endParaRPr lang="en-US" sz="2600" dirty="0"/>
          </a:p>
        </p:txBody>
      </p:sp>
      <p:sp>
        <p:nvSpPr>
          <p:cNvPr id="3" name="Shape 1"/>
          <p:cNvSpPr/>
          <p:nvPr/>
        </p:nvSpPr>
        <p:spPr>
          <a:xfrm>
            <a:off x="457200" y="1188720"/>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40080" y="1261872"/>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Countries</a:t>
            </a:r>
            <a:endParaRPr lang="en-US" sz="1200" dirty="0"/>
          </a:p>
        </p:txBody>
      </p:sp>
      <p:sp>
        <p:nvSpPr>
          <p:cNvPr id="5" name="Text 3"/>
          <p:cNvSpPr/>
          <p:nvPr/>
        </p:nvSpPr>
        <p:spPr>
          <a:xfrm>
            <a:off x="3017520" y="1261872"/>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United States, U.K., India, Philippines</a:t>
            </a:r>
            <a:endParaRPr lang="en-US" sz="1050" dirty="0"/>
          </a:p>
        </p:txBody>
      </p:sp>
      <p:sp>
        <p:nvSpPr>
          <p:cNvPr id="6" name="Shape 4"/>
          <p:cNvSpPr/>
          <p:nvPr/>
        </p:nvSpPr>
        <p:spPr>
          <a:xfrm>
            <a:off x="457200" y="2057400"/>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40080" y="2130552"/>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Regions</a:t>
            </a:r>
            <a:endParaRPr lang="en-US" sz="1200" dirty="0"/>
          </a:p>
        </p:txBody>
      </p:sp>
      <p:sp>
        <p:nvSpPr>
          <p:cNvPr id="8" name="Text 6"/>
          <p:cNvSpPr/>
          <p:nvPr/>
        </p:nvSpPr>
        <p:spPr>
          <a:xfrm>
            <a:off x="3017520" y="2130552"/>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North America, Asia-Pacific, Europe/Middle East/Africa, Latin America/Caribbean</a:t>
            </a:r>
            <a:endParaRPr lang="en-US" sz="1050" dirty="0"/>
          </a:p>
        </p:txBody>
      </p:sp>
      <p:sp>
        <p:nvSpPr>
          <p:cNvPr id="9" name="Shape 7"/>
          <p:cNvSpPr/>
          <p:nvPr/>
        </p:nvSpPr>
        <p:spPr>
          <a:xfrm>
            <a:off x="457200" y="2926080"/>
            <a:ext cx="11274552" cy="905256"/>
          </a:xfrm>
          <a:prstGeom prst="roundRect">
            <a:avLst>
              <a:gd name="adj" fmla="val 606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640080" y="2999232"/>
            <a:ext cx="2377440" cy="758952"/>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Offices / Facilities</a:t>
            </a:r>
            <a:endParaRPr lang="en-US" sz="1200" dirty="0"/>
          </a:p>
        </p:txBody>
      </p:sp>
      <p:sp>
        <p:nvSpPr>
          <p:cNvPr id="11" name="Text 9"/>
          <p:cNvSpPr/>
          <p:nvPr/>
        </p:nvSpPr>
        <p:spPr>
          <a:xfrm>
            <a:off x="3017520" y="2999232"/>
            <a:ext cx="8531352" cy="758952"/>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New York City, Columbus/Westerville, Chicago, Dallas/Plano/Fort Worth, Wilmington/Newark, Houston, Jersey City, Phoenix/Tempe, London, India, Philippines</a:t>
            </a:r>
            <a:endParaRPr lang="en-US" sz="1050" dirty="0"/>
          </a:p>
        </p:txBody>
      </p:sp>
      <p:sp>
        <p:nvSpPr>
          <p:cNvPr id="12" name="Shape 10"/>
          <p:cNvSpPr/>
          <p:nvPr/>
        </p:nvSpPr>
        <p:spPr>
          <a:xfrm>
            <a:off x="457200" y="3995928"/>
            <a:ext cx="11274552" cy="1106424"/>
          </a:xfrm>
          <a:prstGeom prst="roundRect">
            <a:avLst>
              <a:gd name="adj" fmla="val 49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40080" y="4069080"/>
            <a:ext cx="2377440" cy="960120"/>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Revenue by Geography</a:t>
            </a:r>
            <a:endParaRPr lang="en-US" sz="1200" dirty="0"/>
          </a:p>
        </p:txBody>
      </p:sp>
      <p:sp>
        <p:nvSpPr>
          <p:cNvPr id="14" name="Text 12"/>
          <p:cNvSpPr/>
          <p:nvPr/>
        </p:nvSpPr>
        <p:spPr>
          <a:xfrm>
            <a:off x="3017520" y="4069080"/>
            <a:ext cx="8531352" cy="960120"/>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{'Europe/Middle East/Africa': 24478000000.0, 'Asia-Pacific': 14065000000.0, 'Latin America/Caribbean': 4215000000.0, 'Total international': 42758000000.0, 'North America': 139689000000.0}</a:t>
            </a:r>
            <a:endParaRPr lang="en-US" sz="10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Organization Structure</a:t>
            </a:r>
            <a:endParaRPr lang="en-US" sz="2600" dirty="0"/>
          </a:p>
        </p:txBody>
      </p:sp>
      <p:sp>
        <p:nvSpPr>
          <p:cNvPr id="3" name="Shape 1"/>
          <p:cNvSpPr/>
          <p:nvPr/>
        </p:nvSpPr>
        <p:spPr>
          <a:xfrm>
            <a:off x="457200" y="1143000"/>
            <a:ext cx="11274552" cy="5166360"/>
          </a:xfrm>
          <a:prstGeom prst="roundRect">
            <a:avLst>
              <a:gd name="adj" fmla="val 106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731520" y="1280160"/>
            <a:ext cx="10725912" cy="4937760"/>
          </a:xfrm>
          <a:prstGeom prst="rect">
            <a:avLst/>
          </a:prstGeom>
          <a:noFill/>
          <a:ln/>
        </p:spPr>
        <p:txBody>
          <a:bodyPr wrap="square" rtlCol="0" anchor="ctr">
            <a:normAutofit/>
          </a:bodyPr>
          <a:lstStyle/>
          <a:p>
            <a:pPr indent="0" marL="0">
              <a:buNone/>
            </a:pPr>
            <a:r>
              <a:rPr lang="en-US" sz="1300" dirty="0">
                <a:solidFill>
                  <a:srgbClr val="13192E"/>
                </a:solidFill>
                <a:latin typeface="Calibri" pitchFamily="34" charset="0"/>
                <a:ea typeface="Calibri" pitchFamily="34" charset="-122"/>
                <a:cs typeface="Calibri" pitchFamily="34" charset="-120"/>
              </a:rPr>
              <a:t>For management reporting purposes, the Firm has three reportable business segments Consumer Community Banking ( CCB ), Commercial Investment Bank ( CIB ) and Asset Wealth Management ( AWM ) with the remaining activities in Corporate.</a:t>
            </a:r>
            <a:endParaRPr lang="en-US" sz="1300" dirty="0"/>
          </a:p>
        </p:txBody>
      </p:sp>
      <p:sp>
        <p:nvSpPr>
          <p:cNvPr id="5" name="Text 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6" name="Text 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Leadership Team</a:t>
            </a:r>
            <a:endParaRPr lang="en-US" sz="2600" dirty="0"/>
          </a:p>
        </p:txBody>
      </p:sp>
      <p:sp>
        <p:nvSpPr>
          <p:cNvPr id="3" name="Shape 1"/>
          <p:cNvSpPr/>
          <p:nvPr/>
        </p:nvSpPr>
        <p:spPr>
          <a:xfrm>
            <a:off x="457200" y="1143000"/>
            <a:ext cx="5500116" cy="5257800"/>
          </a:xfrm>
          <a:prstGeom prst="roundRect">
            <a:avLst>
              <a:gd name="adj" fmla="val 1043"/>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pic>
        <p:nvPicPr>
          <p:cNvPr id="4" name="Image 0" descr="photos\james-dimon.jpg">    </p:cNvPr>
          <p:cNvPicPr>
            <a:picLocks noChangeAspect="1"/>
          </p:cNvPicPr>
          <p:nvPr/>
        </p:nvPicPr>
        <p:blipFill>
          <a:blip r:embed="rId1"/>
          <a:stretch>
            <a:fillRect/>
          </a:stretch>
        </p:blipFill>
        <p:spPr>
          <a:xfrm>
            <a:off x="621792" y="1307592"/>
            <a:ext cx="594360" cy="594360"/>
          </a:xfrm>
          <a:prstGeom prst="ellipse">
            <a:avLst/>
          </a:prstGeom>
        </p:spPr>
      </p:pic>
      <p:sp>
        <p:nvSpPr>
          <p:cNvPr id="5" name="Text 2"/>
          <p:cNvSpPr/>
          <p:nvPr/>
        </p:nvSpPr>
        <p:spPr>
          <a:xfrm>
            <a:off x="1325880" y="1280160"/>
            <a:ext cx="449427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James Dimon</a:t>
            </a:r>
            <a:endParaRPr lang="en-US" sz="1150" dirty="0"/>
          </a:p>
        </p:txBody>
      </p:sp>
      <p:sp>
        <p:nvSpPr>
          <p:cNvPr id="6" name="Text 3"/>
          <p:cNvSpPr/>
          <p:nvPr/>
        </p:nvSpPr>
        <p:spPr>
          <a:xfrm>
            <a:off x="1325880" y="1581912"/>
            <a:ext cx="4494276"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Director, Chairman and Chief Executive Officer</a:t>
            </a:r>
            <a:endParaRPr lang="en-US" sz="900" dirty="0"/>
          </a:p>
        </p:txBody>
      </p:sp>
      <p:sp>
        <p:nvSpPr>
          <p:cNvPr id="7" name="Text 4"/>
          <p:cNvSpPr/>
          <p:nvPr/>
        </p:nvSpPr>
        <p:spPr>
          <a:xfrm>
            <a:off x="621792" y="2011680"/>
            <a:ext cx="5170932" cy="4206240"/>
          </a:xfrm>
          <a:prstGeom prst="rect">
            <a:avLst/>
          </a:prstGeom>
          <a:noFill/>
          <a:ln/>
        </p:spPr>
        <p:txBody>
          <a:bodyPr wrap="square" rtlCol="0" anchor="t">
            <a:normAutofit/>
          </a:bodyPr>
          <a:lstStyle/>
          <a:p>
            <a:pPr indent="0" marL="0">
              <a:buNone/>
            </a:pPr>
            <a:r>
              <a:rPr lang="en-US" sz="850" dirty="0">
                <a:solidFill>
                  <a:srgbClr val="13192E"/>
                </a:solidFill>
                <a:latin typeface="Calibri" pitchFamily="34" charset="0"/>
                <a:ea typeface="Calibri" pitchFamily="34" charset="-122"/>
                <a:cs typeface="Calibri" pitchFamily="34" charset="-120"/>
              </a:rPr>
              <a:t>James Dimon is an American businessman who has been the chairman and chief executive officer (CEO) of JPMorgan Chase since 2006.</a:t>
            </a:r>
            <a:endParaRPr lang="en-US" sz="850" dirty="0"/>
          </a:p>
        </p:txBody>
      </p:sp>
      <p:sp>
        <p:nvSpPr>
          <p:cNvPr id="8" name="Text 5">
            <a:hlinkClick r:id="rId2" tooltip=""/>
          </p:cNvPr>
          <p:cNvSpPr/>
          <p:nvPr/>
        </p:nvSpPr>
        <p:spPr>
          <a:xfrm>
            <a:off x="621792" y="6108192"/>
            <a:ext cx="5170932"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9" name="Shape 6"/>
          <p:cNvSpPr/>
          <p:nvPr/>
        </p:nvSpPr>
        <p:spPr>
          <a:xfrm>
            <a:off x="6231636" y="1143000"/>
            <a:ext cx="5500116" cy="5257800"/>
          </a:xfrm>
          <a:prstGeom prst="roundRect">
            <a:avLst>
              <a:gd name="adj" fmla="val 1043"/>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Shape 7"/>
          <p:cNvSpPr/>
          <p:nvPr/>
        </p:nvSpPr>
        <p:spPr>
          <a:xfrm>
            <a:off x="6396228" y="1307592"/>
            <a:ext cx="594360" cy="594360"/>
          </a:xfrm>
          <a:prstGeom prst="ellipse">
            <a:avLst/>
          </a:prstGeom>
          <a:solidFill>
            <a:srgbClr val="2E6F9E"/>
          </a:solidFill>
          <a:ln/>
        </p:spPr>
      </p:sp>
      <p:sp>
        <p:nvSpPr>
          <p:cNvPr id="11" name="Text 8"/>
          <p:cNvSpPr/>
          <p:nvPr/>
        </p:nvSpPr>
        <p:spPr>
          <a:xfrm>
            <a:off x="6396228" y="1307592"/>
            <a:ext cx="59436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JB</a:t>
            </a:r>
            <a:endParaRPr lang="en-US" sz="1600" dirty="0"/>
          </a:p>
        </p:txBody>
      </p:sp>
      <p:sp>
        <p:nvSpPr>
          <p:cNvPr id="12" name="Text 9"/>
          <p:cNvSpPr/>
          <p:nvPr/>
        </p:nvSpPr>
        <p:spPr>
          <a:xfrm>
            <a:off x="7100316" y="1280160"/>
            <a:ext cx="449427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Jeremy Barnum</a:t>
            </a:r>
            <a:endParaRPr lang="en-US" sz="1150" dirty="0"/>
          </a:p>
        </p:txBody>
      </p:sp>
      <p:sp>
        <p:nvSpPr>
          <p:cNvPr id="13" name="Text 10"/>
          <p:cNvSpPr/>
          <p:nvPr/>
        </p:nvSpPr>
        <p:spPr>
          <a:xfrm>
            <a:off x="7100316" y="1581912"/>
            <a:ext cx="4494276"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Executive Vice President and Chief Financial Officer</a:t>
            </a:r>
            <a:endParaRPr lang="en-US" sz="900" dirty="0"/>
          </a:p>
        </p:txBody>
      </p:sp>
      <p:sp>
        <p:nvSpPr>
          <p:cNvPr id="14" name="Text 11">
            <a:hlinkClick r:id="rId3" tooltip=""/>
          </p:cNvPr>
          <p:cNvSpPr/>
          <p:nvPr/>
        </p:nvSpPr>
        <p:spPr>
          <a:xfrm>
            <a:off x="6396228" y="6108192"/>
            <a:ext cx="5170932"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15" name="Text 12"/>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6" name="Text 13"/>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SWOT Analysis</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Analysis</a:t>
            </a:r>
            <a:endParaRPr lang="en-US" sz="2600" dirty="0"/>
          </a:p>
        </p:txBody>
      </p:sp>
      <p:sp>
        <p:nvSpPr>
          <p:cNvPr id="3" name="Shape 1"/>
          <p:cNvSpPr/>
          <p:nvPr/>
        </p:nvSpPr>
        <p:spPr>
          <a:xfrm>
            <a:off x="457200"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457200" y="1143000"/>
            <a:ext cx="2612898" cy="457200"/>
          </a:xfrm>
          <a:prstGeom prst="rect">
            <a:avLst/>
          </a:prstGeom>
          <a:solidFill>
            <a:srgbClr val="3C8A5B"/>
          </a:solidFill>
          <a:ln/>
        </p:spPr>
      </p:sp>
      <p:sp>
        <p:nvSpPr>
          <p:cNvPr id="5" name="Text 3"/>
          <p:cNvSpPr/>
          <p:nvPr/>
        </p:nvSpPr>
        <p:spPr>
          <a:xfrm>
            <a:off x="457200"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STRENGTHS</a:t>
            </a:r>
            <a:endParaRPr lang="en-US" sz="1200" dirty="0"/>
          </a:p>
        </p:txBody>
      </p:sp>
      <p:sp>
        <p:nvSpPr>
          <p:cNvPr id="6" name="Text 4"/>
          <p:cNvSpPr/>
          <p:nvPr/>
        </p:nvSpPr>
        <p:spPr>
          <a:xfrm>
            <a:off x="594360"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Strong revenue generation and scale</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Significant asset base</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Solid profitability metrics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Diversified service offerings</a:t>
            </a:r>
            <a:endParaRPr lang="en-US" sz="950" dirty="0"/>
          </a:p>
        </p:txBody>
      </p:sp>
      <p:sp>
        <p:nvSpPr>
          <p:cNvPr id="7" name="Shape 5"/>
          <p:cNvSpPr/>
          <p:nvPr/>
        </p:nvSpPr>
        <p:spPr>
          <a:xfrm>
            <a:off x="3344418"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3344418" y="1143000"/>
            <a:ext cx="2612898" cy="457200"/>
          </a:xfrm>
          <a:prstGeom prst="rect">
            <a:avLst/>
          </a:prstGeom>
          <a:solidFill>
            <a:srgbClr val="B5473A"/>
          </a:solidFill>
          <a:ln/>
        </p:spPr>
      </p:sp>
      <p:sp>
        <p:nvSpPr>
          <p:cNvPr id="9" name="Text 7"/>
          <p:cNvSpPr/>
          <p:nvPr/>
        </p:nvSpPr>
        <p:spPr>
          <a:xfrm>
            <a:off x="3344418"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WEAKNESSES</a:t>
            </a:r>
            <a:endParaRPr lang="en-US" sz="1200" dirty="0"/>
          </a:p>
        </p:txBody>
      </p:sp>
      <p:sp>
        <p:nvSpPr>
          <p:cNvPr id="10" name="Text 8"/>
          <p:cNvSpPr/>
          <p:nvPr/>
        </p:nvSpPr>
        <p:spPr>
          <a:xfrm>
            <a:off x="3481578"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Negative net income growth</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Complex financial reporting risks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Subjectivity in asset valuation</a:t>
            </a:r>
            <a:endParaRPr lang="en-US" sz="950" dirty="0"/>
          </a:p>
        </p:txBody>
      </p:sp>
      <p:sp>
        <p:nvSpPr>
          <p:cNvPr id="11" name="Shape 9"/>
          <p:cNvSpPr/>
          <p:nvPr/>
        </p:nvSpPr>
        <p:spPr>
          <a:xfrm>
            <a:off x="6231636"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231636" y="1143000"/>
            <a:ext cx="2612898" cy="457200"/>
          </a:xfrm>
          <a:prstGeom prst="rect">
            <a:avLst/>
          </a:prstGeom>
          <a:solidFill>
            <a:srgbClr val="2E6F9E"/>
          </a:solidFill>
          <a:ln/>
        </p:spPr>
      </p:sp>
      <p:sp>
        <p:nvSpPr>
          <p:cNvPr id="13" name="Text 11"/>
          <p:cNvSpPr/>
          <p:nvPr/>
        </p:nvSpPr>
        <p:spPr>
          <a:xfrm>
            <a:off x="6231636"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OPPORTUNITIES</a:t>
            </a:r>
            <a:endParaRPr lang="en-US" sz="1200" dirty="0"/>
          </a:p>
        </p:txBody>
      </p:sp>
      <p:sp>
        <p:nvSpPr>
          <p:cNvPr id="14" name="Text 12"/>
          <p:cNvSpPr/>
          <p:nvPr/>
        </p:nvSpPr>
        <p:spPr>
          <a:xfrm>
            <a:off x="6368796"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Revenue growth potential</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Strong quarterly momentum</a:t>
            </a:r>
            <a:endParaRPr lang="en-US" sz="950" dirty="0"/>
          </a:p>
        </p:txBody>
      </p:sp>
      <p:sp>
        <p:nvSpPr>
          <p:cNvPr id="15" name="Shape 13"/>
          <p:cNvSpPr/>
          <p:nvPr/>
        </p:nvSpPr>
        <p:spPr>
          <a:xfrm>
            <a:off x="9118854"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9118854" y="1143000"/>
            <a:ext cx="2612898" cy="457200"/>
          </a:xfrm>
          <a:prstGeom prst="rect">
            <a:avLst/>
          </a:prstGeom>
          <a:solidFill>
            <a:srgbClr val="C6862B"/>
          </a:solidFill>
          <a:ln/>
        </p:spPr>
      </p:sp>
      <p:sp>
        <p:nvSpPr>
          <p:cNvPr id="17" name="Text 15"/>
          <p:cNvSpPr/>
          <p:nvPr/>
        </p:nvSpPr>
        <p:spPr>
          <a:xfrm>
            <a:off x="9118854"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18" name="Text 16"/>
          <p:cNvSpPr/>
          <p:nvPr/>
        </p:nvSpPr>
        <p:spPr>
          <a:xfrm>
            <a:off x="9256014"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Highly competitive industry landscape</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Macroeconomic sensitivity in credit loss estimation</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Operational and compliance risks</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Strengths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3C8A5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Strong revenue generation and scale</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reported annual revenue of $182.447 billion for the current year.</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3C8A5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Significant asset base</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JPMorgan Chase &amp; Co. maintains total assets of $4.4249 trillion.</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3C8A5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Solid profitability metrics</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achieved a net income of $57.048 billion and a return on equity (ROE) of 15.74%.</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3C8A5B"/>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Diversified service offerings</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operates across investment banking, consumer financial services, commercial banking, and asset management.</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Weaknesses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B5473A"/>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Negative net income growth</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Net income declined by 2.43% compared to the previous year.</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B5473A"/>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Complex financial reporting risks</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faces challenges regarding the inherent limitations of internal control over financial reporting, which may fail to prevent or detect misstatements.</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B5473A"/>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Subjectivity in asset valuation</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fair value measurement of Level 3 financial instruments relies on internally developed models and significant unobservable inputs, creating a high degree of subjectivity.</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Opportunities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2E6F9E"/>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Revenue growth potential</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demonstrated a revenue growth rate of 2.75% year-over-year.</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2E6F9E"/>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Strong quarterly momentum</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reported a quarterly net income growth of 41.16%.</a:t>
            </a:r>
            <a:endParaRPr lang="en-US" sz="950" dirty="0"/>
          </a:p>
        </p:txBody>
      </p:sp>
      <p:sp>
        <p:nvSpPr>
          <p:cNvPr id="11" name="Text 9"/>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2" name="Text 10"/>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Threats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C6862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Highly competitive industry landscape</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operates in a landscape that includes brokerage firms, hedge funds, private equity, insurance companies, and digital asset/fintech companies.</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C6862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Macroeconomic sensitivity in credit loss estimation</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Estimating loan losses requires a weighted average of five macroeconomic scenarios, including volatile variables like unemployment and GDP growth.</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C6862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Operational and compliance risks</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Internal controls are subject to potential deterioration of compliance over time and human error, which could impact financial statement accuracy.</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Financials</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Annual</a:t>
            </a:r>
            <a:endParaRPr lang="en-US" sz="2600" dirty="0"/>
          </a:p>
        </p:txBody>
      </p:sp>
      <p:graphicFrame>
        <p:nvGraphicFramePr>
          <p:cNvPr id="3" name="Chart 0" descr=""/>
          <p:cNvGraphicFramePr/>
          <p:nvPr/>
        </p:nvGraphicFramePr>
        <p:xfrm>
          <a:off x="457200" y="1143000"/>
          <a:ext cx="7315200" cy="51206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8092440" y="1143000"/>
            <a:ext cx="3566160" cy="320040"/>
          </a:xfrm>
          <a:prstGeom prst="rect">
            <a:avLst/>
          </a:prstGeom>
          <a:noFill/>
          <a:ln/>
        </p:spPr>
        <p:txBody>
          <a:bodyPr wrap="square" rtlCol="0" anchor="ctr"/>
          <a:lstStyle/>
          <a:p>
            <a:pPr indent="0" marL="0">
              <a:buNone/>
            </a:pPr>
            <a:r>
              <a:rPr lang="en-US" sz="1300" b="1" dirty="0">
                <a:solidFill>
                  <a:srgbClr val="1F2D50"/>
                </a:solidFill>
                <a:latin typeface="Calibri" pitchFamily="34" charset="0"/>
                <a:ea typeface="Calibri" pitchFamily="34" charset="-122"/>
                <a:cs typeface="Calibri" pitchFamily="34" charset="-120"/>
              </a:rPr>
              <a:t>Highlights</a:t>
            </a:r>
            <a:endParaRPr lang="en-US" sz="1300" dirty="0"/>
          </a:p>
        </p:txBody>
      </p:sp>
      <p:sp>
        <p:nvSpPr>
          <p:cNvPr id="5" name="Text 2"/>
          <p:cNvSpPr/>
          <p:nvPr/>
        </p:nvSpPr>
        <p:spPr>
          <a:xfrm>
            <a:off x="8092440" y="150876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EPS</a:t>
            </a:r>
            <a:endParaRPr lang="en-US" sz="1000" dirty="0"/>
          </a:p>
        </p:txBody>
      </p:sp>
      <p:sp>
        <p:nvSpPr>
          <p:cNvPr id="6" name="Text 3"/>
          <p:cNvSpPr/>
          <p:nvPr/>
        </p:nvSpPr>
        <p:spPr>
          <a:xfrm>
            <a:off x="10149840" y="150876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20.02</a:t>
            </a:r>
            <a:endParaRPr lang="en-US" sz="1000" dirty="0"/>
          </a:p>
        </p:txBody>
      </p:sp>
      <p:sp>
        <p:nvSpPr>
          <p:cNvPr id="7"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8"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Current Quarter</a:t>
            </a:r>
            <a:endParaRPr lang="en-US" sz="2600" dirty="0"/>
          </a:p>
        </p:txBody>
      </p:sp>
      <p:sp>
        <p:nvSpPr>
          <p:cNvPr id="3" name="Shape 1"/>
          <p:cNvSpPr/>
          <p:nvPr/>
        </p:nvSpPr>
        <p:spPr>
          <a:xfrm>
            <a:off x="457200"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QUARTER</a:t>
            </a:r>
            <a:endParaRPr lang="en-US" sz="900" dirty="0"/>
          </a:p>
        </p:txBody>
      </p:sp>
      <p:sp>
        <p:nvSpPr>
          <p:cNvPr id="5" name="Text 3"/>
          <p:cNvSpPr/>
          <p:nvPr/>
        </p:nvSpPr>
        <p:spPr>
          <a:xfrm>
            <a:off x="594360"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2026-06-30</a:t>
            </a:r>
            <a:endParaRPr lang="en-US" sz="1400" dirty="0"/>
          </a:p>
        </p:txBody>
      </p:sp>
      <p:sp>
        <p:nvSpPr>
          <p:cNvPr id="6" name="Shape 4"/>
          <p:cNvSpPr/>
          <p:nvPr/>
        </p:nvSpPr>
        <p:spPr>
          <a:xfrm>
            <a:off x="457200"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594360"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NET INCOME</a:t>
            </a:r>
            <a:endParaRPr lang="en-US" sz="900" dirty="0"/>
          </a:p>
        </p:txBody>
      </p:sp>
      <p:sp>
        <p:nvSpPr>
          <p:cNvPr id="8" name="Text 6"/>
          <p:cNvSpPr/>
          <p:nvPr/>
        </p:nvSpPr>
        <p:spPr>
          <a:xfrm>
            <a:off x="594360"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$21.2B</a:t>
            </a:r>
            <a:endParaRPr lang="en-US" sz="1400" dirty="0"/>
          </a:p>
        </p:txBody>
      </p:sp>
      <p:sp>
        <p:nvSpPr>
          <p:cNvPr id="9" name="Shape 7"/>
          <p:cNvSpPr/>
          <p:nvPr/>
        </p:nvSpPr>
        <p:spPr>
          <a:xfrm>
            <a:off x="6185916"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6323076"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EPS</a:t>
            </a:r>
            <a:endParaRPr lang="en-US" sz="900" dirty="0"/>
          </a:p>
        </p:txBody>
      </p:sp>
      <p:sp>
        <p:nvSpPr>
          <p:cNvPr id="11" name="Text 9"/>
          <p:cNvSpPr/>
          <p:nvPr/>
        </p:nvSpPr>
        <p:spPr>
          <a:xfrm>
            <a:off x="6323076"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7.7</a:t>
            </a:r>
            <a:endParaRPr lang="en-US" sz="1400" dirty="0"/>
          </a:p>
        </p:txBody>
      </p:sp>
      <p:sp>
        <p:nvSpPr>
          <p:cNvPr id="12" name="Shape 10"/>
          <p:cNvSpPr/>
          <p:nvPr/>
        </p:nvSpPr>
        <p:spPr>
          <a:xfrm>
            <a:off x="6185916"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323076"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CASH FLOW</a:t>
            </a:r>
            <a:endParaRPr lang="en-US" sz="900" dirty="0"/>
          </a:p>
        </p:txBody>
      </p:sp>
      <p:sp>
        <p:nvSpPr>
          <p:cNvPr id="14" name="Text 12"/>
          <p:cNvSpPr/>
          <p:nvPr/>
        </p:nvSpPr>
        <p:spPr>
          <a:xfrm>
            <a:off x="6323076"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$-237.0B</a:t>
            </a:r>
            <a:endParaRPr lang="en-US" sz="140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Key Acquisitions</a:t>
            </a:r>
            <a:endParaRPr lang="en-US" sz="2600" dirty="0"/>
          </a:p>
        </p:txBody>
      </p:sp>
      <p:sp>
        <p:nvSpPr>
          <p:cNvPr id="3" name="Shape 1"/>
          <p:cNvSpPr/>
          <p:nvPr/>
        </p:nvSpPr>
        <p:spPr>
          <a:xfrm>
            <a:off x="457200" y="1143000"/>
            <a:ext cx="11274552"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11000232"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First Republic</a:t>
            </a:r>
            <a:endParaRPr lang="en-US" sz="1200" dirty="0"/>
          </a:p>
        </p:txBody>
      </p:sp>
      <p:sp>
        <p:nvSpPr>
          <p:cNvPr id="5" name="Text 3"/>
          <p:cNvSpPr/>
          <p:nvPr/>
        </p:nvSpPr>
        <p:spPr>
          <a:xfrm>
            <a:off x="594360" y="1563624"/>
            <a:ext cx="11000232"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Year: 2024  |  Value: 67865000000</a:t>
            </a:r>
            <a:endParaRPr lang="en-US" sz="900" dirty="0"/>
          </a:p>
        </p:txBody>
      </p:sp>
      <p:sp>
        <p:nvSpPr>
          <p:cNvPr id="6"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7"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Business Challenges</a:t>
            </a:r>
            <a:endParaRPr lang="en-US" sz="2600" dirty="0"/>
          </a:p>
        </p:txBody>
      </p:sp>
      <p:sp>
        <p:nvSpPr>
          <p:cNvPr id="3" name="Shape 1"/>
          <p:cNvSpPr/>
          <p:nvPr/>
        </p:nvSpPr>
        <p:spPr>
          <a:xfrm>
            <a:off x="457200" y="114300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Allowance for loan losses estimation</a:t>
            </a:r>
            <a:endParaRPr lang="en-US" sz="1200" dirty="0"/>
          </a:p>
        </p:txBody>
      </p:sp>
      <p:sp>
        <p:nvSpPr>
          <p:cNvPr id="5" name="Text 3"/>
          <p:cNvSpPr/>
          <p:nvPr/>
        </p:nvSpPr>
        <p:spPr>
          <a:xfrm>
            <a:off x="594360" y="156362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Significant judgment required in estimating expected credit losses over the remaining life of loan portfolios, affecting financial statement accuracy.  |  Brief: Management must estimate credit losses using a weighted average of five macroeconomic scenarios over an eight-quarter forecast period, involving complex variables like unemployment and GDP growth.</a:t>
            </a:r>
            <a:endParaRPr lang="en-US" sz="900" dirty="0"/>
          </a:p>
        </p:txBody>
      </p:sp>
      <p:sp>
        <p:nvSpPr>
          <p:cNvPr id="6" name="Shape 4"/>
          <p:cNvSpPr/>
          <p:nvPr/>
        </p:nvSpPr>
        <p:spPr>
          <a:xfrm>
            <a:off x="6208776" y="114300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345936"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Fair value measurement of Level 3 financial instruments</a:t>
            </a:r>
            <a:endParaRPr lang="en-US" sz="1200" dirty="0"/>
          </a:p>
        </p:txBody>
      </p:sp>
      <p:sp>
        <p:nvSpPr>
          <p:cNvPr id="8" name="Text 6"/>
          <p:cNvSpPr/>
          <p:nvPr/>
        </p:nvSpPr>
        <p:spPr>
          <a:xfrm>
            <a:off x="6345936" y="156362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High degree of subjectivity and complexity in valuation, as these instruments rely on internally developed models and significant unobservable inputs.  |  Brief: Valuing certain deposits, short-term borrowings, and long-term debt requires complex models (e.g., option pricing, discounted cash flows) and unobservable inputs like volatility and correlation.</a:t>
            </a:r>
            <a:endParaRPr lang="en-US" sz="900" dirty="0"/>
          </a:p>
        </p:txBody>
      </p:sp>
      <p:sp>
        <p:nvSpPr>
          <p:cNvPr id="9" name="Shape 7"/>
          <p:cNvSpPr/>
          <p:nvPr/>
        </p:nvSpPr>
        <p:spPr>
          <a:xfrm>
            <a:off x="457200" y="2788920"/>
            <a:ext cx="5522976"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288036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Inherent limitations of internal control over financial reporting</a:t>
            </a:r>
            <a:endParaRPr lang="en-US" sz="1200" dirty="0"/>
          </a:p>
        </p:txBody>
      </p:sp>
      <p:sp>
        <p:nvSpPr>
          <p:cNvPr id="11" name="Text 9"/>
          <p:cNvSpPr/>
          <p:nvPr/>
        </p:nvSpPr>
        <p:spPr>
          <a:xfrm>
            <a:off x="594360" y="3209544"/>
            <a:ext cx="5248656"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Controls may fail to prevent or detect misstatements, or may become inadequate due to changing conditions or deterioration in compliance.  |  Brief: Internal controls provide reasonable, not absolute, assurance; they are subject to human error, changes in conditions, and potential deterioration of compliance over time.</a:t>
            </a:r>
            <a:endParaRPr lang="en-US" sz="900" dirty="0"/>
          </a:p>
        </p:txBody>
      </p:sp>
      <p:sp>
        <p:nvSpPr>
          <p:cNvPr id="12" name="Text 10"/>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3" name="Text 11"/>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Market &amp; Technology</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Latest News</a:t>
            </a:r>
            <a:endParaRPr lang="en-US" sz="2600" dirty="0"/>
          </a:p>
        </p:txBody>
      </p:sp>
      <p:sp>
        <p:nvSpPr>
          <p:cNvPr id="3" name="Shape 1"/>
          <p:cNvSpPr/>
          <p:nvPr/>
        </p:nvSpPr>
        <p:spPr>
          <a:xfrm>
            <a:off x="457200" y="1097280"/>
            <a:ext cx="11274552" cy="411480"/>
          </a:xfrm>
          <a:prstGeom prst="roundRect">
            <a:avLst>
              <a:gd name="adj" fmla="val 13333"/>
            </a:avLst>
          </a:prstGeom>
          <a:solidFill>
            <a:srgbClr val="1F2D50"/>
          </a:solidFill>
          <a:ln/>
        </p:spPr>
      </p:sp>
      <p:sp>
        <p:nvSpPr>
          <p:cNvPr id="4" name="Text 2"/>
          <p:cNvSpPr/>
          <p:nvPr/>
        </p:nvSpPr>
        <p:spPr>
          <a:xfrm>
            <a:off x="457200" y="1097280"/>
            <a:ext cx="11274552"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Partnership</a:t>
            </a:r>
            <a:endParaRPr lang="en-US" sz="1100" dirty="0"/>
          </a:p>
        </p:txBody>
      </p:sp>
      <p:sp>
        <p:nvSpPr>
          <p:cNvPr id="5" name="Shape 3"/>
          <p:cNvSpPr/>
          <p:nvPr/>
        </p:nvSpPr>
        <p:spPr>
          <a:xfrm>
            <a:off x="457200" y="1645920"/>
            <a:ext cx="11274552" cy="1261872"/>
          </a:xfrm>
          <a:prstGeom prst="roundRect">
            <a:avLst>
              <a:gd name="adj" fmla="val 434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6" name="Text 4"/>
          <p:cNvSpPr/>
          <p:nvPr/>
        </p:nvSpPr>
        <p:spPr>
          <a:xfrm>
            <a:off x="566928" y="1883664"/>
            <a:ext cx="11055096" cy="365760"/>
          </a:xfrm>
          <a:prstGeom prst="rect">
            <a:avLst/>
          </a:prstGeom>
          <a:noFill/>
          <a:ln/>
        </p:spPr>
        <p:txBody>
          <a:bodyPr wrap="square" rtlCol="0" anchor="t">
            <a:normAutofit/>
          </a:bodyPr>
          <a:lstStyle/>
          <a:p>
            <a:pPr indent="0" marL="0">
              <a:buNone/>
            </a:pPr>
            <a:endParaRPr lang="en-US" sz="950" dirty="0"/>
          </a:p>
        </p:txBody>
      </p:sp>
      <p:sp>
        <p:nvSpPr>
          <p:cNvPr id="7" name="Text 5"/>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8" name="Text 6"/>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Deals</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2560320"/>
                <a:gridCol w="1463040"/>
                <a:gridCol w="1463040"/>
                <a:gridCol w="578815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Vendor</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 Date</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End Date</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Contract Details</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 P. MORGAN INVESTMENT MANAGEMENT INC.</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2016-04-01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2020-11-12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IGF::CT::IGF PORTFOLIO MANAGEMENT SERVICES — contract value $17,022,968</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EVONIK CORP</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2016-09-30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2018-05-17</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IGF::OT::IGF H2O2 250 GAL OF 35% AND 450 GAL OF 90% TO MIL-PRF-16005F TYPE 90, GRADE HP — contract value $43,681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2013-06-19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2019-05-05</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::IGF::OT::IGF:: DHS BANK CARD PROGRAM. — contract value $0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2017-09-29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2017-10-29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ME STUFF — contract value $9,718</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2017-09-22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2018-04-11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LADDER REPLACEMENT — contract value $16,970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2017-09-29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2018-04-11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TOOLS FOR ENG — contract value $11,009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2016-04-25</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2019-02-08</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FOR FUEL, MAINTENANCE&amp;REPAIR OF DHHS/NIH FLEET VEHICLES&amp;EQUIPMENT IGF::OT::IGF — contract value $3,149,036</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2014-08-04</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2014-08-29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IGF::CL::IGF  FOR FUEL, SUPPLIES, MAINTENANCE AND REPAIRS OF DHHS/NIH VEHICLES AND EQUIPMENT. HHSN263201300004U, HHSN263201100128U HHSN263201200067U HHSN263200900094U — contract value $299,895</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2014-04-21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2014-05-15</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FOR FUEL, SUPPLIES, MAINTENANCE AND REPAIRS OF DHHS/NIH VEHICLES AND EQUIPMENT. HHSN263201300004U, HHSN263201100128U HHSN263201200067U HHSN263200900094U — contract value $335,609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BANK, NATIONAL ASSOCIATION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2010-03-02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2016-03-01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BANKING CONTRACT FOR MEDICARE CLAIMS PROCESSORS, WORKLOAD B — contract value $5,346,509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bl>
          </a:graphicData>
        </a:graphic>
      </p:graphicFrame>
      <p:sp>
        <p:nvSpPr>
          <p:cNvPr id="4" name="Text 1"/>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5" name="Text 2"/>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Technology Initiatives</a:t>
            </a:r>
            <a:endParaRPr lang="en-US" sz="2600" dirty="0"/>
          </a:p>
        </p:txBody>
      </p:sp>
      <p:sp>
        <p:nvSpPr>
          <p:cNvPr id="3" name="Shape 1"/>
          <p:cNvSpPr/>
          <p:nvPr/>
        </p:nvSpPr>
        <p:spPr>
          <a:xfrm>
            <a:off x="457200" y="114300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16152"/>
            <a:ext cx="5248656" cy="228600"/>
          </a:xfrm>
          <a:prstGeom prst="rect">
            <a:avLst/>
          </a:prstGeom>
          <a:noFill/>
          <a:ln/>
        </p:spPr>
        <p:txBody>
          <a:bodyPr wrap="square" rtlCol="0" anchor="ctr"/>
          <a:lstStyle/>
          <a:p>
            <a:pPr indent="0" marL="0">
              <a:buNone/>
            </a:pPr>
            <a:endParaRPr lang="en-US" sz="850" dirty="0"/>
          </a:p>
        </p:txBody>
      </p:sp>
      <p:sp>
        <p:nvSpPr>
          <p:cNvPr id="5" name="Text 3"/>
          <p:cNvSpPr/>
          <p:nvPr/>
        </p:nvSpPr>
        <p:spPr>
          <a:xfrm>
            <a:off x="594360" y="143560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Artificial Intelligence Training</a:t>
            </a:r>
            <a:endParaRPr lang="en-US" sz="1150" dirty="0"/>
          </a:p>
        </p:txBody>
      </p:sp>
      <p:sp>
        <p:nvSpPr>
          <p:cNvPr id="6" name="Text 4"/>
          <p:cNvSpPr/>
          <p:nvPr/>
        </p:nvSpPr>
        <p:spPr>
          <a:xfrm>
            <a:off x="594360" y="176479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The Firm offers voluntary training programs and educational resources to all employees covering topics such as artificial intelligence.</a:t>
            </a:r>
            <a:endParaRPr lang="en-US" sz="900" dirty="0"/>
          </a:p>
        </p:txBody>
      </p:sp>
      <p:sp>
        <p:nvSpPr>
          <p:cNvPr id="7" name="Shape 5"/>
          <p:cNvSpPr/>
          <p:nvPr/>
        </p:nvSpPr>
        <p:spPr>
          <a:xfrm>
            <a:off x="6208776" y="114300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Text 6"/>
          <p:cNvSpPr/>
          <p:nvPr/>
        </p:nvSpPr>
        <p:spPr>
          <a:xfrm>
            <a:off x="6345936" y="1216152"/>
            <a:ext cx="5248656" cy="228600"/>
          </a:xfrm>
          <a:prstGeom prst="rect">
            <a:avLst/>
          </a:prstGeom>
          <a:noFill/>
          <a:ln/>
        </p:spPr>
        <p:txBody>
          <a:bodyPr wrap="square" rtlCol="0" anchor="ctr"/>
          <a:lstStyle/>
          <a:p>
            <a:pPr indent="0" marL="0">
              <a:buNone/>
            </a:pPr>
            <a:endParaRPr lang="en-US" sz="850" dirty="0"/>
          </a:p>
        </p:txBody>
      </p:sp>
      <p:sp>
        <p:nvSpPr>
          <p:cNvPr id="9" name="Text 7"/>
          <p:cNvSpPr/>
          <p:nvPr/>
        </p:nvSpPr>
        <p:spPr>
          <a:xfrm>
            <a:off x="6345936" y="143560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Data Literacy Training</a:t>
            </a:r>
            <a:endParaRPr lang="en-US" sz="1150" dirty="0"/>
          </a:p>
        </p:txBody>
      </p:sp>
      <p:sp>
        <p:nvSpPr>
          <p:cNvPr id="10" name="Text 8"/>
          <p:cNvSpPr/>
          <p:nvPr/>
        </p:nvSpPr>
        <p:spPr>
          <a:xfrm>
            <a:off x="6345936" y="176479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The Firm offers voluntary training programs and educational resources to all employees covering topics such as data literacy.</a:t>
            </a:r>
            <a:endParaRPr lang="en-US" sz="900" dirty="0"/>
          </a:p>
        </p:txBody>
      </p:sp>
      <p:sp>
        <p:nvSpPr>
          <p:cNvPr id="11" name="Text 9"/>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2" name="Text 10"/>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Technologies in Use</a:t>
            </a:r>
            <a:endParaRPr lang="en-US" sz="2600" dirty="0"/>
          </a:p>
        </p:txBody>
      </p:sp>
      <p:sp>
        <p:nvSpPr>
          <p:cNvPr id="3" name="Shape 1"/>
          <p:cNvSpPr/>
          <p:nvPr/>
        </p:nvSpPr>
        <p:spPr>
          <a:xfrm>
            <a:off x="457200"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Artificial intelligence</a:t>
            </a:r>
            <a:endParaRPr lang="en-US" sz="1100" dirty="0"/>
          </a:p>
        </p:txBody>
      </p:sp>
      <p:sp>
        <p:nvSpPr>
          <p:cNvPr id="5" name="Text 3"/>
          <p:cNvSpPr/>
          <p:nvPr/>
        </p:nvSpPr>
        <p:spPr>
          <a:xfrm>
            <a:off x="566928"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Emerging Technology</a:t>
            </a:r>
            <a:endParaRPr lang="en-US" sz="800" dirty="0"/>
          </a:p>
        </p:txBody>
      </p:sp>
      <p:sp>
        <p:nvSpPr>
          <p:cNvPr id="6" name="Text 4"/>
          <p:cNvSpPr/>
          <p:nvPr/>
        </p:nvSpPr>
        <p:spPr>
          <a:xfrm>
            <a:off x="566928"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The Firm offers voluntary training programs and educational resources to employees covering topics such as artificial intelligence.</a:t>
            </a:r>
            <a:endParaRPr lang="en-US" sz="800" dirty="0"/>
          </a:p>
        </p:txBody>
      </p:sp>
      <p:sp>
        <p:nvSpPr>
          <p:cNvPr id="7" name="Shape 5"/>
          <p:cNvSpPr/>
          <p:nvPr/>
        </p:nvSpPr>
        <p:spPr>
          <a:xfrm>
            <a:off x="4276344"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Text 6"/>
          <p:cNvSpPr/>
          <p:nvPr/>
        </p:nvSpPr>
        <p:spPr>
          <a:xfrm>
            <a:off x="4386072"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Trade surveillance platforms</a:t>
            </a:r>
            <a:endParaRPr lang="en-US" sz="1100" dirty="0"/>
          </a:p>
        </p:txBody>
      </p:sp>
      <p:sp>
        <p:nvSpPr>
          <p:cNvPr id="9" name="Text 7"/>
          <p:cNvSpPr/>
          <p:nvPr/>
        </p:nvSpPr>
        <p:spPr>
          <a:xfrm>
            <a:off x="4386072"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Compliance Technology</a:t>
            </a:r>
            <a:endParaRPr lang="en-US" sz="800" dirty="0"/>
          </a:p>
        </p:txBody>
      </p:sp>
      <p:sp>
        <p:nvSpPr>
          <p:cNvPr id="10" name="Text 8"/>
          <p:cNvSpPr/>
          <p:nvPr/>
        </p:nvSpPr>
        <p:spPr>
          <a:xfrm>
            <a:off x="4386072"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The Firm maintains processes to inventory trading venues and confirm the completeness of data fed to these platforms.</a:t>
            </a:r>
            <a:endParaRPr lang="en-US" sz="800" dirty="0"/>
          </a:p>
        </p:txBody>
      </p:sp>
      <p:sp>
        <p:nvSpPr>
          <p:cNvPr id="11" name="Shape 9"/>
          <p:cNvSpPr/>
          <p:nvPr/>
        </p:nvSpPr>
        <p:spPr>
          <a:xfrm>
            <a:off x="8095488"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Text 10"/>
          <p:cNvSpPr/>
          <p:nvPr/>
        </p:nvSpPr>
        <p:spPr>
          <a:xfrm>
            <a:off x="8205216"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Payment systems</a:t>
            </a:r>
            <a:endParaRPr lang="en-US" sz="1100" dirty="0"/>
          </a:p>
        </p:txBody>
      </p:sp>
      <p:sp>
        <p:nvSpPr>
          <p:cNvPr id="13" name="Text 11"/>
          <p:cNvSpPr/>
          <p:nvPr/>
        </p:nvSpPr>
        <p:spPr>
          <a:xfrm>
            <a:off x="8205216"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Financial Infrastructure</a:t>
            </a:r>
            <a:endParaRPr lang="en-US" sz="800" dirty="0"/>
          </a:p>
        </p:txBody>
      </p:sp>
      <p:sp>
        <p:nvSpPr>
          <p:cNvPr id="14" name="Text 12"/>
          <p:cNvSpPr/>
          <p:nvPr/>
        </p:nvSpPr>
        <p:spPr>
          <a:xfrm>
            <a:off x="8205216"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JPMEL is regulated by the U.K. Payment Systems Regulator with respect to its operation and use of payment systems.</a:t>
            </a:r>
            <a:endParaRPr lang="en-US" sz="80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Industry Outlook</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Indicators</a:t>
            </a:r>
            <a:endParaRPr lang="en-US" sz="2600" dirty="0"/>
          </a:p>
        </p:txBody>
      </p:sp>
      <p:sp>
        <p:nvSpPr>
          <p:cNvPr id="3" name="Text 1"/>
          <p:cNvSpPr/>
          <p:nvPr/>
        </p:nvSpPr>
        <p:spPr>
          <a:xfrm>
            <a:off x="457200" y="1188720"/>
            <a:ext cx="2743200" cy="320040"/>
          </a:xfrm>
          <a:prstGeom prst="rect">
            <a:avLst/>
          </a:prstGeom>
          <a:noFill/>
          <a:ln/>
        </p:spPr>
        <p:txBody>
          <a:bodyPr wrap="square" rtlCol="0" anchor="ctr"/>
          <a:lstStyle/>
          <a:p>
            <a:pPr indent="0" marL="0">
              <a:buNone/>
            </a:pPr>
            <a:r>
              <a:rPr lang="en-US" sz="1200" b="1" dirty="0">
                <a:solidFill>
                  <a:srgbClr val="1F2D50"/>
                </a:solidFill>
                <a:latin typeface="Calibri" pitchFamily="34" charset="0"/>
                <a:ea typeface="Calibri" pitchFamily="34" charset="-122"/>
                <a:cs typeface="Calibri" pitchFamily="34" charset="-120"/>
              </a:rPr>
              <a:t>Growth Rating</a:t>
            </a:r>
            <a:endParaRPr lang="en-US" sz="1200" dirty="0"/>
          </a:p>
        </p:txBody>
      </p:sp>
      <p:sp>
        <p:nvSpPr>
          <p:cNvPr id="4" name="Shape 2"/>
          <p:cNvSpPr/>
          <p:nvPr/>
        </p:nvSpPr>
        <p:spPr>
          <a:xfrm>
            <a:off x="457200" y="1600200"/>
            <a:ext cx="1645920" cy="548640"/>
          </a:xfrm>
          <a:prstGeom prst="roundRect">
            <a:avLst>
              <a:gd name="adj" fmla="val 13333"/>
            </a:avLst>
          </a:prstGeom>
          <a:solidFill>
            <a:srgbClr val="F4F6F9"/>
          </a:solidFill>
          <a:ln w="12700">
            <a:solidFill>
              <a:srgbClr val="E3E7EE"/>
            </a:solidFill>
            <a:prstDash val="solid"/>
          </a:ln>
        </p:spPr>
      </p:sp>
      <p:sp>
        <p:nvSpPr>
          <p:cNvPr id="5" name="Text 3"/>
          <p:cNvSpPr/>
          <p:nvPr/>
        </p:nvSpPr>
        <p:spPr>
          <a:xfrm>
            <a:off x="4572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Low</a:t>
            </a:r>
            <a:endParaRPr lang="en-US" sz="1100" dirty="0"/>
          </a:p>
        </p:txBody>
      </p:sp>
      <p:sp>
        <p:nvSpPr>
          <p:cNvPr id="6" name="Shape 4"/>
          <p:cNvSpPr/>
          <p:nvPr/>
        </p:nvSpPr>
        <p:spPr>
          <a:xfrm>
            <a:off x="2286000" y="1600200"/>
            <a:ext cx="1645920" cy="548640"/>
          </a:xfrm>
          <a:prstGeom prst="roundRect">
            <a:avLst>
              <a:gd name="adj" fmla="val 13333"/>
            </a:avLst>
          </a:prstGeom>
          <a:solidFill>
            <a:srgbClr val="2E6F9E"/>
          </a:solidFill>
          <a:ln w="12700">
            <a:solidFill>
              <a:srgbClr val="E3E7EE"/>
            </a:solidFill>
            <a:prstDash val="solid"/>
          </a:ln>
        </p:spPr>
      </p:sp>
      <p:sp>
        <p:nvSpPr>
          <p:cNvPr id="7" name="Text 5"/>
          <p:cNvSpPr/>
          <p:nvPr/>
        </p:nvSpPr>
        <p:spPr>
          <a:xfrm>
            <a:off x="2286000" y="1600200"/>
            <a:ext cx="164592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p>
        </p:txBody>
      </p:sp>
      <p:sp>
        <p:nvSpPr>
          <p:cNvPr id="8" name="Shape 6"/>
          <p:cNvSpPr/>
          <p:nvPr/>
        </p:nvSpPr>
        <p:spPr>
          <a:xfrm>
            <a:off x="4114800" y="1600200"/>
            <a:ext cx="1645920" cy="548640"/>
          </a:xfrm>
          <a:prstGeom prst="roundRect">
            <a:avLst>
              <a:gd name="adj" fmla="val 13333"/>
            </a:avLst>
          </a:prstGeom>
          <a:solidFill>
            <a:srgbClr val="F4F6F9"/>
          </a:solidFill>
          <a:ln w="12700">
            <a:solidFill>
              <a:srgbClr val="E3E7EE"/>
            </a:solidFill>
            <a:prstDash val="solid"/>
          </a:ln>
        </p:spPr>
      </p:sp>
      <p:sp>
        <p:nvSpPr>
          <p:cNvPr id="9" name="Text 7"/>
          <p:cNvSpPr/>
          <p:nvPr/>
        </p:nvSpPr>
        <p:spPr>
          <a:xfrm>
            <a:off x="41148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High</a:t>
            </a:r>
            <a:endParaRPr lang="en-US" sz="1100" dirty="0"/>
          </a:p>
        </p:txBody>
      </p:sp>
      <p:sp>
        <p:nvSpPr>
          <p:cNvPr id="10" name="Shape 8"/>
          <p:cNvSpPr/>
          <p:nvPr/>
        </p:nvSpPr>
        <p:spPr>
          <a:xfrm>
            <a:off x="457200" y="25146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1" name="Text 9"/>
          <p:cNvSpPr/>
          <p:nvPr/>
        </p:nvSpPr>
        <p:spPr>
          <a:xfrm>
            <a:off x="640080" y="25146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Demand Trend</a:t>
            </a:r>
            <a:endParaRPr lang="en-US" sz="1100" dirty="0"/>
          </a:p>
        </p:txBody>
      </p:sp>
      <p:sp>
        <p:nvSpPr>
          <p:cNvPr id="12" name="Text 10"/>
          <p:cNvSpPr/>
          <p:nvPr/>
        </p:nvSpPr>
        <p:spPr>
          <a:xfrm>
            <a:off x="3931920" y="25146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Stable</a:t>
            </a:r>
            <a:endParaRPr lang="en-US" sz="1100" dirty="0"/>
          </a:p>
        </p:txBody>
      </p:sp>
      <p:sp>
        <p:nvSpPr>
          <p:cNvPr id="13" name="Shape 11"/>
          <p:cNvSpPr/>
          <p:nvPr/>
        </p:nvSpPr>
        <p:spPr>
          <a:xfrm>
            <a:off x="457200" y="310896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4" name="Text 12"/>
          <p:cNvSpPr/>
          <p:nvPr/>
        </p:nvSpPr>
        <p:spPr>
          <a:xfrm>
            <a:off x="640080" y="310896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Technology Adoption</a:t>
            </a:r>
            <a:endParaRPr lang="en-US" sz="1100" dirty="0"/>
          </a:p>
        </p:txBody>
      </p:sp>
      <p:sp>
        <p:nvSpPr>
          <p:cNvPr id="15" name="Text 13"/>
          <p:cNvSpPr/>
          <p:nvPr/>
        </p:nvSpPr>
        <p:spPr>
          <a:xfrm>
            <a:off x="3931920" y="310896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High</a:t>
            </a:r>
            <a:endParaRPr lang="en-US" sz="1100" dirty="0"/>
          </a:p>
        </p:txBody>
      </p:sp>
      <p:sp>
        <p:nvSpPr>
          <p:cNvPr id="16" name="Shape 14"/>
          <p:cNvSpPr/>
          <p:nvPr/>
        </p:nvSpPr>
        <p:spPr>
          <a:xfrm>
            <a:off x="457200" y="370332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7" name="Text 15"/>
          <p:cNvSpPr/>
          <p:nvPr/>
        </p:nvSpPr>
        <p:spPr>
          <a:xfrm>
            <a:off x="640080" y="370332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Spending Trend</a:t>
            </a:r>
            <a:endParaRPr lang="en-US" sz="1100" dirty="0"/>
          </a:p>
        </p:txBody>
      </p:sp>
      <p:sp>
        <p:nvSpPr>
          <p:cNvPr id="18" name="Text 16"/>
          <p:cNvSpPr/>
          <p:nvPr/>
        </p:nvSpPr>
        <p:spPr>
          <a:xfrm>
            <a:off x="3931920" y="370332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Increasing</a:t>
            </a:r>
            <a:endParaRPr lang="en-US" sz="1100" dirty="0"/>
          </a:p>
        </p:txBody>
      </p:sp>
      <p:sp>
        <p:nvSpPr>
          <p:cNvPr id="19" name="Shape 17"/>
          <p:cNvSpPr/>
          <p:nvPr/>
        </p:nvSpPr>
        <p:spPr>
          <a:xfrm>
            <a:off x="457200" y="429768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0" name="Text 18"/>
          <p:cNvSpPr/>
          <p:nvPr/>
        </p:nvSpPr>
        <p:spPr>
          <a:xfrm>
            <a:off x="640080" y="429768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Regulatory Environment</a:t>
            </a:r>
            <a:endParaRPr lang="en-US" sz="1100" dirty="0"/>
          </a:p>
        </p:txBody>
      </p:sp>
      <p:sp>
        <p:nvSpPr>
          <p:cNvPr id="21" name="Text 19"/>
          <p:cNvSpPr/>
          <p:nvPr/>
        </p:nvSpPr>
        <p:spPr>
          <a:xfrm>
            <a:off x="3931920" y="429768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Strict</a:t>
            </a:r>
            <a:endParaRPr lang="en-US" sz="1100" dirty="0"/>
          </a:p>
        </p:txBody>
      </p:sp>
      <p:sp>
        <p:nvSpPr>
          <p:cNvPr id="22" name="Shape 20"/>
          <p:cNvSpPr/>
          <p:nvPr/>
        </p:nvSpPr>
        <p:spPr>
          <a:xfrm>
            <a:off x="457200" y="489204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3" name="Text 21"/>
          <p:cNvSpPr/>
          <p:nvPr/>
        </p:nvSpPr>
        <p:spPr>
          <a:xfrm>
            <a:off x="640080" y="489204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Competitive Intensity</a:t>
            </a:r>
            <a:endParaRPr lang="en-US" sz="1100" dirty="0"/>
          </a:p>
        </p:txBody>
      </p:sp>
      <p:sp>
        <p:nvSpPr>
          <p:cNvPr id="24" name="Text 22"/>
          <p:cNvSpPr/>
          <p:nvPr/>
        </p:nvSpPr>
        <p:spPr>
          <a:xfrm>
            <a:off x="3931920" y="489204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Very High</a:t>
            </a:r>
            <a:endParaRPr lang="en-US" sz="1100" dirty="0"/>
          </a:p>
        </p:txBody>
      </p:sp>
      <p:sp>
        <p:nvSpPr>
          <p:cNvPr id="25" name="Shape 23"/>
          <p:cNvSpPr/>
          <p:nvPr/>
        </p:nvSpPr>
        <p:spPr>
          <a:xfrm>
            <a:off x="457200" y="54864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6" name="Text 24"/>
          <p:cNvSpPr/>
          <p:nvPr/>
        </p:nvSpPr>
        <p:spPr>
          <a:xfrm>
            <a:off x="640080" y="54864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Outlook</a:t>
            </a:r>
            <a:endParaRPr lang="en-US" sz="1100" dirty="0"/>
          </a:p>
        </p:txBody>
      </p:sp>
      <p:sp>
        <p:nvSpPr>
          <p:cNvPr id="27" name="Text 25"/>
          <p:cNvSpPr/>
          <p:nvPr/>
        </p:nvSpPr>
        <p:spPr>
          <a:xfrm>
            <a:off x="3931920" y="54864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Stable</a:t>
            </a:r>
            <a:endParaRPr lang="en-US" sz="1100" dirty="0"/>
          </a:p>
        </p:txBody>
      </p:sp>
      <p:sp>
        <p:nvSpPr>
          <p:cNvPr id="28" name="Text 26"/>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29" name="Text 27"/>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Forecast &amp; Competitive Landscape</a:t>
            </a:r>
            <a:endParaRPr lang="en-US" sz="2600" dirty="0"/>
          </a:p>
        </p:txBody>
      </p:sp>
      <p:sp>
        <p:nvSpPr>
          <p:cNvPr id="3" name="Shape 1"/>
          <p:cNvSpPr/>
          <p:nvPr/>
        </p:nvSpPr>
        <p:spPr>
          <a:xfrm>
            <a:off x="457200" y="1143000"/>
            <a:ext cx="11274552" cy="685800"/>
          </a:xfrm>
          <a:prstGeom prst="roundRect">
            <a:avLst>
              <a:gd name="adj" fmla="val 8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85800" y="123444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Industry</a:t>
            </a:r>
            <a:endParaRPr lang="en-US" sz="1200" dirty="0"/>
          </a:p>
        </p:txBody>
      </p:sp>
      <p:sp>
        <p:nvSpPr>
          <p:cNvPr id="5" name="Text 3"/>
          <p:cNvSpPr/>
          <p:nvPr/>
        </p:nvSpPr>
        <p:spPr>
          <a:xfrm>
            <a:off x="685800" y="1527048"/>
            <a:ext cx="10817352" cy="274320"/>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financial services</a:t>
            </a:r>
            <a:endParaRPr lang="en-US" sz="950" dirty="0"/>
          </a:p>
        </p:txBody>
      </p:sp>
      <p:sp>
        <p:nvSpPr>
          <p:cNvPr id="6" name="Shape 4"/>
          <p:cNvSpPr/>
          <p:nvPr/>
        </p:nvSpPr>
        <p:spPr>
          <a:xfrm>
            <a:off x="457200" y="1965960"/>
            <a:ext cx="11274552" cy="2089719"/>
          </a:xfrm>
          <a:prstGeom prst="roundRect">
            <a:avLst>
              <a:gd name="adj" fmla="val 262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85800" y="205740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Competitive Landscape</a:t>
            </a:r>
            <a:endParaRPr lang="en-US" sz="1200" dirty="0"/>
          </a:p>
        </p:txBody>
      </p:sp>
      <p:sp>
        <p:nvSpPr>
          <p:cNvPr id="8" name="Text 6"/>
          <p:cNvSpPr/>
          <p:nvPr/>
        </p:nvSpPr>
        <p:spPr>
          <a:xfrm>
            <a:off x="685800" y="2350008"/>
            <a:ext cx="10817352" cy="1678239"/>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Highly competitive environment including other banks, brokerage firms, investment banking companies, merchant banks, hedge funds, commodity trading companies, private equity firms, insurance companies, mutual fund companies, investment managers, credit card companies, mortgage banking companies, trust companies, securities processing companies, automobile financing companies, leasing companies, e-commerce and other internet-based companies, digital asset and other financial technology companies.</a:t>
            </a:r>
            <a:endParaRPr lang="en-US" sz="950" dirty="0"/>
          </a:p>
        </p:txBody>
      </p:sp>
      <p:sp>
        <p:nvSpPr>
          <p:cNvPr id="9" name="Shape 7"/>
          <p:cNvSpPr/>
          <p:nvPr/>
        </p:nvSpPr>
        <p:spPr>
          <a:xfrm>
            <a:off x="457200" y="4192839"/>
            <a:ext cx="11274552" cy="1916023"/>
          </a:xfrm>
          <a:prstGeom prst="roundRect">
            <a:avLst>
              <a:gd name="adj" fmla="val 2863"/>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685800" y="4284279"/>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Forecast</a:t>
            </a:r>
            <a:endParaRPr lang="en-US" sz="1200" dirty="0"/>
          </a:p>
        </p:txBody>
      </p:sp>
      <p:sp>
        <p:nvSpPr>
          <p:cNvPr id="11" name="Text 9"/>
          <p:cNvSpPr/>
          <p:nvPr/>
        </p:nvSpPr>
        <p:spPr>
          <a:xfrm>
            <a:off x="685800" y="4576887"/>
            <a:ext cx="10817352" cy="1504543"/>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JPMorgan Chase is positioned for a steady near-term growth trajectory, evidenced by a 2.75% increase in annual revenue. The firm's performance remains driven by its diversified presence across investment banking, consumer financial services, and asset management within a highly competitive landscape. Future growth will depend on navigating complex financial reporting requirements and managing credit loss estimations amidst evolving macroeconomic conditions.</a:t>
            </a:r>
            <a:endParaRPr lang="en-US" sz="950" dirty="0"/>
          </a:p>
        </p:txBody>
      </p:sp>
      <p:sp>
        <p:nvSpPr>
          <p:cNvPr id="12" name="Shape 10"/>
          <p:cNvSpPr/>
          <p:nvPr/>
        </p:nvSpPr>
        <p:spPr>
          <a:xfrm>
            <a:off x="457200" y="6246022"/>
            <a:ext cx="11274552" cy="685800"/>
          </a:xfrm>
          <a:prstGeom prst="roundRect">
            <a:avLst>
              <a:gd name="adj" fmla="val 8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85800" y="6337462"/>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Growth Drivers</a:t>
            </a:r>
            <a:endParaRPr lang="en-US" sz="1200" dirty="0"/>
          </a:p>
        </p:txBody>
      </p:sp>
      <p:sp>
        <p:nvSpPr>
          <p:cNvPr id="14" name="Text 12"/>
          <p:cNvSpPr/>
          <p:nvPr/>
        </p:nvSpPr>
        <p:spPr>
          <a:xfrm>
            <a:off x="685800" y="6630070"/>
            <a:ext cx="10817352" cy="274320"/>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digital transformation, expansion of financial technology services, increased demand for asset management, corporate and consumer credit growth, global transaction processing volume</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JPMORGAN CHASE &amp; CO</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743200"/>
            <a:ext cx="10725912"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731520" y="3566160"/>
            <a:ext cx="10725912" cy="457200"/>
          </a:xfrm>
          <a:prstGeom prst="rect">
            <a:avLst/>
          </a:prstGeom>
          <a:noFill/>
          <a:ln/>
        </p:spPr>
        <p:txBody>
          <a:bodyPr wrap="square" rtlCol="0" anchor="ctr"/>
          <a:lstStyle/>
          <a:p>
            <a:pPr indent="0" marL="0">
              <a:buNone/>
            </a:pPr>
            <a:r>
              <a:rPr lang="en-US" sz="1400" dirty="0">
                <a:solidFill>
                  <a:srgbClr val="AFC6E3"/>
                </a:solidFill>
                <a:latin typeface="Calibri" pitchFamily="34" charset="0"/>
                <a:ea typeface="Calibri" pitchFamily="34" charset="-122"/>
                <a:cs typeface="Calibri" pitchFamily="34" charset="-120"/>
              </a:rPr>
              <a:t>JPMORGAN CHASE &amp; CO — Company Intelligence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2026-08-20T07:40:41Z</dcterms:created>
  <dcterms:modified xsi:type="dcterms:W3CDTF">2026-08-20T07:40:41Z</dcterms:modified>
</cp:coreProperties>
</file>