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Revenue / Operating Income / Net Income ($B)</a:t>
            </a:r>
          </a:p>
        </c:rich>
      </c:tx>
      <c:layout/>
      <c:overlay val="0"/>
    </c:title>
    <c:autoTitleDeleted val="0"/>
    <c:plotArea>
      <c:layout/>
      <c:barChart>
        <c:barDir val="col"/>
        <c:grouping val="clustered"/>
        <c:varyColors val="0"/>
        <c:ser>
          <c:idx val="0"/>
          <c:order val="0"/>
          <c:tx>
            <c:strRef>
              <c:f>Sheet1!$B$1</c:f>
              <c:strCache>
                <c:ptCount val="1"/>
                <c:pt idx="0">
                  <c:v>Revenue ($)</c:v>
                </c:pt>
              </c:strCache>
            </c:strRef>
          </c:tx>
          <c:spPr>
            <a:solidFill>
              <a:srgbClr val="1F2D5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2026</c:v>
                  </c:pt>
                </c:lvl>
              </c:multiLvlStrCache>
            </c:multiLvlStrRef>
          </c:cat>
          <c:val>
            <c:numRef>
              <c:f>Sheet1!$B$2:$B$4</c:f>
              <c:numCache>
                <c:formatCode>General</c:formatCode>
                <c:ptCount val="3"/>
                <c:pt idx="0">
                  <c:v>642.637</c:v>
                </c:pt>
                <c:pt idx="1">
                  <c:v>674.538</c:v>
                </c:pt>
                <c:pt idx="2">
                  <c:v>706.413</c:v>
                </c:pt>
              </c:numCache>
            </c:numRef>
          </c:val>
        </c:ser>
        <c:ser>
          <c:idx val="1"/>
          <c:order val="1"/>
          <c:tx>
            <c:strRef>
              <c:f>Sheet1!$C$1</c:f>
              <c:strCache>
                <c:ptCount val="1"/>
                <c:pt idx="0">
                  <c:v>Operating Income ($)</c:v>
                </c:pt>
              </c:strCache>
            </c:strRef>
          </c:tx>
          <c:spPr>
            <a:solidFill>
              <a:srgbClr val="2E6F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2026</c:v>
                  </c:pt>
                </c:lvl>
              </c:multiLvlStrCache>
            </c:multiLvlStrRef>
          </c:cat>
          <c:val>
            <c:numRef>
              <c:f>Sheet1!$C$2:$C$4</c:f>
              <c:numCache>
                <c:formatCode>General</c:formatCode>
                <c:ptCount val="3"/>
                <c:pt idx="0">
                  <c:v>27.012</c:v>
                </c:pt>
                <c:pt idx="1">
                  <c:v>29.348</c:v>
                </c:pt>
                <c:pt idx="2">
                  <c:v>29.825</c:v>
                </c:pt>
              </c:numCache>
            </c:numRef>
          </c:val>
        </c:ser>
        <c:ser>
          <c:idx val="2"/>
          <c:order val="2"/>
          <c:tx>
            <c:strRef>
              <c:f>Sheet1!$D$1</c:f>
              <c:strCache>
                <c:ptCount val="1"/>
                <c:pt idx="0">
                  <c:v>Net Income ($)</c:v>
                </c:pt>
              </c:strCache>
            </c:strRef>
          </c:tx>
          <c:spPr>
            <a:solidFill>
              <a:srgbClr val="9DB4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2026</c:v>
                  </c:pt>
                </c:lvl>
              </c:multiLvlStrCache>
            </c:multiLvlStrRef>
          </c:cat>
          <c:val>
            <c:numRef>
              <c:f>Sheet1!$D$2:$D$4</c:f>
              <c:numCache>
                <c:formatCode>General</c:formatCode>
                <c:ptCount val="3"/>
                <c:pt idx="0">
                  <c:v>15.511</c:v>
                </c:pt>
                <c:pt idx="1">
                  <c:v>19.436</c:v>
                </c:pt>
                <c:pt idx="2">
                  <c:v>21.893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linkedin.com/search/results/people/?keywords=John%20R.%20Furner%20Walmart%20Inc." TargetMode="External"/><Relationship Id="rId3" Type="http://schemas.openxmlformats.org/officeDocument/2006/relationships/hyperlink" Target="https://www.linkedin.com/search/results/people/?keywords=John%20David%20Rainey%20Walmart%20Inc." TargetMode="External"/><Relationship Id="rId1" Type="http://schemas.openxmlformats.org/officeDocument/2006/relationships/image" Target="../media/image-8-1.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www.pymnts.com/walmart/2026/walmarts-grocery-lead-faces-a-higher-margin-test/" TargetMode="External"/><Relationship Id="rId2" Type="http://schemas.openxmlformats.org/officeDocument/2006/relationships/hyperlink" Target="https://slickdeals.net/f/19894035-6-pk-4-oz-beyond-meat-beyond-burger-plant-based-patties-6-75-walmart-cash-13-50-free-pickup" TargetMode="External"/><Relationship Id="rId3" Type="http://schemas.openxmlformats.org/officeDocument/2006/relationships/hyperlink" Target="https://www.lifesciencesworld.com/are-dogs-allowed-in-walmart-in-california/" TargetMode="External"/><Relationship Id="rId4" Type="http://schemas.openxmlformats.org/officeDocument/2006/relationships/hyperlink" Target="https://slickdeals.net/f/19894752-nascar-arcade-rush-nintendo-switch-11-free-shipping-w-prime-or-on-35" TargetMode="Externa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92E"/>
        </a:solidFill>
      </p:bgPr>
    </p:bg>
    <p:spTree>
      <p:nvGrpSpPr>
        <p:cNvPr id="1" name=""/>
        <p:cNvGrpSpPr/>
        <p:nvPr/>
      </p:nvGrpSpPr>
      <p:grpSpPr>
        <a:xfrm>
          <a:off x="0" y="0"/>
          <a:ext cx="0" cy="0"/>
          <a:chOff x="0" y="0"/>
          <a:chExt cx="0" cy="0"/>
        </a:xfrm>
      </p:grpSpPr>
      <p:sp>
        <p:nvSpPr>
          <p:cNvPr id="2" name="Text 0"/>
          <p:cNvSpPr/>
          <p:nvPr/>
        </p:nvSpPr>
        <p:spPr>
          <a:xfrm>
            <a:off x="731520" y="2468880"/>
            <a:ext cx="10725912" cy="11887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Walmart Inc.</a:t>
            </a:r>
            <a:endParaRPr lang="en-US" sz="4400" dirty="0"/>
          </a:p>
        </p:txBody>
      </p:sp>
      <p:sp>
        <p:nvSpPr>
          <p:cNvPr id="3" name="Text 1"/>
          <p:cNvSpPr/>
          <p:nvPr/>
        </p:nvSpPr>
        <p:spPr>
          <a:xfrm>
            <a:off x="731520" y="3566160"/>
            <a:ext cx="10725912" cy="548640"/>
          </a:xfrm>
          <a:prstGeom prst="rect">
            <a:avLst/>
          </a:prstGeom>
          <a:noFill/>
          <a:ln/>
        </p:spPr>
        <p:txBody>
          <a:bodyPr wrap="square" rtlCol="0" anchor="ctr"/>
          <a:lstStyle/>
          <a:p>
            <a:pPr indent="0" marL="0">
              <a:buNone/>
            </a:pPr>
            <a:r>
              <a:rPr lang="en-US" sz="2000" dirty="0">
                <a:solidFill>
                  <a:srgbClr val="AFC6E3"/>
                </a:solidFill>
                <a:latin typeface="Calibri" pitchFamily="34" charset="0"/>
                <a:ea typeface="Calibri" pitchFamily="34" charset="-122"/>
                <a:cs typeface="Calibri" pitchFamily="34" charset="-120"/>
              </a:rPr>
              <a:t>Company Intelligence</a:t>
            </a:r>
            <a:endParaRPr lang="en-US" sz="2000" dirty="0"/>
          </a:p>
        </p:txBody>
      </p:sp>
      <p:sp>
        <p:nvSpPr>
          <p:cNvPr id="4" name="Text 2"/>
          <p:cNvSpPr/>
          <p:nvPr/>
        </p:nvSpPr>
        <p:spPr>
          <a:xfrm>
            <a:off x="731520" y="4069080"/>
            <a:ext cx="3657600" cy="365760"/>
          </a:xfrm>
          <a:prstGeom prst="rect">
            <a:avLst/>
          </a:prstGeom>
          <a:noFill/>
          <a:ln/>
        </p:spPr>
        <p:txBody>
          <a:bodyPr wrap="square" rtlCol="0" anchor="ctr"/>
          <a:lstStyle/>
          <a:p>
            <a:pPr indent="0" marL="0">
              <a:buNone/>
            </a:pPr>
            <a:r>
              <a:rPr lang="en-US" sz="1300" dirty="0">
                <a:solidFill>
                  <a:srgbClr val="7E96BF"/>
                </a:solidFill>
                <a:latin typeface="Calibri" pitchFamily="34" charset="0"/>
                <a:ea typeface="Calibri" pitchFamily="34" charset="-122"/>
                <a:cs typeface="Calibri" pitchFamily="34" charset="-120"/>
              </a:rPr>
              <a:t>WMT</a:t>
            </a:r>
            <a:endParaRPr lang="en-US" sz="1300" dirty="0"/>
          </a:p>
        </p:txBody>
      </p:sp>
      <p:sp>
        <p:nvSpPr>
          <p:cNvPr id="5" name="Text 3"/>
          <p:cNvSpPr/>
          <p:nvPr/>
        </p:nvSpPr>
        <p:spPr>
          <a:xfrm>
            <a:off x="731520" y="6217920"/>
            <a:ext cx="5486400" cy="365760"/>
          </a:xfrm>
          <a:prstGeom prst="rect">
            <a:avLst/>
          </a:prstGeom>
          <a:noFill/>
          <a:ln/>
        </p:spPr>
        <p:txBody>
          <a:bodyPr wrap="square" rtlCol="0" anchor="ctr"/>
          <a:lstStyle/>
          <a:p>
            <a:pPr indent="0" marL="0">
              <a:buNone/>
            </a:pPr>
            <a:r>
              <a:rPr lang="en-US" sz="1100" dirty="0">
                <a:solidFill>
                  <a:srgbClr val="7E96BF"/>
                </a:solidFill>
                <a:latin typeface="Calibri" pitchFamily="34" charset="0"/>
                <a:ea typeface="Calibri" pitchFamily="34" charset="-122"/>
                <a:cs typeface="Calibri" pitchFamily="34" charset="-120"/>
              </a:rPr>
              <a:t>Information Resource Centre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Company Overview</a:t>
            </a:r>
            <a:endParaRPr lang="en-US" sz="2600" dirty="0"/>
          </a:p>
        </p:txBody>
      </p:sp>
      <p:sp>
        <p:nvSpPr>
          <p:cNvPr id="3" name="Shape 1"/>
          <p:cNvSpPr/>
          <p:nvPr/>
        </p:nvSpPr>
        <p:spPr>
          <a:xfrm>
            <a:off x="457200"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FOUNDED</a:t>
            </a:r>
            <a:endParaRPr lang="en-US" sz="900" dirty="0"/>
          </a:p>
        </p:txBody>
      </p:sp>
      <p:sp>
        <p:nvSpPr>
          <p:cNvPr id="5" name="Text 3"/>
          <p:cNvSpPr/>
          <p:nvPr/>
        </p:nvSpPr>
        <p:spPr>
          <a:xfrm>
            <a:off x="566928"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1945</a:t>
            </a:r>
            <a:endParaRPr lang="en-US" sz="1200" dirty="0"/>
          </a:p>
        </p:txBody>
      </p:sp>
      <p:sp>
        <p:nvSpPr>
          <p:cNvPr id="6" name="Shape 4"/>
          <p:cNvSpPr/>
          <p:nvPr/>
        </p:nvSpPr>
        <p:spPr>
          <a:xfrm>
            <a:off x="2766974"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2876702"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HEADQUARTERS</a:t>
            </a:r>
            <a:endParaRPr lang="en-US" sz="900" dirty="0"/>
          </a:p>
        </p:txBody>
      </p:sp>
      <p:sp>
        <p:nvSpPr>
          <p:cNvPr id="8" name="Text 6"/>
          <p:cNvSpPr/>
          <p:nvPr/>
        </p:nvSpPr>
        <p:spPr>
          <a:xfrm>
            <a:off x="2876702"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Bentonville, Arkansas</a:t>
            </a:r>
            <a:endParaRPr lang="en-US" sz="1200" dirty="0"/>
          </a:p>
        </p:txBody>
      </p:sp>
      <p:sp>
        <p:nvSpPr>
          <p:cNvPr id="9" name="Shape 7"/>
          <p:cNvSpPr/>
          <p:nvPr/>
        </p:nvSpPr>
        <p:spPr>
          <a:xfrm>
            <a:off x="5076749"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186477"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EMPLOYEES</a:t>
            </a:r>
            <a:endParaRPr lang="en-US" sz="900" dirty="0"/>
          </a:p>
        </p:txBody>
      </p:sp>
      <p:sp>
        <p:nvSpPr>
          <p:cNvPr id="11" name="Text 9"/>
          <p:cNvSpPr/>
          <p:nvPr/>
        </p:nvSpPr>
        <p:spPr>
          <a:xfrm>
            <a:off x="5186477"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approximately 2.1 million associates</a:t>
            </a:r>
            <a:endParaRPr lang="en-US" sz="1200" dirty="0"/>
          </a:p>
        </p:txBody>
      </p:sp>
      <p:sp>
        <p:nvSpPr>
          <p:cNvPr id="12" name="Shape 10"/>
          <p:cNvSpPr/>
          <p:nvPr/>
        </p:nvSpPr>
        <p:spPr>
          <a:xfrm>
            <a:off x="7386523"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7496251"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REVENUE</a:t>
            </a:r>
            <a:endParaRPr lang="en-US" sz="900" dirty="0"/>
          </a:p>
        </p:txBody>
      </p:sp>
      <p:sp>
        <p:nvSpPr>
          <p:cNvPr id="14" name="Text 12"/>
          <p:cNvSpPr/>
          <p:nvPr/>
        </p:nvSpPr>
        <p:spPr>
          <a:xfrm>
            <a:off x="7496251"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$706.4B</a:t>
            </a:r>
            <a:endParaRPr lang="en-US" sz="1200" dirty="0"/>
          </a:p>
        </p:txBody>
      </p:sp>
      <p:sp>
        <p:nvSpPr>
          <p:cNvPr id="15" name="Shape 13"/>
          <p:cNvSpPr/>
          <p:nvPr/>
        </p:nvSpPr>
        <p:spPr>
          <a:xfrm>
            <a:off x="9696298"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9806026"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MARKET CAP</a:t>
            </a:r>
            <a:endParaRPr lang="en-US" sz="900" dirty="0"/>
          </a:p>
        </p:txBody>
      </p:sp>
      <p:sp>
        <p:nvSpPr>
          <p:cNvPr id="17" name="Text 15"/>
          <p:cNvSpPr/>
          <p:nvPr/>
        </p:nvSpPr>
        <p:spPr>
          <a:xfrm>
            <a:off x="9806026"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$909.6B</a:t>
            </a:r>
            <a:endParaRPr lang="en-US" sz="1200" dirty="0"/>
          </a:p>
        </p:txBody>
      </p:sp>
      <p:sp>
        <p:nvSpPr>
          <p:cNvPr id="18" name="Shape 16"/>
          <p:cNvSpPr/>
          <p:nvPr/>
        </p:nvSpPr>
        <p:spPr>
          <a:xfrm>
            <a:off x="457200" y="2423160"/>
            <a:ext cx="5500116" cy="1417320"/>
          </a:xfrm>
          <a:prstGeom prst="roundRect">
            <a:avLst>
              <a:gd name="adj" fmla="val 387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9" name="Text 17"/>
          <p:cNvSpPr/>
          <p:nvPr/>
        </p:nvSpPr>
        <p:spPr>
          <a:xfrm>
            <a:off x="594360" y="2514600"/>
            <a:ext cx="5225796"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Brands</a:t>
            </a:r>
            <a:endParaRPr lang="en-US" sz="1200" dirty="0"/>
          </a:p>
        </p:txBody>
      </p:sp>
      <p:sp>
        <p:nvSpPr>
          <p:cNvPr id="20" name="Text 18"/>
          <p:cNvSpPr/>
          <p:nvPr/>
        </p:nvSpPr>
        <p:spPr>
          <a:xfrm>
            <a:off x="594360" y="2807208"/>
            <a:ext cx="5225796" cy="914400"/>
          </a:xfrm>
          <a:prstGeom prst="rect">
            <a:avLst/>
          </a:prstGeom>
          <a:noFill/>
          <a:ln/>
        </p:spPr>
        <p:txBody>
          <a:bodyPr wrap="square" rtlCol="0" anchor="t">
            <a:normAutofit/>
          </a:bodyPr>
          <a:lstStyle/>
          <a:p>
            <a:pPr indent="0" marL="0">
              <a:buNone/>
            </a:pPr>
            <a:r>
              <a:rPr lang="en-US" sz="1000" dirty="0">
                <a:solidFill>
                  <a:srgbClr val="13192E"/>
                </a:solidFill>
                <a:latin typeface="Calibri" pitchFamily="34" charset="0"/>
                <a:ea typeface="Calibri" pitchFamily="34" charset="-122"/>
                <a:cs typeface="Calibri" pitchFamily="34" charset="-120"/>
              </a:rPr>
              <a:t>Walmart, Walmart Neighborhood Market, Sam's Club, Athletic Works, bettergoods, Equate, Free Assembly, Freshness Guaranteed, George, Great Value, Holiday Time, Hyper Tough, Joyspun, Kid Connection, Mainstays, Marketside, No Boundaries, onn., Ozark Trail, Parent's Choice, Sam's Choice, Scoop, Spring Valley, Time and Tru, Way to Celebrate, Wonder Nation, Avia, Better Homes Gardens, Sofia Jeans by Sofia Vergara, The Pioneer Woman, Member's Mark, Aurrera, Lider</a:t>
            </a:r>
            <a:endParaRPr lang="en-US" sz="1000" dirty="0"/>
          </a:p>
        </p:txBody>
      </p:sp>
      <p:sp>
        <p:nvSpPr>
          <p:cNvPr id="21" name="Shape 19"/>
          <p:cNvSpPr/>
          <p:nvPr/>
        </p:nvSpPr>
        <p:spPr>
          <a:xfrm>
            <a:off x="6231636" y="2423160"/>
            <a:ext cx="5500116" cy="1417320"/>
          </a:xfrm>
          <a:prstGeom prst="roundRect">
            <a:avLst>
              <a:gd name="adj" fmla="val 387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2" name="Text 20"/>
          <p:cNvSpPr/>
          <p:nvPr/>
        </p:nvSpPr>
        <p:spPr>
          <a:xfrm>
            <a:off x="6368796" y="2514600"/>
            <a:ext cx="5225796"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Services</a:t>
            </a:r>
            <a:endParaRPr lang="en-US" sz="1200" dirty="0"/>
          </a:p>
        </p:txBody>
      </p:sp>
      <p:sp>
        <p:nvSpPr>
          <p:cNvPr id="23" name="Text 21"/>
          <p:cNvSpPr/>
          <p:nvPr/>
        </p:nvSpPr>
        <p:spPr>
          <a:xfrm>
            <a:off x="6368796" y="2807208"/>
            <a:ext cx="5225796" cy="914400"/>
          </a:xfrm>
          <a:prstGeom prst="rect">
            <a:avLst/>
          </a:prstGeom>
          <a:noFill/>
          <a:ln/>
        </p:spPr>
        <p:txBody>
          <a:bodyPr wrap="square" rtlCol="0" anchor="t">
            <a:normAutofit/>
          </a:bodyPr>
          <a:lstStyle/>
          <a:p>
            <a:pPr indent="0" marL="0">
              <a:buNone/>
            </a:pPr>
            <a:r>
              <a:rPr lang="en-US" sz="1000" dirty="0">
                <a:solidFill>
                  <a:srgbClr val="13192E"/>
                </a:solidFill>
                <a:latin typeface="Calibri" pitchFamily="34" charset="0"/>
                <a:ea typeface="Calibri" pitchFamily="34" charset="-122"/>
                <a:cs typeface="Calibri" pitchFamily="34" charset="-120"/>
              </a:rPr>
              <a:t>retail, wholesale, eCommerce, membership, advertising, marketplace, fulfillment services, financial services, pharmacy, optical, hearing services, tire and battery installation, photo and tech assistance, home and auto solutions</a:t>
            </a:r>
            <a:endParaRPr lang="en-US" sz="1000" dirty="0"/>
          </a:p>
        </p:txBody>
      </p:sp>
      <p:sp>
        <p:nvSpPr>
          <p:cNvPr id="24" name="Shape 22"/>
          <p:cNvSpPr/>
          <p:nvPr/>
        </p:nvSpPr>
        <p:spPr>
          <a:xfrm>
            <a:off x="457200" y="4069080"/>
            <a:ext cx="11000232" cy="2286000"/>
          </a:xfrm>
          <a:prstGeom prst="roundRect">
            <a:avLst>
              <a:gd name="adj" fmla="val 24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5" name="Text 23"/>
          <p:cNvSpPr/>
          <p:nvPr/>
        </p:nvSpPr>
        <p:spPr>
          <a:xfrm>
            <a:off x="594360" y="4160520"/>
            <a:ext cx="1072591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Key Acquisitions</a:t>
            </a:r>
            <a:endParaRPr lang="en-US" sz="1200" dirty="0"/>
          </a:p>
        </p:txBody>
      </p:sp>
      <p:sp>
        <p:nvSpPr>
          <p:cNvPr id="26" name="Text 24"/>
          <p:cNvSpPr/>
          <p:nvPr/>
        </p:nvSpPr>
        <p:spPr>
          <a:xfrm>
            <a:off x="594360" y="4453128"/>
            <a:ext cx="10725912" cy="1783080"/>
          </a:xfrm>
          <a:prstGeom prst="rect">
            <a:avLst/>
          </a:prstGeom>
          <a:noFill/>
          <a:ln/>
        </p:spPr>
        <p:txBody>
          <a:bodyPr wrap="square" rtlCol="0" anchor="t"/>
          <a:lstStyle/>
          <a:p>
            <a:pPr marL="342900" indent="-342900">
              <a:buSzPct val="100000"/>
              <a:buChar char="•"/>
            </a:pPr>
            <a:r>
              <a:rPr lang="en-US" sz="1000" dirty="0">
                <a:solidFill>
                  <a:srgbClr val="13192E"/>
                </a:solidFill>
                <a:latin typeface="Calibri" pitchFamily="34" charset="0"/>
                <a:ea typeface="Calibri" pitchFamily="34" charset="-122"/>
                <a:cs typeface="Calibri" pitchFamily="34" charset="-120"/>
              </a:rPr>
              <a:t>2018 Flipkart</a:t>
            </a:r>
            <a:endParaRPr lang="en-US" sz="1000" dirty="0"/>
          </a:p>
          <a:p>
            <a:pPr marL="342900" indent="-342900">
              <a:buSzPct val="100000"/>
              <a:buChar char="•"/>
            </a:pPr>
            <a:r>
              <a:rPr lang="en-US" sz="1000" dirty="0">
                <a:solidFill>
                  <a:srgbClr val="13192E"/>
                </a:solidFill>
                <a:latin typeface="Calibri" pitchFamily="34" charset="0"/>
                <a:ea typeface="Calibri" pitchFamily="34" charset="-122"/>
                <a:cs typeface="Calibri" pitchFamily="34" charset="-120"/>
              </a:rPr>
              <a:t>2018 PhonePe</a:t>
            </a:r>
            <a:endParaRPr lang="en-US" sz="1000" dirty="0"/>
          </a:p>
          <a:p>
            <a:pPr marL="342900" indent="-342900">
              <a:buSzPct val="100000"/>
              <a:buChar char="•"/>
            </a:pPr>
            <a:r>
              <a:rPr lang="en-US" sz="1000" dirty="0">
                <a:solidFill>
                  <a:srgbClr val="13192E"/>
                </a:solidFill>
                <a:latin typeface="Calibri" pitchFamily="34" charset="0"/>
                <a:ea typeface="Calibri" pitchFamily="34" charset="-122"/>
                <a:cs typeface="Calibri" pitchFamily="34" charset="-120"/>
              </a:rPr>
              <a:t>2025 VIZIO Holding Corp.</a:t>
            </a:r>
            <a:endParaRPr lang="en-US" sz="1000" dirty="0"/>
          </a:p>
        </p:txBody>
      </p:sp>
      <p:sp>
        <p:nvSpPr>
          <p:cNvPr id="27" name="Text 25"/>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28" name="Text 26"/>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Mission / Vision</a:t>
            </a:r>
            <a:endParaRPr lang="en-US" sz="2600" dirty="0"/>
          </a:p>
        </p:txBody>
      </p:sp>
      <p:sp>
        <p:nvSpPr>
          <p:cNvPr id="3" name="Shape 1"/>
          <p:cNvSpPr/>
          <p:nvPr/>
        </p:nvSpPr>
        <p:spPr>
          <a:xfrm>
            <a:off x="457200" y="1143000"/>
            <a:ext cx="11274552" cy="2651760"/>
          </a:xfrm>
          <a:prstGeom prst="roundRect">
            <a:avLst>
              <a:gd name="adj" fmla="val 206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85800" y="1252728"/>
            <a:ext cx="2011680" cy="2432304"/>
          </a:xfrm>
          <a:prstGeom prst="rect">
            <a:avLst/>
          </a:prstGeom>
          <a:noFill/>
          <a:ln/>
        </p:spPr>
        <p:txBody>
          <a:bodyPr wrap="square" rtlCol="0" anchor="ctr"/>
          <a:lstStyle/>
          <a:p>
            <a:pPr indent="0" marL="0">
              <a:buNone/>
            </a:pPr>
            <a:r>
              <a:rPr lang="en-US" sz="1500" b="1" dirty="0">
                <a:solidFill>
                  <a:srgbClr val="2E6F9E"/>
                </a:solidFill>
                <a:latin typeface="Calibri" pitchFamily="34" charset="0"/>
                <a:ea typeface="Calibri" pitchFamily="34" charset="-122"/>
                <a:cs typeface="Calibri" pitchFamily="34" charset="-120"/>
              </a:rPr>
              <a:t>Mission</a:t>
            </a:r>
            <a:endParaRPr lang="en-US" sz="1500" dirty="0"/>
          </a:p>
        </p:txBody>
      </p:sp>
      <p:sp>
        <p:nvSpPr>
          <p:cNvPr id="5" name="Text 3"/>
          <p:cNvSpPr/>
          <p:nvPr/>
        </p:nvSpPr>
        <p:spPr>
          <a:xfrm>
            <a:off x="2743200" y="1252728"/>
            <a:ext cx="8988552" cy="2432304"/>
          </a:xfrm>
          <a:prstGeom prst="rect">
            <a:avLst/>
          </a:prstGeom>
          <a:noFill/>
          <a:ln/>
        </p:spPr>
        <p:txBody>
          <a:bodyPr wrap="square" rtlCol="0" anchor="ctr">
            <a:normAutofit/>
          </a:bodyPr>
          <a:lstStyle/>
          <a:p>
            <a:pPr indent="0" marL="0">
              <a:buNone/>
            </a:pPr>
            <a:r>
              <a:rPr lang="en-US" sz="1150" dirty="0">
                <a:solidFill>
                  <a:srgbClr val="13192E"/>
                </a:solidFill>
                <a:latin typeface="Calibri" pitchFamily="34" charset="0"/>
                <a:ea typeface="Calibri" pitchFamily="34" charset="-122"/>
                <a:cs typeface="Calibri" pitchFamily="34" charset="-120"/>
              </a:rPr>
              <a:t>helping people around the world save money and live better</a:t>
            </a:r>
            <a:endParaRPr lang="en-US" sz="1150" dirty="0"/>
          </a:p>
        </p:txBody>
      </p:sp>
      <p:sp>
        <p:nvSpPr>
          <p:cNvPr id="6" name="Shape 4"/>
          <p:cNvSpPr/>
          <p:nvPr/>
        </p:nvSpPr>
        <p:spPr>
          <a:xfrm>
            <a:off x="457200" y="4069080"/>
            <a:ext cx="11274552" cy="2651760"/>
          </a:xfrm>
          <a:prstGeom prst="roundRect">
            <a:avLst>
              <a:gd name="adj" fmla="val 206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85800" y="4178808"/>
            <a:ext cx="2011680" cy="2432304"/>
          </a:xfrm>
          <a:prstGeom prst="rect">
            <a:avLst/>
          </a:prstGeom>
          <a:noFill/>
          <a:ln/>
        </p:spPr>
        <p:txBody>
          <a:bodyPr wrap="square" rtlCol="0" anchor="ctr"/>
          <a:lstStyle/>
          <a:p>
            <a:pPr indent="0" marL="0">
              <a:buNone/>
            </a:pPr>
            <a:r>
              <a:rPr lang="en-US" sz="1500" b="1" dirty="0">
                <a:solidFill>
                  <a:srgbClr val="2E6F9E"/>
                </a:solidFill>
                <a:latin typeface="Calibri" pitchFamily="34" charset="0"/>
                <a:ea typeface="Calibri" pitchFamily="34" charset="-122"/>
                <a:cs typeface="Calibri" pitchFamily="34" charset="-120"/>
              </a:rPr>
              <a:t>Vision</a:t>
            </a:r>
            <a:endParaRPr lang="en-US" sz="1500" dirty="0"/>
          </a:p>
        </p:txBody>
      </p:sp>
      <p:sp>
        <p:nvSpPr>
          <p:cNvPr id="8" name="Text 6"/>
          <p:cNvSpPr/>
          <p:nvPr/>
        </p:nvSpPr>
        <p:spPr>
          <a:xfrm>
            <a:off x="2743200" y="4178808"/>
            <a:ext cx="8988552" cy="2432304"/>
          </a:xfrm>
          <a:prstGeom prst="rect">
            <a:avLst/>
          </a:prstGeom>
          <a:noFill/>
          <a:ln/>
        </p:spPr>
        <p:txBody>
          <a:bodyPr wrap="square" rtlCol="0" anchor="ctr">
            <a:normAutofit/>
          </a:bodyPr>
          <a:lstStyle/>
          <a:p>
            <a:pPr indent="0" marL="0">
              <a:buNone/>
            </a:pPr>
            <a:r>
              <a:rPr lang="en-US" sz="1150" dirty="0">
                <a:solidFill>
                  <a:srgbClr val="13192E"/>
                </a:solidFill>
                <a:latin typeface="Calibri" pitchFamily="34" charset="0"/>
                <a:ea typeface="Calibri" pitchFamily="34" charset="-122"/>
                <a:cs typeface="Calibri" pitchFamily="34" charset="-120"/>
              </a:rPr>
              <a:t>Save money. Live better.</a:t>
            </a:r>
            <a:endParaRPr lang="en-US" sz="1150" dirty="0"/>
          </a:p>
        </p:txBody>
      </p:sp>
      <p:sp>
        <p:nvSpPr>
          <p:cNvPr id="9" name="Text 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10" name="Text 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Geographic Presence</a:t>
            </a:r>
            <a:endParaRPr lang="en-US" sz="2600" dirty="0"/>
          </a:p>
        </p:txBody>
      </p:sp>
      <p:sp>
        <p:nvSpPr>
          <p:cNvPr id="3" name="Shape 1"/>
          <p:cNvSpPr/>
          <p:nvPr/>
        </p:nvSpPr>
        <p:spPr>
          <a:xfrm>
            <a:off x="457200" y="1188720"/>
            <a:ext cx="11274552" cy="704088"/>
          </a:xfrm>
          <a:prstGeom prst="roundRect">
            <a:avLst>
              <a:gd name="adj" fmla="val 779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40080" y="1261872"/>
            <a:ext cx="2377440" cy="557784"/>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Regions</a:t>
            </a:r>
            <a:endParaRPr lang="en-US" sz="1200" dirty="0"/>
          </a:p>
        </p:txBody>
      </p:sp>
      <p:sp>
        <p:nvSpPr>
          <p:cNvPr id="5" name="Text 3"/>
          <p:cNvSpPr/>
          <p:nvPr/>
        </p:nvSpPr>
        <p:spPr>
          <a:xfrm>
            <a:off x="3017520" y="1261872"/>
            <a:ext cx="8531352" cy="557784"/>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U.S., Africa, Canada, Central America, Chile, China, India, Mexico</a:t>
            </a:r>
            <a:endParaRPr lang="en-US" sz="1050" dirty="0"/>
          </a:p>
        </p:txBody>
      </p:sp>
      <p:sp>
        <p:nvSpPr>
          <p:cNvPr id="6" name="Shape 4"/>
          <p:cNvSpPr/>
          <p:nvPr/>
        </p:nvSpPr>
        <p:spPr>
          <a:xfrm>
            <a:off x="457200" y="2057400"/>
            <a:ext cx="11274552" cy="704088"/>
          </a:xfrm>
          <a:prstGeom prst="roundRect">
            <a:avLst>
              <a:gd name="adj" fmla="val 779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40080" y="2130552"/>
            <a:ext cx="2377440" cy="557784"/>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Offices / Facilities</a:t>
            </a:r>
            <a:endParaRPr lang="en-US" sz="1200" dirty="0"/>
          </a:p>
        </p:txBody>
      </p:sp>
      <p:sp>
        <p:nvSpPr>
          <p:cNvPr id="8" name="Text 6"/>
          <p:cNvSpPr/>
          <p:nvPr/>
        </p:nvSpPr>
        <p:spPr>
          <a:xfrm>
            <a:off x="3017520" y="2130552"/>
            <a:ext cx="8531352" cy="557784"/>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office facilities in Bentonville, Arkansas, and throughout the U.S. and internationally</a:t>
            </a:r>
            <a:endParaRPr lang="en-US" sz="1050" dirty="0"/>
          </a:p>
        </p:txBody>
      </p:sp>
      <p:sp>
        <p:nvSpPr>
          <p:cNvPr id="9" name="Shape 7"/>
          <p:cNvSpPr/>
          <p:nvPr/>
        </p:nvSpPr>
        <p:spPr>
          <a:xfrm>
            <a:off x="457200" y="2926080"/>
            <a:ext cx="11274552" cy="704088"/>
          </a:xfrm>
          <a:prstGeom prst="roundRect">
            <a:avLst>
              <a:gd name="adj" fmla="val 779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640080" y="2999232"/>
            <a:ext cx="2377440" cy="557784"/>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Delivery Centers</a:t>
            </a:r>
            <a:endParaRPr lang="en-US" sz="1200" dirty="0"/>
          </a:p>
        </p:txBody>
      </p:sp>
      <p:sp>
        <p:nvSpPr>
          <p:cNvPr id="11" name="Text 9"/>
          <p:cNvSpPr/>
          <p:nvPr/>
        </p:nvSpPr>
        <p:spPr>
          <a:xfrm>
            <a:off x="3017520" y="2999232"/>
            <a:ext cx="8531352" cy="557784"/>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192 distribution facilities in the U.S. and 179 distribution facilities outside the U.S.</a:t>
            </a:r>
            <a:endParaRPr lang="en-US" sz="1050" dirty="0"/>
          </a:p>
        </p:txBody>
      </p:sp>
      <p:sp>
        <p:nvSpPr>
          <p:cNvPr id="12" name="Shape 10"/>
          <p:cNvSpPr/>
          <p:nvPr/>
        </p:nvSpPr>
        <p:spPr>
          <a:xfrm>
            <a:off x="457200" y="3794760"/>
            <a:ext cx="11274552" cy="704088"/>
          </a:xfrm>
          <a:prstGeom prst="roundRect">
            <a:avLst>
              <a:gd name="adj" fmla="val 779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40080" y="3867912"/>
            <a:ext cx="2377440" cy="557784"/>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Revenue by Geography</a:t>
            </a:r>
            <a:endParaRPr lang="en-US" sz="1200" dirty="0"/>
          </a:p>
        </p:txBody>
      </p:sp>
      <p:sp>
        <p:nvSpPr>
          <p:cNvPr id="14" name="Text 12"/>
          <p:cNvSpPr/>
          <p:nvPr/>
        </p:nvSpPr>
        <p:spPr>
          <a:xfrm>
            <a:off x="3017520" y="3867912"/>
            <a:ext cx="8531352" cy="557784"/>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Walmart U.S. (68%), Walmart International (19%), Sam's Club U.S. (13%)</a:t>
            </a:r>
            <a:endParaRPr lang="en-US" sz="10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Business Segments</a:t>
            </a:r>
            <a:endParaRPr lang="en-US" sz="2600" dirty="0"/>
          </a:p>
        </p:txBody>
      </p:sp>
      <p:sp>
        <p:nvSpPr>
          <p:cNvPr id="3" name="Shape 1"/>
          <p:cNvSpPr/>
          <p:nvPr/>
        </p:nvSpPr>
        <p:spPr>
          <a:xfrm>
            <a:off x="457200" y="1143000"/>
            <a:ext cx="11274552" cy="2743200"/>
          </a:xfrm>
          <a:prstGeom prst="roundRect">
            <a:avLst>
              <a:gd name="adj" fmla="val 2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34440"/>
            <a:ext cx="11055096" cy="411480"/>
          </a:xfrm>
          <a:prstGeom prst="rect">
            <a:avLst/>
          </a:prstGeom>
          <a:noFill/>
          <a:ln/>
        </p:spPr>
        <p:txBody>
          <a:bodyPr wrap="square" rtlCol="0" anchor="ctr">
            <a:normAutofit/>
          </a:bodyPr>
          <a:lstStyle/>
          <a:p>
            <a:pPr indent="0" marL="0">
              <a:buNone/>
            </a:pPr>
            <a:r>
              <a:rPr lang="en-US" sz="1250" b="1" dirty="0">
                <a:solidFill>
                  <a:srgbClr val="1F2D50"/>
                </a:solidFill>
                <a:latin typeface="Calibri" pitchFamily="34" charset="0"/>
                <a:ea typeface="Calibri" pitchFamily="34" charset="-122"/>
                <a:cs typeface="Calibri" pitchFamily="34" charset="-120"/>
              </a:rPr>
              <a:t>Walmart U.S.</a:t>
            </a:r>
            <a:endParaRPr lang="en-US" sz="1250" dirty="0"/>
          </a:p>
        </p:txBody>
      </p:sp>
      <p:sp>
        <p:nvSpPr>
          <p:cNvPr id="5" name="Text 3"/>
          <p:cNvSpPr/>
          <p:nvPr/>
        </p:nvSpPr>
        <p:spPr>
          <a:xfrm>
            <a:off x="566928" y="1691640"/>
            <a:ext cx="11055096"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Revenue: </a:t>
            </a:r>
            <a:endParaRPr lang="en-US" sz="950" dirty="0"/>
          </a:p>
        </p:txBody>
      </p:sp>
      <p:sp>
        <p:nvSpPr>
          <p:cNvPr id="6" name="Text 4"/>
          <p:cNvSpPr/>
          <p:nvPr/>
        </p:nvSpPr>
        <p:spPr>
          <a:xfrm>
            <a:off x="566928" y="1856232"/>
            <a:ext cx="11055096"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$483.0B</a:t>
            </a:r>
            <a:endParaRPr lang="en-US" sz="1150" dirty="0"/>
          </a:p>
        </p:txBody>
      </p:sp>
      <p:sp>
        <p:nvSpPr>
          <p:cNvPr id="7" name="Text 5"/>
          <p:cNvSpPr/>
          <p:nvPr/>
        </p:nvSpPr>
        <p:spPr>
          <a:xfrm>
            <a:off x="566928" y="2148840"/>
            <a:ext cx="11055096"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Growth: </a:t>
            </a:r>
            <a:endParaRPr lang="en-US" sz="950" dirty="0"/>
          </a:p>
        </p:txBody>
      </p:sp>
      <p:sp>
        <p:nvSpPr>
          <p:cNvPr id="8" name="Text 6"/>
          <p:cNvSpPr/>
          <p:nvPr/>
        </p:nvSpPr>
        <p:spPr>
          <a:xfrm>
            <a:off x="566928" y="2313432"/>
            <a:ext cx="11055096"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+4.5%</a:t>
            </a:r>
            <a:endParaRPr lang="en-US" sz="1150" dirty="0"/>
          </a:p>
        </p:txBody>
      </p:sp>
      <p:sp>
        <p:nvSpPr>
          <p:cNvPr id="9" name="Text 7"/>
          <p:cNvSpPr/>
          <p:nvPr/>
        </p:nvSpPr>
        <p:spPr>
          <a:xfrm>
            <a:off x="566928" y="2651760"/>
            <a:ext cx="11055096" cy="1143000"/>
          </a:xfrm>
          <a:prstGeom prst="rect">
            <a:avLst/>
          </a:prstGeom>
          <a:noFill/>
          <a:ln/>
        </p:spPr>
        <p:txBody>
          <a:bodyPr wrap="square" rtlCol="0" anchor="t">
            <a:normAutofit/>
          </a:bodyPr>
          <a:lstStyle/>
          <a:p>
            <a:pPr indent="0" marL="0">
              <a:buNone/>
            </a:pPr>
            <a:r>
              <a:rPr lang="en-US" sz="850" dirty="0">
                <a:solidFill>
                  <a:srgbClr val="5B6472"/>
                </a:solidFill>
                <a:latin typeface="Calibri" pitchFamily="34" charset="0"/>
                <a:ea typeface="Calibri" pitchFamily="34" charset="-122"/>
                <a:cs typeface="Calibri" pitchFamily="34" charset="-120"/>
              </a:rPr>
              <a:t>A mass merchandiser of consumer products, operating under the "Walmart" and "Walmart Neighborhood Market" brands, as well as walmart.com and the Walmart mobile application.</a:t>
            </a:r>
            <a:endParaRPr lang="en-US" sz="850" dirty="0"/>
          </a:p>
        </p:txBody>
      </p:sp>
      <p:sp>
        <p:nvSpPr>
          <p:cNvPr id="10" name="Text 8"/>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11" name="Text 9"/>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Sustainability Strategy and Goals</a:t>
            </a:r>
            <a:endParaRPr lang="en-US" sz="2600" dirty="0"/>
          </a:p>
        </p:txBody>
      </p:sp>
      <p:sp>
        <p:nvSpPr>
          <p:cNvPr id="3" name="Shape 1"/>
          <p:cNvSpPr/>
          <p:nvPr/>
        </p:nvSpPr>
        <p:spPr>
          <a:xfrm>
            <a:off x="457200" y="1143000"/>
            <a:ext cx="11274552" cy="5577840"/>
          </a:xfrm>
          <a:prstGeom prst="roundRect">
            <a:avLst>
              <a:gd name="adj" fmla="val 984"/>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85800" y="1280160"/>
            <a:ext cx="2286000" cy="365760"/>
          </a:xfrm>
          <a:prstGeom prst="rect">
            <a:avLst/>
          </a:prstGeom>
          <a:noFill/>
          <a:ln/>
        </p:spPr>
        <p:txBody>
          <a:bodyPr wrap="square" rtlCol="0" anchor="ctr"/>
          <a:lstStyle/>
          <a:p>
            <a:pPr indent="0" marL="0">
              <a:buNone/>
            </a:pPr>
            <a:r>
              <a:rPr lang="en-US" sz="1400" b="1" dirty="0">
                <a:solidFill>
                  <a:srgbClr val="2E6F9E"/>
                </a:solidFill>
                <a:latin typeface="Calibri" pitchFamily="34" charset="0"/>
                <a:ea typeface="Calibri" pitchFamily="34" charset="-122"/>
                <a:cs typeface="Calibri" pitchFamily="34" charset="-120"/>
              </a:rPr>
              <a:t>Strategy</a:t>
            </a:r>
            <a:endParaRPr lang="en-US" sz="1400" dirty="0"/>
          </a:p>
        </p:txBody>
      </p:sp>
      <p:sp>
        <p:nvSpPr>
          <p:cNvPr id="5" name="Text 3"/>
          <p:cNvSpPr/>
          <p:nvPr/>
        </p:nvSpPr>
        <p:spPr>
          <a:xfrm>
            <a:off x="685800" y="1645920"/>
            <a:ext cx="10817352" cy="4937760"/>
          </a:xfrm>
          <a:prstGeom prst="rect">
            <a:avLst/>
          </a:prstGeom>
          <a:noFill/>
          <a:ln/>
        </p:spPr>
        <p:txBody>
          <a:bodyPr wrap="square" rtlCol="0" anchor="t">
            <a:normAutofit/>
          </a:bodyPr>
          <a:lstStyle/>
          <a:p>
            <a:pPr indent="0" marL="0">
              <a:buNone/>
            </a:pPr>
            <a:r>
              <a:rPr lang="en-US" sz="1050" dirty="0">
                <a:solidFill>
                  <a:srgbClr val="13192E"/>
                </a:solidFill>
                <a:latin typeface="Calibri" pitchFamily="34" charset="0"/>
                <a:ea typeface="Calibri" pitchFamily="34" charset="-122"/>
                <a:cs typeface="Calibri" pitchFamily="34" charset="-120"/>
              </a:rPr>
              <a:t>We are deliberate about where and how we choose to operate to best enable long-term, sustainable and profitable growth.</a:t>
            </a:r>
            <a:endParaRPr lang="en-US" sz="1050" dirty="0"/>
          </a:p>
        </p:txBody>
      </p:sp>
      <p:sp>
        <p:nvSpPr>
          <p:cNvPr id="6" name="Text 4"/>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7" name="Text 5"/>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Organization Structure</a:t>
            </a:r>
            <a:endParaRPr lang="en-US" sz="2600" dirty="0"/>
          </a:p>
        </p:txBody>
      </p:sp>
      <p:sp>
        <p:nvSpPr>
          <p:cNvPr id="3" name="Shape 1"/>
          <p:cNvSpPr/>
          <p:nvPr/>
        </p:nvSpPr>
        <p:spPr>
          <a:xfrm>
            <a:off x="457200" y="1143000"/>
            <a:ext cx="11274552" cy="5166360"/>
          </a:xfrm>
          <a:prstGeom prst="roundRect">
            <a:avLst>
              <a:gd name="adj" fmla="val 106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731520" y="1280160"/>
            <a:ext cx="10725912" cy="4937760"/>
          </a:xfrm>
          <a:prstGeom prst="rect">
            <a:avLst/>
          </a:prstGeom>
          <a:noFill/>
          <a:ln/>
        </p:spPr>
        <p:txBody>
          <a:bodyPr wrap="square" rtlCol="0" anchor="ctr">
            <a:normAutofit/>
          </a:bodyPr>
          <a:lstStyle/>
          <a:p>
            <a:pPr indent="0" marL="0">
              <a:buNone/>
            </a:pPr>
            <a:r>
              <a:rPr lang="en-US" sz="1300" dirty="0">
                <a:solidFill>
                  <a:srgbClr val="13192E"/>
                </a:solidFill>
                <a:latin typeface="Calibri" pitchFamily="34" charset="0"/>
                <a:ea typeface="Calibri" pitchFamily="34" charset="-122"/>
                <a:cs typeface="Calibri" pitchFamily="34" charset="-120"/>
              </a:rPr>
              <a:t>The Company's operations comprise three reportable segments: Walmart U.S., Walmart International, and Sam's Club U.S.</a:t>
            </a:r>
            <a:endParaRPr lang="en-US" sz="1300" dirty="0"/>
          </a:p>
        </p:txBody>
      </p:sp>
      <p:sp>
        <p:nvSpPr>
          <p:cNvPr id="5" name="Text 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6" name="Text 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Leadership Team</a:t>
            </a:r>
            <a:endParaRPr lang="en-US" sz="2600" dirty="0"/>
          </a:p>
        </p:txBody>
      </p:sp>
      <p:sp>
        <p:nvSpPr>
          <p:cNvPr id="3" name="Shape 1"/>
          <p:cNvSpPr/>
          <p:nvPr/>
        </p:nvSpPr>
        <p:spPr>
          <a:xfrm>
            <a:off x="457200" y="1143000"/>
            <a:ext cx="5500116" cy="5257800"/>
          </a:xfrm>
          <a:prstGeom prst="roundRect">
            <a:avLst>
              <a:gd name="adj" fmla="val 1043"/>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pic>
        <p:nvPicPr>
          <p:cNvPr id="4" name="Image 0" descr="photos\john-r-furner.jpg">    </p:cNvPr>
          <p:cNvPicPr>
            <a:picLocks noChangeAspect="1"/>
          </p:cNvPicPr>
          <p:nvPr/>
        </p:nvPicPr>
        <p:blipFill>
          <a:blip r:embed="rId1"/>
          <a:stretch>
            <a:fillRect/>
          </a:stretch>
        </p:blipFill>
        <p:spPr>
          <a:xfrm>
            <a:off x="621792" y="1307592"/>
            <a:ext cx="594360" cy="594360"/>
          </a:xfrm>
          <a:prstGeom prst="ellipse">
            <a:avLst/>
          </a:prstGeom>
        </p:spPr>
      </p:pic>
      <p:sp>
        <p:nvSpPr>
          <p:cNvPr id="5" name="Text 2"/>
          <p:cNvSpPr/>
          <p:nvPr/>
        </p:nvSpPr>
        <p:spPr>
          <a:xfrm>
            <a:off x="1325880" y="1280160"/>
            <a:ext cx="449427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John R. Furner</a:t>
            </a:r>
            <a:endParaRPr lang="en-US" sz="1150" dirty="0"/>
          </a:p>
        </p:txBody>
      </p:sp>
      <p:sp>
        <p:nvSpPr>
          <p:cNvPr id="6" name="Text 3"/>
          <p:cNvSpPr/>
          <p:nvPr/>
        </p:nvSpPr>
        <p:spPr>
          <a:xfrm>
            <a:off x="1325880" y="1581912"/>
            <a:ext cx="4494276" cy="4114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President and Chief Executive Officer and Director</a:t>
            </a:r>
            <a:endParaRPr lang="en-US" sz="900" dirty="0"/>
          </a:p>
        </p:txBody>
      </p:sp>
      <p:sp>
        <p:nvSpPr>
          <p:cNvPr id="7" name="Text 4"/>
          <p:cNvSpPr/>
          <p:nvPr/>
        </p:nvSpPr>
        <p:spPr>
          <a:xfrm>
            <a:off x="621792" y="2011680"/>
            <a:ext cx="5170932" cy="4206240"/>
          </a:xfrm>
          <a:prstGeom prst="rect">
            <a:avLst/>
          </a:prstGeom>
          <a:noFill/>
          <a:ln/>
        </p:spPr>
        <p:txBody>
          <a:bodyPr wrap="square" rtlCol="0" anchor="t">
            <a:normAutofit/>
          </a:bodyPr>
          <a:lstStyle/>
          <a:p>
            <a:pPr indent="0" marL="0">
              <a:buNone/>
            </a:pPr>
            <a:r>
              <a:rPr lang="en-US" sz="850" dirty="0">
                <a:solidFill>
                  <a:srgbClr val="13192E"/>
                </a:solidFill>
                <a:latin typeface="Calibri" pitchFamily="34" charset="0"/>
                <a:ea typeface="Calibri" pitchFamily="34" charset="-122"/>
                <a:cs typeface="Calibri" pitchFamily="34" charset="-120"/>
              </a:rPr>
              <a:t>John Furner is an American business executive who is the president and chief executive officer (CEO) of Walmart Inc. He was president and CEO of Walmart U.S. from 2019 to 2026, and CEO of Sam's Club from 2017 to 2019. Furner succeeded Doug McMillon, who retired in January 2026.</a:t>
            </a:r>
            <a:endParaRPr lang="en-US" sz="850" dirty="0"/>
          </a:p>
        </p:txBody>
      </p:sp>
      <p:sp>
        <p:nvSpPr>
          <p:cNvPr id="8" name="Text 5">
            <a:hlinkClick r:id="rId2" tooltip=""/>
          </p:cNvPr>
          <p:cNvSpPr/>
          <p:nvPr/>
        </p:nvSpPr>
        <p:spPr>
          <a:xfrm>
            <a:off x="621792" y="6108192"/>
            <a:ext cx="5170932" cy="256032"/>
          </a:xfrm>
          <a:prstGeom prst="rect">
            <a:avLst/>
          </a:prstGeom>
          <a:noFill/>
          <a:ln/>
        </p:spPr>
        <p:txBody>
          <a:bodyPr wrap="square" rtlCol="0" anchor="ctr"/>
          <a:lstStyle/>
          <a:p>
            <a:pPr indent="0" marL="0">
              <a:buNone/>
            </a:pPr>
            <a:r>
              <a:rPr lang="en-US" sz="850" u="sng" dirty="0">
                <a:solidFill>
                  <a:srgbClr val="2E6F9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 ↗</a:t>
            </a:r>
            <a:endParaRPr lang="en-US" sz="850" dirty="0"/>
          </a:p>
        </p:txBody>
      </p:sp>
      <p:sp>
        <p:nvSpPr>
          <p:cNvPr id="9" name="Shape 6"/>
          <p:cNvSpPr/>
          <p:nvPr/>
        </p:nvSpPr>
        <p:spPr>
          <a:xfrm>
            <a:off x="6231636" y="1143000"/>
            <a:ext cx="5500116" cy="5257800"/>
          </a:xfrm>
          <a:prstGeom prst="roundRect">
            <a:avLst>
              <a:gd name="adj" fmla="val 1043"/>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Shape 7"/>
          <p:cNvSpPr/>
          <p:nvPr/>
        </p:nvSpPr>
        <p:spPr>
          <a:xfrm>
            <a:off x="6396228" y="1307592"/>
            <a:ext cx="594360" cy="594360"/>
          </a:xfrm>
          <a:prstGeom prst="ellipse">
            <a:avLst/>
          </a:prstGeom>
          <a:solidFill>
            <a:srgbClr val="2E6F9E"/>
          </a:solidFill>
          <a:ln/>
        </p:spPr>
      </p:sp>
      <p:sp>
        <p:nvSpPr>
          <p:cNvPr id="11" name="Text 8"/>
          <p:cNvSpPr/>
          <p:nvPr/>
        </p:nvSpPr>
        <p:spPr>
          <a:xfrm>
            <a:off x="6396228" y="1307592"/>
            <a:ext cx="594360" cy="5943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JD</a:t>
            </a:r>
            <a:endParaRPr lang="en-US" sz="1600" dirty="0"/>
          </a:p>
        </p:txBody>
      </p:sp>
      <p:sp>
        <p:nvSpPr>
          <p:cNvPr id="12" name="Text 9"/>
          <p:cNvSpPr/>
          <p:nvPr/>
        </p:nvSpPr>
        <p:spPr>
          <a:xfrm>
            <a:off x="7100316" y="1280160"/>
            <a:ext cx="449427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John David Rainey</a:t>
            </a:r>
            <a:endParaRPr lang="en-US" sz="1150" dirty="0"/>
          </a:p>
        </p:txBody>
      </p:sp>
      <p:sp>
        <p:nvSpPr>
          <p:cNvPr id="13" name="Text 10"/>
          <p:cNvSpPr/>
          <p:nvPr/>
        </p:nvSpPr>
        <p:spPr>
          <a:xfrm>
            <a:off x="7100316" y="1581912"/>
            <a:ext cx="4494276" cy="4114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Executive Vice President and Chief Financial Officer</a:t>
            </a:r>
            <a:endParaRPr lang="en-US" sz="900" dirty="0"/>
          </a:p>
        </p:txBody>
      </p:sp>
      <p:sp>
        <p:nvSpPr>
          <p:cNvPr id="14" name="Text 11"/>
          <p:cNvSpPr/>
          <p:nvPr/>
        </p:nvSpPr>
        <p:spPr>
          <a:xfrm>
            <a:off x="6396228" y="2011680"/>
            <a:ext cx="5170932" cy="4206240"/>
          </a:xfrm>
          <a:prstGeom prst="rect">
            <a:avLst/>
          </a:prstGeom>
          <a:noFill/>
          <a:ln/>
        </p:spPr>
        <p:txBody>
          <a:bodyPr wrap="square" rtlCol="0" anchor="t">
            <a:normAutofit/>
          </a:bodyPr>
          <a:lstStyle/>
          <a:p>
            <a:pPr indent="0" marL="0">
              <a:buNone/>
            </a:pPr>
            <a:r>
              <a:rPr lang="en-US" sz="850" dirty="0">
                <a:solidFill>
                  <a:srgbClr val="13192E"/>
                </a:solidFill>
                <a:latin typeface="Calibri" pitchFamily="34" charset="0"/>
                <a:ea typeface="Calibri" pitchFamily="34" charset="-122"/>
                <a:cs typeface="Calibri" pitchFamily="34" charset="-120"/>
              </a:rPr>
              <a:t>John David Rainey is a senior United States district judge of the United States District Court for the Southern District of Texas.</a:t>
            </a:r>
            <a:endParaRPr lang="en-US" sz="850" dirty="0"/>
          </a:p>
        </p:txBody>
      </p:sp>
      <p:sp>
        <p:nvSpPr>
          <p:cNvPr id="15" name="Text 12">
            <a:hlinkClick r:id="rId3" tooltip=""/>
          </p:cNvPr>
          <p:cNvSpPr/>
          <p:nvPr/>
        </p:nvSpPr>
        <p:spPr>
          <a:xfrm>
            <a:off x="6396228" y="6108192"/>
            <a:ext cx="5170932" cy="256032"/>
          </a:xfrm>
          <a:prstGeom prst="rect">
            <a:avLst/>
          </a:prstGeom>
          <a:noFill/>
          <a:ln/>
        </p:spPr>
        <p:txBody>
          <a:bodyPr wrap="square" rtlCol="0" anchor="ctr"/>
          <a:lstStyle/>
          <a:p>
            <a:pPr indent="0" marL="0">
              <a:buNone/>
            </a:pPr>
            <a:r>
              <a:rPr lang="en-US" sz="850" u="sng" dirty="0">
                <a:solidFill>
                  <a:srgbClr val="2E6F9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LinkedIn ↗</a:t>
            </a:r>
            <a:endParaRPr lang="en-US" sz="850" dirty="0"/>
          </a:p>
        </p:txBody>
      </p:sp>
      <p:sp>
        <p:nvSpPr>
          <p:cNvPr id="16"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17"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SWOT Analysis</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Analysis</a:t>
            </a:r>
            <a:endParaRPr lang="en-US" sz="2600" dirty="0"/>
          </a:p>
        </p:txBody>
      </p:sp>
      <p:sp>
        <p:nvSpPr>
          <p:cNvPr id="3" name="Shape 1"/>
          <p:cNvSpPr/>
          <p:nvPr/>
        </p:nvSpPr>
        <p:spPr>
          <a:xfrm>
            <a:off x="457200"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457200" y="1143000"/>
            <a:ext cx="2612898" cy="457200"/>
          </a:xfrm>
          <a:prstGeom prst="rect">
            <a:avLst/>
          </a:prstGeom>
          <a:solidFill>
            <a:srgbClr val="3C8A5B"/>
          </a:solidFill>
          <a:ln/>
        </p:spPr>
      </p:sp>
      <p:sp>
        <p:nvSpPr>
          <p:cNvPr id="5" name="Text 3"/>
          <p:cNvSpPr/>
          <p:nvPr/>
        </p:nvSpPr>
        <p:spPr>
          <a:xfrm>
            <a:off x="457200"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STRENGTHS</a:t>
            </a:r>
            <a:endParaRPr lang="en-US" sz="1200" dirty="0"/>
          </a:p>
        </p:txBody>
      </p:sp>
      <p:sp>
        <p:nvSpPr>
          <p:cNvPr id="6" name="Text 4"/>
          <p:cNvSpPr/>
          <p:nvPr/>
        </p:nvSpPr>
        <p:spPr>
          <a:xfrm>
            <a:off x="594360"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Massive scale and revenue generation</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Strong omnichannel presence</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Extensive private label portfolio</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Robust operational cash flow</a:t>
            </a:r>
            <a:endParaRPr lang="en-US" sz="950" dirty="0"/>
          </a:p>
        </p:txBody>
      </p:sp>
      <p:sp>
        <p:nvSpPr>
          <p:cNvPr id="7" name="Shape 5"/>
          <p:cNvSpPr/>
          <p:nvPr/>
        </p:nvSpPr>
        <p:spPr>
          <a:xfrm>
            <a:off x="3344418"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3344418" y="1143000"/>
            <a:ext cx="2612898" cy="457200"/>
          </a:xfrm>
          <a:prstGeom prst="rect">
            <a:avLst/>
          </a:prstGeom>
          <a:solidFill>
            <a:srgbClr val="B5473A"/>
          </a:solidFill>
          <a:ln/>
        </p:spPr>
      </p:sp>
      <p:sp>
        <p:nvSpPr>
          <p:cNvPr id="9" name="Text 7"/>
          <p:cNvSpPr/>
          <p:nvPr/>
        </p:nvSpPr>
        <p:spPr>
          <a:xfrm>
            <a:off x="3344418"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WEAKNESSES</a:t>
            </a:r>
            <a:endParaRPr lang="en-US" sz="1200" dirty="0"/>
          </a:p>
        </p:txBody>
      </p:sp>
      <p:sp>
        <p:nvSpPr>
          <p:cNvPr id="10" name="Text 8"/>
          <p:cNvSpPr/>
          <p:nvPr/>
        </p:nvSpPr>
        <p:spPr>
          <a:xfrm>
            <a:off x="3481578"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High e-commerce fulfillment costs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Margin pressure from product mix shifts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Rising legal and liability expenses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Tight liquidity position</a:t>
            </a:r>
            <a:endParaRPr lang="en-US" sz="950" dirty="0"/>
          </a:p>
        </p:txBody>
      </p:sp>
      <p:sp>
        <p:nvSpPr>
          <p:cNvPr id="11" name="Shape 9"/>
          <p:cNvSpPr/>
          <p:nvPr/>
        </p:nvSpPr>
        <p:spPr>
          <a:xfrm>
            <a:off x="6231636"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231636" y="1143000"/>
            <a:ext cx="2612898" cy="457200"/>
          </a:xfrm>
          <a:prstGeom prst="rect">
            <a:avLst/>
          </a:prstGeom>
          <a:solidFill>
            <a:srgbClr val="2E6F9E"/>
          </a:solidFill>
          <a:ln/>
        </p:spPr>
      </p:sp>
      <p:sp>
        <p:nvSpPr>
          <p:cNvPr id="13" name="Text 11"/>
          <p:cNvSpPr/>
          <p:nvPr/>
        </p:nvSpPr>
        <p:spPr>
          <a:xfrm>
            <a:off x="6231636"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OPPORTUNITIES</a:t>
            </a:r>
            <a:endParaRPr lang="en-US" sz="1200" dirty="0"/>
          </a:p>
        </p:txBody>
      </p:sp>
      <p:sp>
        <p:nvSpPr>
          <p:cNvPr id="14" name="Text 12"/>
          <p:cNvSpPr/>
          <p:nvPr/>
        </p:nvSpPr>
        <p:spPr>
          <a:xfrm>
            <a:off x="6368796"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Expansion of high-margin services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Leveraging AI for operational efficiency</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Growth in membership programs</a:t>
            </a:r>
            <a:endParaRPr lang="en-US" sz="950" dirty="0"/>
          </a:p>
        </p:txBody>
      </p:sp>
      <p:sp>
        <p:nvSpPr>
          <p:cNvPr id="15" name="Shape 13"/>
          <p:cNvSpPr/>
          <p:nvPr/>
        </p:nvSpPr>
        <p:spPr>
          <a:xfrm>
            <a:off x="9118854"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9118854" y="1143000"/>
            <a:ext cx="2612898" cy="457200"/>
          </a:xfrm>
          <a:prstGeom prst="rect">
            <a:avLst/>
          </a:prstGeom>
          <a:solidFill>
            <a:srgbClr val="C6862B"/>
          </a:solidFill>
          <a:ln/>
        </p:spPr>
      </p:sp>
      <p:sp>
        <p:nvSpPr>
          <p:cNvPr id="17" name="Text 15"/>
          <p:cNvSpPr/>
          <p:nvPr/>
        </p:nvSpPr>
        <p:spPr>
          <a:xfrm>
            <a:off x="9118854"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18" name="Text 16"/>
          <p:cNvSpPr/>
          <p:nvPr/>
        </p:nvSpPr>
        <p:spPr>
          <a:xfrm>
            <a:off x="9256014"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Currency exchange rate volatility</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Fuel price volatility</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Macroeconomic and regulatory uncertainty</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Intense competitive landscape</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Strengths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3C8A5B"/>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Massive scale and revenue generation</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Walmart reported annual revenue of $706.413 billion for fiscal year 2026.</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3C8A5B"/>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Strong omnichannel presence</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operates a vast network including Walmart U.S., Walmart Neighborhood Market, Sam's Club, and integrated digital platforms like walmart.com and mobile applications.</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3C8A5B"/>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Extensive private label portfolio</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maintains a diverse range of brands including Great Value, Equate, Member's Mark, and Mainstays.</a:t>
            </a:r>
            <a:endParaRPr lang="en-US" sz="950" dirty="0"/>
          </a:p>
        </p:txBody>
      </p:sp>
      <p:sp>
        <p:nvSpPr>
          <p:cNvPr id="15" name="Shape 13"/>
          <p:cNvSpPr/>
          <p:nvPr/>
        </p:nvSpPr>
        <p:spPr>
          <a:xfrm>
            <a:off x="457200" y="484632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640080" y="4992624"/>
            <a:ext cx="128016" cy="128016"/>
          </a:xfrm>
          <a:prstGeom prst="ellipse">
            <a:avLst/>
          </a:prstGeom>
          <a:solidFill>
            <a:srgbClr val="3C8A5B"/>
          </a:solidFill>
          <a:ln/>
        </p:spPr>
      </p:sp>
      <p:sp>
        <p:nvSpPr>
          <p:cNvPr id="17" name="Text 15"/>
          <p:cNvSpPr/>
          <p:nvPr/>
        </p:nvSpPr>
        <p:spPr>
          <a:xfrm>
            <a:off x="896112" y="491947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Robust operational cash flow</a:t>
            </a:r>
            <a:endParaRPr lang="en-US" sz="1200" dirty="0"/>
          </a:p>
        </p:txBody>
      </p:sp>
      <p:sp>
        <p:nvSpPr>
          <p:cNvPr id="18" name="Text 16"/>
          <p:cNvSpPr/>
          <p:nvPr/>
        </p:nvSpPr>
        <p:spPr>
          <a:xfrm>
            <a:off x="896112" y="523036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Walmart generated $41.565 billion in operating cash flow in fiscal year 2026.</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Weaknesses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B5473A"/>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High e-commerce fulfillment costs</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Higher costs associated with fulfilling e-commerce orders have pressured margins, particularly in the Sam's Club U.S. segment.</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B5473A"/>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Margin pressure from product mix shifts</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Changes in the mix of merchandise sold toward lower-margin categories have acted as a headwind to gross profit rate improvements.</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B5473A"/>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Rising legal and liability expenses</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Higher costs to resolve self-insured general liability claims negatively impacted operating expenses by approximately $0.9 billion in fiscal 2026.</a:t>
            </a:r>
            <a:endParaRPr lang="en-US" sz="950" dirty="0"/>
          </a:p>
        </p:txBody>
      </p:sp>
      <p:sp>
        <p:nvSpPr>
          <p:cNvPr id="15" name="Shape 13"/>
          <p:cNvSpPr/>
          <p:nvPr/>
        </p:nvSpPr>
        <p:spPr>
          <a:xfrm>
            <a:off x="457200" y="484632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640080" y="4992624"/>
            <a:ext cx="128016" cy="128016"/>
          </a:xfrm>
          <a:prstGeom prst="ellipse">
            <a:avLst/>
          </a:prstGeom>
          <a:solidFill>
            <a:srgbClr val="B5473A"/>
          </a:solidFill>
          <a:ln/>
        </p:spPr>
      </p:sp>
      <p:sp>
        <p:nvSpPr>
          <p:cNvPr id="17" name="Text 15"/>
          <p:cNvSpPr/>
          <p:nvPr/>
        </p:nvSpPr>
        <p:spPr>
          <a:xfrm>
            <a:off x="896112" y="491947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Tight liquidity position</a:t>
            </a:r>
            <a:endParaRPr lang="en-US" sz="1200" dirty="0"/>
          </a:p>
        </p:txBody>
      </p:sp>
      <p:sp>
        <p:nvSpPr>
          <p:cNvPr id="18" name="Text 16"/>
          <p:cNvSpPr/>
          <p:nvPr/>
        </p:nvSpPr>
        <p:spPr>
          <a:xfrm>
            <a:off x="896112" y="523036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has a current ratio of 0.7898, with current liabilities ($107.469 billion) exceeding current assets ($84.874 billion).</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Opportunities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2E6F9E"/>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Expansion of high-margin services</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is actively expanding offerings such as membership, advertising, marketplace, fulfillment, and financial services.</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2E6F9E"/>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Leveraging AI for operational efficiency</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company's technology strategy includes heavy investment in AI-powered tools for associate productivity and operational efficiency.</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2E6F9E"/>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Growth in membership programs</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growth strategy focuses on increasing comparable store and club sales via membership growth at Sam's Club U.S. and Walmart+.</a:t>
            </a:r>
            <a:endParaRPr lang="en-US" sz="9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Threats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C6862B"/>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Currency exchange rate volatility</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Fluctuations in currency exchange rates reduced net sales by $2.8 billion in fiscal 2026.</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C6862B"/>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Fuel price volatility</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Fluctuations in fuel prices negatively impacted comparable sales for Sam's Club U.S. and create uncertainty for future operating results.</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C6862B"/>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Macroeconomic and regulatory uncertainty</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Management expects continued uncertainty due to factors such as tariffs, trade restrictions, and inflationary trends.</a:t>
            </a:r>
            <a:endParaRPr lang="en-US" sz="950" dirty="0"/>
          </a:p>
        </p:txBody>
      </p:sp>
      <p:sp>
        <p:nvSpPr>
          <p:cNvPr id="15" name="Shape 13"/>
          <p:cNvSpPr/>
          <p:nvPr/>
        </p:nvSpPr>
        <p:spPr>
          <a:xfrm>
            <a:off x="457200" y="484632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640080" y="4992624"/>
            <a:ext cx="128016" cy="128016"/>
          </a:xfrm>
          <a:prstGeom prst="ellipse">
            <a:avLst/>
          </a:prstGeom>
          <a:solidFill>
            <a:srgbClr val="C6862B"/>
          </a:solidFill>
          <a:ln/>
        </p:spPr>
      </p:sp>
      <p:sp>
        <p:nvSpPr>
          <p:cNvPr id="17" name="Text 15"/>
          <p:cNvSpPr/>
          <p:nvPr/>
        </p:nvSpPr>
        <p:spPr>
          <a:xfrm>
            <a:off x="896112" y="491947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Intense competitive landscape</a:t>
            </a:r>
            <a:endParaRPr lang="en-US" sz="1200" dirty="0"/>
          </a:p>
        </p:txBody>
      </p:sp>
      <p:sp>
        <p:nvSpPr>
          <p:cNvPr id="18" name="Text 16"/>
          <p:cNvSpPr/>
          <p:nvPr/>
        </p:nvSpPr>
        <p:spPr>
          <a:xfrm>
            <a:off x="896112" y="523036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industry is described as highly competitive and rapidly evolving, involving a wide range of brick-and-mortar, eCommerce, and social commerce competitors.</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Financials</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Financials – Annual</a:t>
            </a:r>
            <a:endParaRPr lang="en-US" sz="2600" dirty="0"/>
          </a:p>
        </p:txBody>
      </p:sp>
      <p:graphicFrame>
        <p:nvGraphicFramePr>
          <p:cNvPr id="3" name="Chart 0" descr=""/>
          <p:cNvGraphicFramePr/>
          <p:nvPr/>
        </p:nvGraphicFramePr>
        <p:xfrm>
          <a:off x="457200" y="1143000"/>
          <a:ext cx="7315200" cy="51206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8092440" y="1143000"/>
            <a:ext cx="3566160" cy="320040"/>
          </a:xfrm>
          <a:prstGeom prst="rect">
            <a:avLst/>
          </a:prstGeom>
          <a:noFill/>
          <a:ln/>
        </p:spPr>
        <p:txBody>
          <a:bodyPr wrap="square" rtlCol="0" anchor="ctr"/>
          <a:lstStyle/>
          <a:p>
            <a:pPr indent="0" marL="0">
              <a:buNone/>
            </a:pPr>
            <a:r>
              <a:rPr lang="en-US" sz="1300" b="1" dirty="0">
                <a:solidFill>
                  <a:srgbClr val="1F2D50"/>
                </a:solidFill>
                <a:latin typeface="Calibri" pitchFamily="34" charset="0"/>
                <a:ea typeface="Calibri" pitchFamily="34" charset="-122"/>
                <a:cs typeface="Calibri" pitchFamily="34" charset="-120"/>
              </a:rPr>
              <a:t>Highlights</a:t>
            </a:r>
            <a:endParaRPr lang="en-US" sz="1300" dirty="0"/>
          </a:p>
        </p:txBody>
      </p:sp>
      <p:sp>
        <p:nvSpPr>
          <p:cNvPr id="5" name="Text 2"/>
          <p:cNvSpPr/>
          <p:nvPr/>
        </p:nvSpPr>
        <p:spPr>
          <a:xfrm>
            <a:off x="8092440" y="150876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EPS</a:t>
            </a:r>
            <a:endParaRPr lang="en-US" sz="1000" dirty="0"/>
          </a:p>
        </p:txBody>
      </p:sp>
      <p:sp>
        <p:nvSpPr>
          <p:cNvPr id="6" name="Text 3"/>
          <p:cNvSpPr/>
          <p:nvPr/>
        </p:nvSpPr>
        <p:spPr>
          <a:xfrm>
            <a:off x="10149840" y="150876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2.73</a:t>
            </a:r>
            <a:endParaRPr lang="en-US" sz="1000" dirty="0"/>
          </a:p>
        </p:txBody>
      </p:sp>
      <p:sp>
        <p:nvSpPr>
          <p:cNvPr id="7" name="Text 4"/>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8" name="Text 5"/>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Financials – Current Quarter</a:t>
            </a:r>
            <a:endParaRPr lang="en-US" sz="2600" dirty="0"/>
          </a:p>
        </p:txBody>
      </p:sp>
      <p:sp>
        <p:nvSpPr>
          <p:cNvPr id="3" name="Shape 1"/>
          <p:cNvSpPr/>
          <p:nvPr/>
        </p:nvSpPr>
        <p:spPr>
          <a:xfrm>
            <a:off x="457200" y="12344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3258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QUARTER</a:t>
            </a:r>
            <a:endParaRPr lang="en-US" sz="900" dirty="0"/>
          </a:p>
        </p:txBody>
      </p:sp>
      <p:sp>
        <p:nvSpPr>
          <p:cNvPr id="5" name="Text 3"/>
          <p:cNvSpPr/>
          <p:nvPr/>
        </p:nvSpPr>
        <p:spPr>
          <a:xfrm>
            <a:off x="594360" y="15819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2026-04-30</a:t>
            </a:r>
            <a:endParaRPr lang="en-US" sz="1400" dirty="0"/>
          </a:p>
        </p:txBody>
      </p:sp>
      <p:sp>
        <p:nvSpPr>
          <p:cNvPr id="6" name="Shape 4"/>
          <p:cNvSpPr/>
          <p:nvPr/>
        </p:nvSpPr>
        <p:spPr>
          <a:xfrm>
            <a:off x="457200" y="21488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594360" y="22402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REVENUE</a:t>
            </a:r>
            <a:endParaRPr lang="en-US" sz="900" dirty="0"/>
          </a:p>
        </p:txBody>
      </p:sp>
      <p:sp>
        <p:nvSpPr>
          <p:cNvPr id="8" name="Text 6"/>
          <p:cNvSpPr/>
          <p:nvPr/>
        </p:nvSpPr>
        <p:spPr>
          <a:xfrm>
            <a:off x="594360" y="24963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$175.7B</a:t>
            </a:r>
            <a:endParaRPr lang="en-US" sz="1400" dirty="0"/>
          </a:p>
        </p:txBody>
      </p:sp>
      <p:sp>
        <p:nvSpPr>
          <p:cNvPr id="9" name="Shape 7"/>
          <p:cNvSpPr/>
          <p:nvPr/>
        </p:nvSpPr>
        <p:spPr>
          <a:xfrm>
            <a:off x="457200" y="30632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94360" y="31546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OPERATING INCOME</a:t>
            </a:r>
            <a:endParaRPr lang="en-US" sz="900" dirty="0"/>
          </a:p>
        </p:txBody>
      </p:sp>
      <p:sp>
        <p:nvSpPr>
          <p:cNvPr id="11" name="Text 9"/>
          <p:cNvSpPr/>
          <p:nvPr/>
        </p:nvSpPr>
        <p:spPr>
          <a:xfrm>
            <a:off x="594360" y="34107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$7.5B</a:t>
            </a:r>
            <a:endParaRPr lang="en-US" sz="1400" dirty="0"/>
          </a:p>
        </p:txBody>
      </p:sp>
      <p:sp>
        <p:nvSpPr>
          <p:cNvPr id="12" name="Shape 10"/>
          <p:cNvSpPr/>
          <p:nvPr/>
        </p:nvSpPr>
        <p:spPr>
          <a:xfrm>
            <a:off x="6185916" y="12344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323076" y="13258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NET INCOME</a:t>
            </a:r>
            <a:endParaRPr lang="en-US" sz="900" dirty="0"/>
          </a:p>
        </p:txBody>
      </p:sp>
      <p:sp>
        <p:nvSpPr>
          <p:cNvPr id="14" name="Text 12"/>
          <p:cNvSpPr/>
          <p:nvPr/>
        </p:nvSpPr>
        <p:spPr>
          <a:xfrm>
            <a:off x="6323076" y="15819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$5.3B</a:t>
            </a:r>
            <a:endParaRPr lang="en-US" sz="1400" dirty="0"/>
          </a:p>
        </p:txBody>
      </p:sp>
      <p:sp>
        <p:nvSpPr>
          <p:cNvPr id="15" name="Shape 13"/>
          <p:cNvSpPr/>
          <p:nvPr/>
        </p:nvSpPr>
        <p:spPr>
          <a:xfrm>
            <a:off x="6185916" y="21488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6323076" y="22402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EPS</a:t>
            </a:r>
            <a:endParaRPr lang="en-US" sz="900" dirty="0"/>
          </a:p>
        </p:txBody>
      </p:sp>
      <p:sp>
        <p:nvSpPr>
          <p:cNvPr id="17" name="Text 15"/>
          <p:cNvSpPr/>
          <p:nvPr/>
        </p:nvSpPr>
        <p:spPr>
          <a:xfrm>
            <a:off x="6323076" y="24963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0.67</a:t>
            </a:r>
            <a:endParaRPr lang="en-US" sz="1400" dirty="0"/>
          </a:p>
        </p:txBody>
      </p:sp>
      <p:sp>
        <p:nvSpPr>
          <p:cNvPr id="18" name="Shape 16"/>
          <p:cNvSpPr/>
          <p:nvPr/>
        </p:nvSpPr>
        <p:spPr>
          <a:xfrm>
            <a:off x="6185916" y="30632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9" name="Text 17"/>
          <p:cNvSpPr/>
          <p:nvPr/>
        </p:nvSpPr>
        <p:spPr>
          <a:xfrm>
            <a:off x="6323076" y="31546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CASH FLOW</a:t>
            </a:r>
            <a:endParaRPr lang="en-US" sz="900" dirty="0"/>
          </a:p>
        </p:txBody>
      </p:sp>
      <p:sp>
        <p:nvSpPr>
          <p:cNvPr id="20" name="Text 18"/>
          <p:cNvSpPr/>
          <p:nvPr/>
        </p:nvSpPr>
        <p:spPr>
          <a:xfrm>
            <a:off x="6323076" y="34107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$4.7B</a:t>
            </a:r>
            <a:endParaRPr lang="en-US" sz="1400" dirty="0"/>
          </a:p>
        </p:txBody>
      </p:sp>
      <p:sp>
        <p:nvSpPr>
          <p:cNvPr id="21" name="Text 19"/>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22" name="Text 20"/>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Key Acquisitions</a:t>
            </a:r>
            <a:endParaRPr lang="en-US" sz="2600" dirty="0"/>
          </a:p>
        </p:txBody>
      </p:sp>
      <p:sp>
        <p:nvSpPr>
          <p:cNvPr id="3" name="Shape 1"/>
          <p:cNvSpPr/>
          <p:nvPr/>
        </p:nvSpPr>
        <p:spPr>
          <a:xfrm>
            <a:off x="457200" y="114300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3444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Flipkart</a:t>
            </a:r>
            <a:endParaRPr lang="en-US" sz="1200" dirty="0"/>
          </a:p>
        </p:txBody>
      </p:sp>
      <p:sp>
        <p:nvSpPr>
          <p:cNvPr id="5" name="Text 3"/>
          <p:cNvSpPr/>
          <p:nvPr/>
        </p:nvSpPr>
        <p:spPr>
          <a:xfrm>
            <a:off x="594360" y="156362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Year: 2018  |  Brief: Acquisition of a majority stake in Flipkart in India to expand eCommerce and digital presence.</a:t>
            </a:r>
            <a:endParaRPr lang="en-US" sz="900" dirty="0"/>
          </a:p>
        </p:txBody>
      </p:sp>
      <p:sp>
        <p:nvSpPr>
          <p:cNvPr id="6" name="Shape 4"/>
          <p:cNvSpPr/>
          <p:nvPr/>
        </p:nvSpPr>
        <p:spPr>
          <a:xfrm>
            <a:off x="6208776" y="114300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345936" y="123444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PhonePe</a:t>
            </a:r>
            <a:endParaRPr lang="en-US" sz="1200" dirty="0"/>
          </a:p>
        </p:txBody>
      </p:sp>
      <p:sp>
        <p:nvSpPr>
          <p:cNvPr id="8" name="Text 6"/>
          <p:cNvSpPr/>
          <p:nvPr/>
        </p:nvSpPr>
        <p:spPr>
          <a:xfrm>
            <a:off x="6345936" y="156362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Year: 2018  |  Brief: Acquisition of a majority stake in PhonePe in India to expand eCommerce and digital presence.</a:t>
            </a:r>
            <a:endParaRPr lang="en-US" sz="900" dirty="0"/>
          </a:p>
        </p:txBody>
      </p:sp>
      <p:sp>
        <p:nvSpPr>
          <p:cNvPr id="9" name="Shape 7"/>
          <p:cNvSpPr/>
          <p:nvPr/>
        </p:nvSpPr>
        <p:spPr>
          <a:xfrm>
            <a:off x="457200" y="278892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94360" y="288036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VIZIO Holding Corp.</a:t>
            </a:r>
            <a:endParaRPr lang="en-US" sz="1200" dirty="0"/>
          </a:p>
        </p:txBody>
      </p:sp>
      <p:sp>
        <p:nvSpPr>
          <p:cNvPr id="11" name="Text 9"/>
          <p:cNvSpPr/>
          <p:nvPr/>
        </p:nvSpPr>
        <p:spPr>
          <a:xfrm>
            <a:off x="594360" y="320954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Year: 2025  |  Brief: Acquisition in December 2024 within the Walmart U.S. segment.</a:t>
            </a:r>
            <a:endParaRPr lang="en-US" sz="900" dirty="0"/>
          </a:p>
        </p:txBody>
      </p:sp>
      <p:sp>
        <p:nvSpPr>
          <p:cNvPr id="12" name="Text 10"/>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13" name="Text 11"/>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Business Challenges</a:t>
            </a:r>
            <a:endParaRPr lang="en-US" sz="2600" dirty="0"/>
          </a:p>
        </p:txBody>
      </p:sp>
      <p:sp>
        <p:nvSpPr>
          <p:cNvPr id="3" name="Shape 1"/>
          <p:cNvSpPr/>
          <p:nvPr/>
        </p:nvSpPr>
        <p:spPr>
          <a:xfrm>
            <a:off x="457200" y="114300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3444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Cost increases</a:t>
            </a:r>
            <a:endParaRPr lang="en-US" sz="1200" dirty="0"/>
          </a:p>
        </p:txBody>
      </p:sp>
      <p:sp>
        <p:nvSpPr>
          <p:cNvPr id="5" name="Text 3"/>
          <p:cNvSpPr/>
          <p:nvPr/>
        </p:nvSpPr>
        <p:spPr>
          <a:xfrm>
            <a:off x="594360" y="156362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Influences net sales and gross profit margin; requires pricing and merchandising strategy adjustments.  |  Brief: The company faces cost increases that it must either absorb or pass on to customers, impacting profitability.</a:t>
            </a:r>
            <a:endParaRPr lang="en-US" sz="900" dirty="0"/>
          </a:p>
        </p:txBody>
      </p:sp>
      <p:sp>
        <p:nvSpPr>
          <p:cNvPr id="6" name="Shape 4"/>
          <p:cNvSpPr/>
          <p:nvPr/>
        </p:nvSpPr>
        <p:spPr>
          <a:xfrm>
            <a:off x="6208776" y="114300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345936" y="123444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Rising costs to resolve self-insured general liability claims</a:t>
            </a:r>
            <a:endParaRPr lang="en-US" sz="1200" dirty="0"/>
          </a:p>
        </p:txBody>
      </p:sp>
      <p:sp>
        <p:nvSpPr>
          <p:cNvPr id="8" name="Text 6"/>
          <p:cNvSpPr/>
          <p:nvPr/>
        </p:nvSpPr>
        <p:spPr>
          <a:xfrm>
            <a:off x="6345936" y="156362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Increased operating expenses as a percentage of net sales.  |  Brief: Higher costs to resolve claims across retail and related industries negatively impacted operating expenses by approximately $0.9 billion in fiscal 2026.</a:t>
            </a:r>
            <a:endParaRPr lang="en-US" sz="900" dirty="0"/>
          </a:p>
        </p:txBody>
      </p:sp>
      <p:sp>
        <p:nvSpPr>
          <p:cNvPr id="9" name="Shape 7"/>
          <p:cNvSpPr/>
          <p:nvPr/>
        </p:nvSpPr>
        <p:spPr>
          <a:xfrm>
            <a:off x="457200" y="278892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94360" y="288036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Volatility in fuel prices</a:t>
            </a:r>
            <a:endParaRPr lang="en-US" sz="1200" dirty="0"/>
          </a:p>
        </p:txBody>
      </p:sp>
      <p:sp>
        <p:nvSpPr>
          <p:cNvPr id="11" name="Text 9"/>
          <p:cNvSpPr/>
          <p:nvPr/>
        </p:nvSpPr>
        <p:spPr>
          <a:xfrm>
            <a:off x="594360" y="320954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Negatively impacted comparable sales for Sam's Club U.S. and creates uncertainty for future operating results.  |  Brief: Fluctuations in fuel prices directly affect the comparable sales and operating results of the Sam's Club U.S. segment.</a:t>
            </a:r>
            <a:endParaRPr lang="en-US" sz="900" dirty="0"/>
          </a:p>
        </p:txBody>
      </p:sp>
      <p:sp>
        <p:nvSpPr>
          <p:cNvPr id="12" name="Shape 10"/>
          <p:cNvSpPr/>
          <p:nvPr/>
        </p:nvSpPr>
        <p:spPr>
          <a:xfrm>
            <a:off x="6208776" y="278892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345936" y="288036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Currency exchange rate fluctuations</a:t>
            </a:r>
            <a:endParaRPr lang="en-US" sz="1200" dirty="0"/>
          </a:p>
        </p:txBody>
      </p:sp>
      <p:sp>
        <p:nvSpPr>
          <p:cNvPr id="14" name="Text 12"/>
          <p:cNvSpPr/>
          <p:nvPr/>
        </p:nvSpPr>
        <p:spPr>
          <a:xfrm>
            <a:off x="6345936" y="320954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Negatively impacted net sales.  |  Brief: Fluctuations in currency exchange rates reduced net sales by $2.8 billion and $3.2 billion in fiscal 2026 and 2025, respectively.</a:t>
            </a:r>
            <a:endParaRPr lang="en-US" sz="900" dirty="0"/>
          </a:p>
        </p:txBody>
      </p:sp>
      <p:sp>
        <p:nvSpPr>
          <p:cNvPr id="15" name="Shape 13"/>
          <p:cNvSpPr/>
          <p:nvPr/>
        </p:nvSpPr>
        <p:spPr>
          <a:xfrm>
            <a:off x="457200" y="443484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594360" y="452628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Mix shifts into lower margin merchandise categories</a:t>
            </a:r>
            <a:endParaRPr lang="en-US" sz="1200" dirty="0"/>
          </a:p>
        </p:txBody>
      </p:sp>
      <p:sp>
        <p:nvSpPr>
          <p:cNvPr id="17" name="Text 15"/>
          <p:cNvSpPr/>
          <p:nvPr/>
        </p:nvSpPr>
        <p:spPr>
          <a:xfrm>
            <a:off x="594360" y="485546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Partially offset increases in gross profit rate.  |  Brief: Changes in the mix of merchandise sold toward lower-margin categories have acted as a headwind to gross profit rate improvements.</a:t>
            </a:r>
            <a:endParaRPr lang="en-US" sz="900" dirty="0"/>
          </a:p>
        </p:txBody>
      </p:sp>
      <p:sp>
        <p:nvSpPr>
          <p:cNvPr id="18" name="Shape 16"/>
          <p:cNvSpPr/>
          <p:nvPr/>
        </p:nvSpPr>
        <p:spPr>
          <a:xfrm>
            <a:off x="6208776" y="443484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9" name="Text 17"/>
          <p:cNvSpPr/>
          <p:nvPr/>
        </p:nvSpPr>
        <p:spPr>
          <a:xfrm>
            <a:off x="6345936" y="452628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E-commerce fulfillment costs</a:t>
            </a:r>
            <a:endParaRPr lang="en-US" sz="1200" dirty="0"/>
          </a:p>
        </p:txBody>
      </p:sp>
      <p:sp>
        <p:nvSpPr>
          <p:cNvPr id="20" name="Text 18"/>
          <p:cNvSpPr/>
          <p:nvPr/>
        </p:nvSpPr>
        <p:spPr>
          <a:xfrm>
            <a:off x="6345936" y="485546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Partially offset gross profit rate increases in the Sam's Club U.S. segment.  |  Brief: Higher costs associated with fulfilling e-commerce orders have pressured margins.</a:t>
            </a:r>
            <a:endParaRPr lang="en-US" sz="900" dirty="0"/>
          </a:p>
        </p:txBody>
      </p:sp>
      <p:sp>
        <p:nvSpPr>
          <p:cNvPr id="21" name="Text 19"/>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22" name="Text 20"/>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Market &amp; Technology</a:t>
            </a:r>
            <a:endParaRPr lang="en-US"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Latest News</a:t>
            </a:r>
            <a:endParaRPr lang="en-US" sz="2600" dirty="0"/>
          </a:p>
        </p:txBody>
      </p:sp>
      <p:sp>
        <p:nvSpPr>
          <p:cNvPr id="3" name="Shape 1"/>
          <p:cNvSpPr/>
          <p:nvPr/>
        </p:nvSpPr>
        <p:spPr>
          <a:xfrm>
            <a:off x="457200" y="1097280"/>
            <a:ext cx="11274552" cy="411480"/>
          </a:xfrm>
          <a:prstGeom prst="roundRect">
            <a:avLst>
              <a:gd name="adj" fmla="val 13333"/>
            </a:avLst>
          </a:prstGeom>
          <a:solidFill>
            <a:srgbClr val="1F2D50"/>
          </a:solidFill>
          <a:ln/>
        </p:spPr>
      </p:sp>
      <p:sp>
        <p:nvSpPr>
          <p:cNvPr id="4" name="Text 2"/>
          <p:cNvSpPr/>
          <p:nvPr/>
        </p:nvSpPr>
        <p:spPr>
          <a:xfrm>
            <a:off x="457200" y="1097280"/>
            <a:ext cx="11274552"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Products/Technology</a:t>
            </a:r>
            <a:endParaRPr lang="en-US" sz="1100" dirty="0"/>
          </a:p>
        </p:txBody>
      </p:sp>
      <p:sp>
        <p:nvSpPr>
          <p:cNvPr id="5" name="Shape 3"/>
          <p:cNvSpPr/>
          <p:nvPr/>
        </p:nvSpPr>
        <p:spPr>
          <a:xfrm>
            <a:off x="457200" y="1645920"/>
            <a:ext cx="11274552" cy="1067562"/>
          </a:xfrm>
          <a:prstGeom prst="roundRect">
            <a:avLst>
              <a:gd name="adj" fmla="val 513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6" name="Text 4"/>
          <p:cNvSpPr/>
          <p:nvPr/>
        </p:nvSpPr>
        <p:spPr>
          <a:xfrm>
            <a:off x="566928" y="1700784"/>
            <a:ext cx="11055096" cy="201168"/>
          </a:xfrm>
          <a:prstGeom prst="rect">
            <a:avLst/>
          </a:prstGeom>
          <a:noFill/>
          <a:ln/>
        </p:spPr>
        <p:txBody>
          <a:bodyPr wrap="square" rtlCol="0" anchor="ctr"/>
          <a:lstStyle/>
          <a:p>
            <a:pPr indent="0" marL="0">
              <a:buNone/>
            </a:pPr>
            <a:r>
              <a:rPr lang="en-US" sz="800" dirty="0">
                <a:solidFill>
                  <a:srgbClr val="5B6472"/>
                </a:solidFill>
                <a:latin typeface="Calibri" pitchFamily="34" charset="0"/>
                <a:ea typeface="Calibri" pitchFamily="34" charset="-122"/>
                <a:cs typeface="Calibri" pitchFamily="34" charset="-120"/>
              </a:rPr>
              <a:t>2026-08-19</a:t>
            </a:r>
            <a:endParaRPr lang="en-US" sz="800" dirty="0"/>
          </a:p>
        </p:txBody>
      </p:sp>
      <p:sp>
        <p:nvSpPr>
          <p:cNvPr id="7" name="Text 5"/>
          <p:cNvSpPr/>
          <p:nvPr/>
        </p:nvSpPr>
        <p:spPr>
          <a:xfrm>
            <a:off x="566928" y="1883664"/>
            <a:ext cx="11055096" cy="365760"/>
          </a:xfrm>
          <a:prstGeom prst="rect">
            <a:avLst/>
          </a:prstGeom>
          <a:noFill/>
          <a:ln/>
        </p:spPr>
        <p:txBody>
          <a:bodyPr wrap="square" rtlCol="0" anchor="t">
            <a:normAutofit/>
          </a:bodyPr>
          <a:lstStyle/>
          <a:p>
            <a:pPr indent="0" marL="0">
              <a:buNone/>
            </a:pPr>
            <a:r>
              <a:rPr lang="en-US" sz="950" b="1" dirty="0">
                <a:solidFill>
                  <a:srgbClr val="1F2D50"/>
                </a:solidFill>
                <a:latin typeface="Calibri" pitchFamily="34" charset="0"/>
                <a:ea typeface="Calibri" pitchFamily="34" charset="-122"/>
                <a:cs typeface="Calibri" pitchFamily="34" charset="-120"/>
              </a:rPr>
              <a:t>Walmart’s Grocery Lead Faces a Higher-Margin Test</a:t>
            </a:r>
            <a:endParaRPr lang="en-US" sz="950" dirty="0"/>
          </a:p>
        </p:txBody>
      </p:sp>
      <p:sp>
        <p:nvSpPr>
          <p:cNvPr id="8" name="Text 6"/>
          <p:cNvSpPr/>
          <p:nvPr/>
        </p:nvSpPr>
        <p:spPr>
          <a:xfrm>
            <a:off x="566928" y="2212848"/>
            <a:ext cx="11055096" cy="400050"/>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Walmart reports earnings Thursday (Aug. 20), and it enters with a valuable retail advantage that looks both powerful and underused. It captures the weekly grocery trip, yet Amazon increasingly captures what shoppers buy beyond it. The new PYMNTS Intelligence …</a:t>
            </a:r>
            <a:endParaRPr lang="en-US" sz="800" dirty="0"/>
          </a:p>
        </p:txBody>
      </p:sp>
      <p:sp>
        <p:nvSpPr>
          <p:cNvPr id="9" name="Text 7">
            <a:hlinkClick r:id="rId1" tooltip=""/>
          </p:cNvPr>
          <p:cNvSpPr/>
          <p:nvPr/>
        </p:nvSpPr>
        <p:spPr>
          <a:xfrm>
            <a:off x="566928" y="2567178"/>
            <a:ext cx="11055096" cy="182880"/>
          </a:xfrm>
          <a:prstGeom prst="rect">
            <a:avLst/>
          </a:prstGeom>
          <a:noFill/>
          <a:ln/>
        </p:spPr>
        <p:txBody>
          <a:bodyPr wrap="square" rtlCol="0" anchor="ctr"/>
          <a:lstStyle/>
          <a:p>
            <a:pPr indent="0" marL="0">
              <a:buNone/>
            </a:pPr>
            <a:r>
              <a:rPr lang="en-US" sz="750" u="sng" dirty="0">
                <a:solidFill>
                  <a:srgbClr val="2E6F9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more ↗</a:t>
            </a:r>
            <a:endParaRPr lang="en-US" sz="750" dirty="0"/>
          </a:p>
        </p:txBody>
      </p:sp>
      <p:sp>
        <p:nvSpPr>
          <p:cNvPr id="10" name="Shape 8"/>
          <p:cNvSpPr/>
          <p:nvPr/>
        </p:nvSpPr>
        <p:spPr>
          <a:xfrm>
            <a:off x="457200" y="2823210"/>
            <a:ext cx="11274552" cy="1067562"/>
          </a:xfrm>
          <a:prstGeom prst="roundRect">
            <a:avLst>
              <a:gd name="adj" fmla="val 513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1" name="Text 9"/>
          <p:cNvSpPr/>
          <p:nvPr/>
        </p:nvSpPr>
        <p:spPr>
          <a:xfrm>
            <a:off x="566928" y="2878074"/>
            <a:ext cx="11055096" cy="201168"/>
          </a:xfrm>
          <a:prstGeom prst="rect">
            <a:avLst/>
          </a:prstGeom>
          <a:noFill/>
          <a:ln/>
        </p:spPr>
        <p:txBody>
          <a:bodyPr wrap="square" rtlCol="0" anchor="ctr"/>
          <a:lstStyle/>
          <a:p>
            <a:pPr indent="0" marL="0">
              <a:buNone/>
            </a:pPr>
            <a:r>
              <a:rPr lang="en-US" sz="800" dirty="0">
                <a:solidFill>
                  <a:srgbClr val="5B6472"/>
                </a:solidFill>
                <a:latin typeface="Calibri" pitchFamily="34" charset="0"/>
                <a:ea typeface="Calibri" pitchFamily="34" charset="-122"/>
                <a:cs typeface="Calibri" pitchFamily="34" charset="-120"/>
              </a:rPr>
              <a:t>2026-08-19</a:t>
            </a:r>
            <a:endParaRPr lang="en-US" sz="800" dirty="0"/>
          </a:p>
        </p:txBody>
      </p:sp>
      <p:sp>
        <p:nvSpPr>
          <p:cNvPr id="12" name="Text 10"/>
          <p:cNvSpPr/>
          <p:nvPr/>
        </p:nvSpPr>
        <p:spPr>
          <a:xfrm>
            <a:off x="566928" y="3060954"/>
            <a:ext cx="11055096" cy="365760"/>
          </a:xfrm>
          <a:prstGeom prst="rect">
            <a:avLst/>
          </a:prstGeom>
          <a:noFill/>
          <a:ln/>
        </p:spPr>
        <p:txBody>
          <a:bodyPr wrap="square" rtlCol="0" anchor="t">
            <a:normAutofit/>
          </a:bodyPr>
          <a:lstStyle/>
          <a:p>
            <a:pPr indent="0" marL="0">
              <a:buNone/>
            </a:pPr>
            <a:r>
              <a:rPr lang="en-US" sz="950" b="1" dirty="0">
                <a:solidFill>
                  <a:srgbClr val="1F2D50"/>
                </a:solidFill>
                <a:latin typeface="Calibri" pitchFamily="34" charset="0"/>
                <a:ea typeface="Calibri" pitchFamily="34" charset="-122"/>
                <a:cs typeface="Calibri" pitchFamily="34" charset="-120"/>
              </a:rPr>
              <a:t>6-Pk 4-Oz Beyond Meat Beyond Burger Plant-Based Patties + $6.75 Walmart Cash $13.50 + Free Pickup</a:t>
            </a:r>
            <a:endParaRPr lang="en-US" sz="950" dirty="0"/>
          </a:p>
        </p:txBody>
      </p:sp>
      <p:sp>
        <p:nvSpPr>
          <p:cNvPr id="13" name="Text 11"/>
          <p:cNvSpPr/>
          <p:nvPr/>
        </p:nvSpPr>
        <p:spPr>
          <a:xfrm>
            <a:off x="566928" y="3390138"/>
            <a:ext cx="11055096" cy="400050"/>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Walmart has 6-Pack 4-Oz Beyond Meat Beyond Burger Plant-Based Patties (24-Oz Total)for $13.47 + Earn $6.75 in Walmart Cash when you select the box on the product page to claim the offer. Select free p</a:t>
            </a:r>
            <a:endParaRPr lang="en-US" sz="800" dirty="0"/>
          </a:p>
        </p:txBody>
      </p:sp>
      <p:sp>
        <p:nvSpPr>
          <p:cNvPr id="14" name="Text 12">
            <a:hlinkClick r:id="rId2" tooltip=""/>
          </p:cNvPr>
          <p:cNvSpPr/>
          <p:nvPr/>
        </p:nvSpPr>
        <p:spPr>
          <a:xfrm>
            <a:off x="566928" y="3744468"/>
            <a:ext cx="11055096" cy="182880"/>
          </a:xfrm>
          <a:prstGeom prst="rect">
            <a:avLst/>
          </a:prstGeom>
          <a:noFill/>
          <a:ln/>
        </p:spPr>
        <p:txBody>
          <a:bodyPr wrap="square" rtlCol="0" anchor="ctr"/>
          <a:lstStyle/>
          <a:p>
            <a:pPr indent="0" marL="0">
              <a:buNone/>
            </a:pPr>
            <a:r>
              <a:rPr lang="en-US" sz="750" u="sng" dirty="0">
                <a:solidFill>
                  <a:srgbClr val="2E6F9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Read more ↗</a:t>
            </a:r>
            <a:endParaRPr lang="en-US" sz="750" dirty="0"/>
          </a:p>
        </p:txBody>
      </p:sp>
      <p:sp>
        <p:nvSpPr>
          <p:cNvPr id="15" name="Shape 13"/>
          <p:cNvSpPr/>
          <p:nvPr/>
        </p:nvSpPr>
        <p:spPr>
          <a:xfrm>
            <a:off x="457200" y="4000500"/>
            <a:ext cx="11274552" cy="1067562"/>
          </a:xfrm>
          <a:prstGeom prst="roundRect">
            <a:avLst>
              <a:gd name="adj" fmla="val 513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566928" y="4055364"/>
            <a:ext cx="11055096" cy="201168"/>
          </a:xfrm>
          <a:prstGeom prst="rect">
            <a:avLst/>
          </a:prstGeom>
          <a:noFill/>
          <a:ln/>
        </p:spPr>
        <p:txBody>
          <a:bodyPr wrap="square" rtlCol="0" anchor="ctr"/>
          <a:lstStyle/>
          <a:p>
            <a:pPr indent="0" marL="0">
              <a:buNone/>
            </a:pPr>
            <a:r>
              <a:rPr lang="en-US" sz="800" dirty="0">
                <a:solidFill>
                  <a:srgbClr val="5B6472"/>
                </a:solidFill>
                <a:latin typeface="Calibri" pitchFamily="34" charset="0"/>
                <a:ea typeface="Calibri" pitchFamily="34" charset="-122"/>
                <a:cs typeface="Calibri" pitchFamily="34" charset="-120"/>
              </a:rPr>
              <a:t>2026-08-19</a:t>
            </a:r>
            <a:endParaRPr lang="en-US" sz="800" dirty="0"/>
          </a:p>
        </p:txBody>
      </p:sp>
      <p:sp>
        <p:nvSpPr>
          <p:cNvPr id="17" name="Text 15"/>
          <p:cNvSpPr/>
          <p:nvPr/>
        </p:nvSpPr>
        <p:spPr>
          <a:xfrm>
            <a:off x="566928" y="4238244"/>
            <a:ext cx="11055096" cy="365760"/>
          </a:xfrm>
          <a:prstGeom prst="rect">
            <a:avLst/>
          </a:prstGeom>
          <a:noFill/>
          <a:ln/>
        </p:spPr>
        <p:txBody>
          <a:bodyPr wrap="square" rtlCol="0" anchor="t">
            <a:normAutofit/>
          </a:bodyPr>
          <a:lstStyle/>
          <a:p>
            <a:pPr indent="0" marL="0">
              <a:buNone/>
            </a:pPr>
            <a:r>
              <a:rPr lang="en-US" sz="950" b="1" dirty="0">
                <a:solidFill>
                  <a:srgbClr val="1F2D50"/>
                </a:solidFill>
                <a:latin typeface="Calibri" pitchFamily="34" charset="0"/>
                <a:ea typeface="Calibri" pitchFamily="34" charset="-122"/>
                <a:cs typeface="Calibri" pitchFamily="34" charset="-120"/>
              </a:rPr>
              <a:t>Are dogs allowed in Walmart in California?</a:t>
            </a:r>
            <a:endParaRPr lang="en-US" sz="950" dirty="0"/>
          </a:p>
        </p:txBody>
      </p:sp>
      <p:sp>
        <p:nvSpPr>
          <p:cNvPr id="18" name="Text 16"/>
          <p:cNvSpPr/>
          <p:nvPr/>
        </p:nvSpPr>
        <p:spPr>
          <a:xfrm>
            <a:off x="566928" y="4567428"/>
            <a:ext cx="11055096" cy="400050"/>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Are Dogs Allowed in Walmart in California? Understanding California’s Pet Policies Generally, pets are not allowed in Walmart stores in California unless they are certified service animals assisting individuals with disabilities. This policy aligns with feder…</a:t>
            </a:r>
            <a:endParaRPr lang="en-US" sz="800" dirty="0"/>
          </a:p>
        </p:txBody>
      </p:sp>
      <p:sp>
        <p:nvSpPr>
          <p:cNvPr id="19" name="Text 17">
            <a:hlinkClick r:id="rId3" tooltip=""/>
          </p:cNvPr>
          <p:cNvSpPr/>
          <p:nvPr/>
        </p:nvSpPr>
        <p:spPr>
          <a:xfrm>
            <a:off x="566928" y="4921758"/>
            <a:ext cx="11055096" cy="182880"/>
          </a:xfrm>
          <a:prstGeom prst="rect">
            <a:avLst/>
          </a:prstGeom>
          <a:noFill/>
          <a:ln/>
        </p:spPr>
        <p:txBody>
          <a:bodyPr wrap="square" rtlCol="0" anchor="ctr"/>
          <a:lstStyle/>
          <a:p>
            <a:pPr indent="0" marL="0">
              <a:buNone/>
            </a:pPr>
            <a:r>
              <a:rPr lang="en-US" sz="750" u="sng" dirty="0">
                <a:solidFill>
                  <a:srgbClr val="2E6F9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Read more ↗</a:t>
            </a:r>
            <a:endParaRPr lang="en-US" sz="750" dirty="0"/>
          </a:p>
        </p:txBody>
      </p:sp>
      <p:sp>
        <p:nvSpPr>
          <p:cNvPr id="20" name="Shape 18"/>
          <p:cNvSpPr/>
          <p:nvPr/>
        </p:nvSpPr>
        <p:spPr>
          <a:xfrm>
            <a:off x="457200" y="5177790"/>
            <a:ext cx="11274552" cy="1067562"/>
          </a:xfrm>
          <a:prstGeom prst="roundRect">
            <a:avLst>
              <a:gd name="adj" fmla="val 513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1" name="Text 19"/>
          <p:cNvSpPr/>
          <p:nvPr/>
        </p:nvSpPr>
        <p:spPr>
          <a:xfrm>
            <a:off x="566928" y="5232654"/>
            <a:ext cx="11055096" cy="201168"/>
          </a:xfrm>
          <a:prstGeom prst="rect">
            <a:avLst/>
          </a:prstGeom>
          <a:noFill/>
          <a:ln/>
        </p:spPr>
        <p:txBody>
          <a:bodyPr wrap="square" rtlCol="0" anchor="ctr"/>
          <a:lstStyle/>
          <a:p>
            <a:pPr indent="0" marL="0">
              <a:buNone/>
            </a:pPr>
            <a:r>
              <a:rPr lang="en-US" sz="800" dirty="0">
                <a:solidFill>
                  <a:srgbClr val="5B6472"/>
                </a:solidFill>
                <a:latin typeface="Calibri" pitchFamily="34" charset="0"/>
                <a:ea typeface="Calibri" pitchFamily="34" charset="-122"/>
                <a:cs typeface="Calibri" pitchFamily="34" charset="-120"/>
              </a:rPr>
              <a:t>2026-08-19</a:t>
            </a:r>
            <a:endParaRPr lang="en-US" sz="800" dirty="0"/>
          </a:p>
        </p:txBody>
      </p:sp>
      <p:sp>
        <p:nvSpPr>
          <p:cNvPr id="22" name="Text 20"/>
          <p:cNvSpPr/>
          <p:nvPr/>
        </p:nvSpPr>
        <p:spPr>
          <a:xfrm>
            <a:off x="566928" y="5415534"/>
            <a:ext cx="11055096" cy="365760"/>
          </a:xfrm>
          <a:prstGeom prst="rect">
            <a:avLst/>
          </a:prstGeom>
          <a:noFill/>
          <a:ln/>
        </p:spPr>
        <p:txBody>
          <a:bodyPr wrap="square" rtlCol="0" anchor="t">
            <a:normAutofit/>
          </a:bodyPr>
          <a:lstStyle/>
          <a:p>
            <a:pPr indent="0" marL="0">
              <a:buNone/>
            </a:pPr>
            <a:r>
              <a:rPr lang="en-US" sz="950" b="1" dirty="0">
                <a:solidFill>
                  <a:srgbClr val="1F2D50"/>
                </a:solidFill>
                <a:latin typeface="Calibri" pitchFamily="34" charset="0"/>
                <a:ea typeface="Calibri" pitchFamily="34" charset="-122"/>
                <a:cs typeface="Calibri" pitchFamily="34" charset="-120"/>
              </a:rPr>
              <a:t>NASCAR Arcade Rush (Nintendo Switch) $11</a:t>
            </a:r>
            <a:endParaRPr lang="en-US" sz="950" dirty="0"/>
          </a:p>
        </p:txBody>
      </p:sp>
      <p:sp>
        <p:nvSpPr>
          <p:cNvPr id="23" name="Text 21"/>
          <p:cNvSpPr/>
          <p:nvPr/>
        </p:nvSpPr>
        <p:spPr>
          <a:xfrm>
            <a:off x="566928" y="5744718"/>
            <a:ext cx="11055096" cy="400050"/>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Amazon [amazon.com] has *NASCAR Arcade Rush (Nintendo Switch)* for *$11*. Shipping is free w/ Prime or on $35+. </a:t>
            </a:r>
            <a:endParaRPr lang="en-US" sz="800" dirty="0"/>
          </a:p>
          <a:p>
            <a:pPr indent="0" marL="0">
              <a:buNone/>
            </a:pPr>
            <a:r>
              <a:rPr lang="en-US" sz="800" dirty="0">
                <a:solidFill>
                  <a:srgbClr val="5B6472"/>
                </a:solidFill>
                <a:latin typeface="Calibri" pitchFamily="34" charset="0"/>
                <a:ea typeface="Calibri" pitchFamily="34" charset="-122"/>
                <a:cs typeface="Calibri" pitchFamily="34" charset="-120"/>
              </a:rPr>
              <a:t> </a:t>
            </a:r>
            <a:endParaRPr lang="en-US" sz="800" dirty="0"/>
          </a:p>
          <a:p>
            <a:pPr indent="0" marL="0">
              <a:buNone/>
            </a:pPr>
            <a:r>
              <a:rPr lang="en-US" sz="800" dirty="0">
                <a:solidFill>
                  <a:srgbClr val="5B6472"/>
                </a:solidFill>
                <a:latin typeface="Calibri" pitchFamily="34" charset="0"/>
                <a:ea typeface="Calibri" pitchFamily="34" charset="-122"/>
                <a:cs typeface="Calibri" pitchFamily="34" charset="-120"/>
              </a:rPr>
              <a:t>Walmart [walmart.com] has *NASCAR Arcade Rush (Nintendo Switch)* for *$11*. Shipping...</a:t>
            </a:r>
            <a:endParaRPr lang="en-US" sz="800" dirty="0"/>
          </a:p>
        </p:txBody>
      </p:sp>
      <p:sp>
        <p:nvSpPr>
          <p:cNvPr id="24" name="Text 22">
            <a:hlinkClick r:id="rId4" tooltip=""/>
          </p:cNvPr>
          <p:cNvSpPr/>
          <p:nvPr/>
        </p:nvSpPr>
        <p:spPr>
          <a:xfrm>
            <a:off x="566928" y="6099048"/>
            <a:ext cx="11055096" cy="182880"/>
          </a:xfrm>
          <a:prstGeom prst="rect">
            <a:avLst/>
          </a:prstGeom>
          <a:noFill/>
          <a:ln/>
        </p:spPr>
        <p:txBody>
          <a:bodyPr wrap="square" rtlCol="0" anchor="ctr"/>
          <a:lstStyle/>
          <a:p>
            <a:pPr indent="0" marL="0">
              <a:buNone/>
            </a:pPr>
            <a:r>
              <a:rPr lang="en-US" sz="750" u="sng" dirty="0">
                <a:solidFill>
                  <a:srgbClr val="2E6F9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Read more ↗</a:t>
            </a:r>
            <a:endParaRPr lang="en-US" sz="750" dirty="0"/>
          </a:p>
        </p:txBody>
      </p:sp>
      <p:sp>
        <p:nvSpPr>
          <p:cNvPr id="25" name="Text 2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26" name="Text 2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IT Spending</a:t>
            </a:r>
            <a:endParaRPr lang="en-US" sz="2600" dirty="0"/>
          </a:p>
        </p:txBody>
      </p:sp>
      <p:sp>
        <p:nvSpPr>
          <p:cNvPr id="3" name="Shape 1"/>
          <p:cNvSpPr/>
          <p:nvPr/>
        </p:nvSpPr>
        <p:spPr>
          <a:xfrm>
            <a:off x="457200" y="1143000"/>
            <a:ext cx="11274552" cy="5166360"/>
          </a:xfrm>
          <a:prstGeom prst="roundRect">
            <a:avLst>
              <a:gd name="adj" fmla="val 106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731520" y="1280160"/>
            <a:ext cx="10725912" cy="4937760"/>
          </a:xfrm>
          <a:prstGeom prst="rect">
            <a:avLst/>
          </a:prstGeom>
          <a:noFill/>
          <a:ln/>
        </p:spPr>
        <p:txBody>
          <a:bodyPr wrap="square" rtlCol="0" anchor="ctr">
            <a:normAutofit/>
          </a:bodyPr>
          <a:lstStyle/>
          <a:p>
            <a:pPr indent="0" marL="0">
              <a:buNone/>
            </a:pPr>
            <a:r>
              <a:rPr lang="en-US" sz="1300" dirty="0">
                <a:solidFill>
                  <a:srgbClr val="13192E"/>
                </a:solidFill>
                <a:latin typeface="Calibri" pitchFamily="34" charset="0"/>
                <a:ea typeface="Calibri" pitchFamily="34" charset="-122"/>
                <a:cs typeface="Calibri" pitchFamily="34" charset="-120"/>
              </a:rPr>
              <a:t>Walmart invests in technology and process improvements to increase productivity, manage inventory, and reduce costs, including significant capital allocation toward automation, eCommerce, supply chain, and store/club technology investments.</a:t>
            </a:r>
            <a:endParaRPr lang="en-US" sz="1300" dirty="0"/>
          </a:p>
        </p:txBody>
      </p:sp>
      <p:sp>
        <p:nvSpPr>
          <p:cNvPr id="5" name="Text 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6" name="Text 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Technology Initiatives</a:t>
            </a:r>
            <a:endParaRPr lang="en-US" sz="2600" dirty="0"/>
          </a:p>
        </p:txBody>
      </p:sp>
      <p:sp>
        <p:nvSpPr>
          <p:cNvPr id="3" name="Shape 1"/>
          <p:cNvSpPr/>
          <p:nvPr/>
        </p:nvSpPr>
        <p:spPr>
          <a:xfrm>
            <a:off x="457200" y="1143000"/>
            <a:ext cx="5522976" cy="1371600"/>
          </a:xfrm>
          <a:prstGeom prst="roundRect">
            <a:avLst>
              <a:gd name="adj" fmla="val 4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16152"/>
            <a:ext cx="5248656" cy="228600"/>
          </a:xfrm>
          <a:prstGeom prst="rect">
            <a:avLst/>
          </a:prstGeom>
          <a:noFill/>
          <a:ln/>
        </p:spPr>
        <p:txBody>
          <a:bodyPr wrap="square" rtlCol="0" anchor="ctr"/>
          <a:lstStyle/>
          <a:p>
            <a:pPr indent="0" marL="0">
              <a:buNone/>
            </a:pPr>
            <a:r>
              <a:rPr lang="en-US" sz="850" b="1" dirty="0">
                <a:solidFill>
                  <a:srgbClr val="2E6F9E"/>
                </a:solidFill>
                <a:latin typeface="Calibri" pitchFamily="34" charset="0"/>
                <a:ea typeface="Calibri" pitchFamily="34" charset="-122"/>
                <a:cs typeface="Calibri" pitchFamily="34" charset="-120"/>
              </a:rPr>
              <a:t>1996</a:t>
            </a:r>
            <a:endParaRPr lang="en-US" sz="850" dirty="0"/>
          </a:p>
        </p:txBody>
      </p:sp>
      <p:sp>
        <p:nvSpPr>
          <p:cNvPr id="5" name="Text 3"/>
          <p:cNvSpPr/>
          <p:nvPr/>
        </p:nvSpPr>
        <p:spPr>
          <a:xfrm>
            <a:off x="594360" y="1435608"/>
            <a:ext cx="524865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eCommerce initiative</a:t>
            </a:r>
            <a:endParaRPr lang="en-US" sz="1150" dirty="0"/>
          </a:p>
        </p:txBody>
      </p:sp>
      <p:sp>
        <p:nvSpPr>
          <p:cNvPr id="6" name="Text 4"/>
          <p:cNvSpPr/>
          <p:nvPr/>
        </p:nvSpPr>
        <p:spPr>
          <a:xfrm>
            <a:off x="594360" y="1764792"/>
            <a:ext cx="5248656" cy="6400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Creation of walmart.com and samsclub.com.</a:t>
            </a:r>
            <a:endParaRPr lang="en-US" sz="900" dirty="0"/>
          </a:p>
        </p:txBody>
      </p:sp>
      <p:sp>
        <p:nvSpPr>
          <p:cNvPr id="7" name="Shape 5"/>
          <p:cNvSpPr/>
          <p:nvPr/>
        </p:nvSpPr>
        <p:spPr>
          <a:xfrm>
            <a:off x="6208776" y="1143000"/>
            <a:ext cx="5522976" cy="1371600"/>
          </a:xfrm>
          <a:prstGeom prst="roundRect">
            <a:avLst>
              <a:gd name="adj" fmla="val 4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Text 6"/>
          <p:cNvSpPr/>
          <p:nvPr/>
        </p:nvSpPr>
        <p:spPr>
          <a:xfrm>
            <a:off x="6345936" y="1216152"/>
            <a:ext cx="5248656" cy="228600"/>
          </a:xfrm>
          <a:prstGeom prst="rect">
            <a:avLst/>
          </a:prstGeom>
          <a:noFill/>
          <a:ln/>
        </p:spPr>
        <p:txBody>
          <a:bodyPr wrap="square" rtlCol="0" anchor="ctr"/>
          <a:lstStyle/>
          <a:p>
            <a:pPr indent="0" marL="0">
              <a:buNone/>
            </a:pPr>
            <a:r>
              <a:rPr lang="en-US" sz="850" b="1" dirty="0">
                <a:solidFill>
                  <a:srgbClr val="2E6F9E"/>
                </a:solidFill>
                <a:latin typeface="Calibri" pitchFamily="34" charset="0"/>
                <a:ea typeface="Calibri" pitchFamily="34" charset="-122"/>
                <a:cs typeface="Calibri" pitchFamily="34" charset="-120"/>
              </a:rPr>
              <a:t>2007</a:t>
            </a:r>
            <a:endParaRPr lang="en-US" sz="850" dirty="0"/>
          </a:p>
        </p:txBody>
      </p:sp>
      <p:sp>
        <p:nvSpPr>
          <p:cNvPr id="9" name="Text 7"/>
          <p:cNvSpPr/>
          <p:nvPr/>
        </p:nvSpPr>
        <p:spPr>
          <a:xfrm>
            <a:off x="6345936" y="1435608"/>
            <a:ext cx="524865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Site-to-Store service</a:t>
            </a:r>
            <a:endParaRPr lang="en-US" sz="1150" dirty="0"/>
          </a:p>
        </p:txBody>
      </p:sp>
      <p:sp>
        <p:nvSpPr>
          <p:cNvPr id="10" name="Text 8"/>
          <p:cNvSpPr/>
          <p:nvPr/>
        </p:nvSpPr>
        <p:spPr>
          <a:xfrm>
            <a:off x="6345936" y="1764792"/>
            <a:ext cx="5248656" cy="6400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Launched by walmart.com to enable customers to make a purchase online and pick up merchandise in stores.</a:t>
            </a:r>
            <a:endParaRPr lang="en-US" sz="900" dirty="0"/>
          </a:p>
        </p:txBody>
      </p:sp>
      <p:sp>
        <p:nvSpPr>
          <p:cNvPr id="11" name="Shape 9"/>
          <p:cNvSpPr/>
          <p:nvPr/>
        </p:nvSpPr>
        <p:spPr>
          <a:xfrm>
            <a:off x="457200" y="2697480"/>
            <a:ext cx="5522976" cy="1371600"/>
          </a:xfrm>
          <a:prstGeom prst="roundRect">
            <a:avLst>
              <a:gd name="adj" fmla="val 4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Text 10"/>
          <p:cNvSpPr/>
          <p:nvPr/>
        </p:nvSpPr>
        <p:spPr>
          <a:xfrm>
            <a:off x="594360" y="2770632"/>
            <a:ext cx="5248656" cy="228600"/>
          </a:xfrm>
          <a:prstGeom prst="rect">
            <a:avLst/>
          </a:prstGeom>
          <a:noFill/>
          <a:ln/>
        </p:spPr>
        <p:txBody>
          <a:bodyPr wrap="square" rtlCol="0" anchor="ctr"/>
          <a:lstStyle/>
          <a:p>
            <a:pPr indent="0" marL="0">
              <a:buNone/>
            </a:pPr>
            <a:r>
              <a:rPr lang="en-US" sz="850" b="1" dirty="0">
                <a:solidFill>
                  <a:srgbClr val="2E6F9E"/>
                </a:solidFill>
                <a:latin typeface="Calibri" pitchFamily="34" charset="0"/>
                <a:ea typeface="Calibri" pitchFamily="34" charset="-122"/>
                <a:cs typeface="Calibri" pitchFamily="34" charset="-120"/>
              </a:rPr>
              <a:t>2018</a:t>
            </a:r>
            <a:endParaRPr lang="en-US" sz="850" dirty="0"/>
          </a:p>
        </p:txBody>
      </p:sp>
      <p:sp>
        <p:nvSpPr>
          <p:cNvPr id="13" name="Text 11"/>
          <p:cNvSpPr/>
          <p:nvPr/>
        </p:nvSpPr>
        <p:spPr>
          <a:xfrm>
            <a:off x="594360" y="2990088"/>
            <a:ext cx="524865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eCommerce and digital expansion</a:t>
            </a:r>
            <a:endParaRPr lang="en-US" sz="1150" dirty="0"/>
          </a:p>
        </p:txBody>
      </p:sp>
      <p:sp>
        <p:nvSpPr>
          <p:cNvPr id="14" name="Text 12"/>
          <p:cNvSpPr/>
          <p:nvPr/>
        </p:nvSpPr>
        <p:spPr>
          <a:xfrm>
            <a:off x="594360" y="3319272"/>
            <a:ext cx="5248656" cy="6400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Acquisition of majority stakes in Flipkart and PhonePe in India.</a:t>
            </a:r>
            <a:endParaRPr lang="en-US" sz="90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Technologies in Use</a:t>
            </a:r>
            <a:endParaRPr lang="en-US" sz="2600" dirty="0"/>
          </a:p>
        </p:txBody>
      </p:sp>
      <p:sp>
        <p:nvSpPr>
          <p:cNvPr id="3" name="Shape 1"/>
          <p:cNvSpPr/>
          <p:nvPr/>
        </p:nvSpPr>
        <p:spPr>
          <a:xfrm>
            <a:off x="457200"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AI</a:t>
            </a:r>
            <a:endParaRPr lang="en-US" sz="1100" dirty="0"/>
          </a:p>
        </p:txBody>
      </p:sp>
      <p:sp>
        <p:nvSpPr>
          <p:cNvPr id="5" name="Text 3"/>
          <p:cNvSpPr/>
          <p:nvPr/>
        </p:nvSpPr>
        <p:spPr>
          <a:xfrm>
            <a:off x="566928"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Advanced Technologies</a:t>
            </a:r>
            <a:endParaRPr lang="en-US" sz="800" dirty="0"/>
          </a:p>
        </p:txBody>
      </p:sp>
      <p:sp>
        <p:nvSpPr>
          <p:cNvPr id="6" name="Text 4"/>
          <p:cNvSpPr/>
          <p:nvPr/>
        </p:nvSpPr>
        <p:spPr>
          <a:xfrm>
            <a:off x="566928"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Used to support customer and member-facing experiences, associate productivity, and operational efficiency across the ecosystem.</a:t>
            </a:r>
            <a:endParaRPr lang="en-US" sz="800" dirty="0"/>
          </a:p>
        </p:txBody>
      </p:sp>
      <p:sp>
        <p:nvSpPr>
          <p:cNvPr id="7" name="Shape 5"/>
          <p:cNvSpPr/>
          <p:nvPr/>
        </p:nvSpPr>
        <p:spPr>
          <a:xfrm>
            <a:off x="4276344"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Text 6"/>
          <p:cNvSpPr/>
          <p:nvPr/>
        </p:nvSpPr>
        <p:spPr>
          <a:xfrm>
            <a:off x="4386072"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Mobile Scan &amp; Go</a:t>
            </a:r>
            <a:endParaRPr lang="en-US" sz="1100" dirty="0"/>
          </a:p>
        </p:txBody>
      </p:sp>
      <p:sp>
        <p:nvSpPr>
          <p:cNvPr id="9" name="Text 7"/>
          <p:cNvSpPr/>
          <p:nvPr/>
        </p:nvSpPr>
        <p:spPr>
          <a:xfrm>
            <a:off x="4386072"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Checkout and Payment</a:t>
            </a:r>
            <a:endParaRPr lang="en-US" sz="800" dirty="0"/>
          </a:p>
        </p:txBody>
      </p:sp>
      <p:sp>
        <p:nvSpPr>
          <p:cNvPr id="10" name="Text 8"/>
          <p:cNvSpPr/>
          <p:nvPr/>
        </p:nvSpPr>
        <p:spPr>
          <a:xfrm>
            <a:off x="4386072"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mobile checkout and payment solution that allows members to bypass the checkout line.</a:t>
            </a:r>
            <a:endParaRPr lang="en-US" sz="800" dirty="0"/>
          </a:p>
        </p:txBody>
      </p:sp>
      <p:sp>
        <p:nvSpPr>
          <p:cNvPr id="11" name="Shape 9"/>
          <p:cNvSpPr/>
          <p:nvPr/>
        </p:nvSpPr>
        <p:spPr>
          <a:xfrm>
            <a:off x="8095488"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Text 10"/>
          <p:cNvSpPr/>
          <p:nvPr/>
        </p:nvSpPr>
        <p:spPr>
          <a:xfrm>
            <a:off x="8205216"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Just Go</a:t>
            </a:r>
            <a:endParaRPr lang="en-US" sz="1100" dirty="0"/>
          </a:p>
        </p:txBody>
      </p:sp>
      <p:sp>
        <p:nvSpPr>
          <p:cNvPr id="13" name="Text 11"/>
          <p:cNvSpPr/>
          <p:nvPr/>
        </p:nvSpPr>
        <p:spPr>
          <a:xfrm>
            <a:off x="8205216"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Checkout and Payment</a:t>
            </a:r>
            <a:endParaRPr lang="en-US" sz="800" dirty="0"/>
          </a:p>
        </p:txBody>
      </p:sp>
      <p:sp>
        <p:nvSpPr>
          <p:cNvPr id="14" name="Text 12"/>
          <p:cNvSpPr/>
          <p:nvPr/>
        </p:nvSpPr>
        <p:spPr>
          <a:xfrm>
            <a:off x="8205216"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friction-free exit experience for members.</a:t>
            </a:r>
            <a:endParaRPr lang="en-US" sz="800" dirty="0"/>
          </a:p>
        </p:txBody>
      </p:sp>
      <p:sp>
        <p:nvSpPr>
          <p:cNvPr id="15" name="Shape 13"/>
          <p:cNvSpPr/>
          <p:nvPr/>
        </p:nvSpPr>
        <p:spPr>
          <a:xfrm>
            <a:off x="457200" y="2286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566928" y="2359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eCommerce websites</a:t>
            </a:r>
            <a:endParaRPr lang="en-US" sz="1100" dirty="0"/>
          </a:p>
        </p:txBody>
      </p:sp>
      <p:sp>
        <p:nvSpPr>
          <p:cNvPr id="17" name="Text 15"/>
          <p:cNvSpPr/>
          <p:nvPr/>
        </p:nvSpPr>
        <p:spPr>
          <a:xfrm>
            <a:off x="566928" y="2615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Digital Platforms</a:t>
            </a:r>
            <a:endParaRPr lang="en-US" sz="800" dirty="0"/>
          </a:p>
        </p:txBody>
      </p:sp>
      <p:sp>
        <p:nvSpPr>
          <p:cNvPr id="18" name="Text 16"/>
          <p:cNvSpPr/>
          <p:nvPr/>
        </p:nvSpPr>
        <p:spPr>
          <a:xfrm>
            <a:off x="566928" y="2816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Platforms including walmart.com, samsclub.com, walmart.com.mx, walmart.ca, flipkart.com, and samclub.cn used for online retail.</a:t>
            </a:r>
            <a:endParaRPr lang="en-US" sz="800" dirty="0"/>
          </a:p>
        </p:txBody>
      </p:sp>
      <p:sp>
        <p:nvSpPr>
          <p:cNvPr id="19" name="Shape 17"/>
          <p:cNvSpPr/>
          <p:nvPr/>
        </p:nvSpPr>
        <p:spPr>
          <a:xfrm>
            <a:off x="4276344" y="2286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0" name="Text 18"/>
          <p:cNvSpPr/>
          <p:nvPr/>
        </p:nvSpPr>
        <p:spPr>
          <a:xfrm>
            <a:off x="4386072" y="2359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Mobile applications</a:t>
            </a:r>
            <a:endParaRPr lang="en-US" sz="1100" dirty="0"/>
          </a:p>
        </p:txBody>
      </p:sp>
      <p:sp>
        <p:nvSpPr>
          <p:cNvPr id="21" name="Text 19"/>
          <p:cNvSpPr/>
          <p:nvPr/>
        </p:nvSpPr>
        <p:spPr>
          <a:xfrm>
            <a:off x="4386072" y="2615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Digital Platforms</a:t>
            </a:r>
            <a:endParaRPr lang="en-US" sz="800" dirty="0"/>
          </a:p>
        </p:txBody>
      </p:sp>
      <p:sp>
        <p:nvSpPr>
          <p:cNvPr id="22" name="Text 20"/>
          <p:cNvSpPr/>
          <p:nvPr/>
        </p:nvSpPr>
        <p:spPr>
          <a:xfrm>
            <a:off x="4386072" y="2816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Applications used to facilitate omnichannel shopping and service access.</a:t>
            </a:r>
            <a:endParaRPr lang="en-US" sz="800" dirty="0"/>
          </a:p>
        </p:txBody>
      </p:sp>
      <p:sp>
        <p:nvSpPr>
          <p:cNvPr id="23" name="Shape 21"/>
          <p:cNvSpPr/>
          <p:nvPr/>
        </p:nvSpPr>
        <p:spPr>
          <a:xfrm>
            <a:off x="8095488" y="2286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4" name="Text 22"/>
          <p:cNvSpPr/>
          <p:nvPr/>
        </p:nvSpPr>
        <p:spPr>
          <a:xfrm>
            <a:off x="8205216" y="2359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Supply chain automation</a:t>
            </a:r>
            <a:endParaRPr lang="en-US" sz="1100" dirty="0"/>
          </a:p>
        </p:txBody>
      </p:sp>
      <p:sp>
        <p:nvSpPr>
          <p:cNvPr id="25" name="Text 23"/>
          <p:cNvSpPr/>
          <p:nvPr/>
        </p:nvSpPr>
        <p:spPr>
          <a:xfrm>
            <a:off x="8205216" y="2615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Logistics</a:t>
            </a:r>
            <a:endParaRPr lang="en-US" sz="800" dirty="0"/>
          </a:p>
        </p:txBody>
      </p:sp>
      <p:sp>
        <p:nvSpPr>
          <p:cNvPr id="26" name="Text 24"/>
          <p:cNvSpPr/>
          <p:nvPr/>
        </p:nvSpPr>
        <p:spPr>
          <a:xfrm>
            <a:off x="8205216" y="2816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Investments in automation to improve fulfillment and delivery capabilities.</a:t>
            </a:r>
            <a:endParaRPr lang="en-US" sz="800" dirty="0"/>
          </a:p>
        </p:txBody>
      </p:sp>
      <p:sp>
        <p:nvSpPr>
          <p:cNvPr id="27" name="Text 25"/>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28" name="Text 26"/>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Industry Outlook</a:t>
            </a:r>
            <a:endParaRPr lang="en-US"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Industry Indicators</a:t>
            </a:r>
            <a:endParaRPr lang="en-US" sz="2600" dirty="0"/>
          </a:p>
        </p:txBody>
      </p:sp>
      <p:sp>
        <p:nvSpPr>
          <p:cNvPr id="3" name="Text 1"/>
          <p:cNvSpPr/>
          <p:nvPr/>
        </p:nvSpPr>
        <p:spPr>
          <a:xfrm>
            <a:off x="457200" y="1188720"/>
            <a:ext cx="2743200" cy="320040"/>
          </a:xfrm>
          <a:prstGeom prst="rect">
            <a:avLst/>
          </a:prstGeom>
          <a:noFill/>
          <a:ln/>
        </p:spPr>
        <p:txBody>
          <a:bodyPr wrap="square" rtlCol="0" anchor="ctr"/>
          <a:lstStyle/>
          <a:p>
            <a:pPr indent="0" marL="0">
              <a:buNone/>
            </a:pPr>
            <a:r>
              <a:rPr lang="en-US" sz="1200" b="1" dirty="0">
                <a:solidFill>
                  <a:srgbClr val="1F2D50"/>
                </a:solidFill>
                <a:latin typeface="Calibri" pitchFamily="34" charset="0"/>
                <a:ea typeface="Calibri" pitchFamily="34" charset="-122"/>
                <a:cs typeface="Calibri" pitchFamily="34" charset="-120"/>
              </a:rPr>
              <a:t>Growth Rating</a:t>
            </a:r>
            <a:endParaRPr lang="en-US" sz="1200" dirty="0"/>
          </a:p>
        </p:txBody>
      </p:sp>
      <p:sp>
        <p:nvSpPr>
          <p:cNvPr id="4" name="Shape 2"/>
          <p:cNvSpPr/>
          <p:nvPr/>
        </p:nvSpPr>
        <p:spPr>
          <a:xfrm>
            <a:off x="457200" y="1600200"/>
            <a:ext cx="1645920" cy="548640"/>
          </a:xfrm>
          <a:prstGeom prst="roundRect">
            <a:avLst>
              <a:gd name="adj" fmla="val 13333"/>
            </a:avLst>
          </a:prstGeom>
          <a:solidFill>
            <a:srgbClr val="F4F6F9"/>
          </a:solidFill>
          <a:ln w="12700">
            <a:solidFill>
              <a:srgbClr val="E3E7EE"/>
            </a:solidFill>
            <a:prstDash val="solid"/>
          </a:ln>
        </p:spPr>
      </p:sp>
      <p:sp>
        <p:nvSpPr>
          <p:cNvPr id="5" name="Text 3"/>
          <p:cNvSpPr/>
          <p:nvPr/>
        </p:nvSpPr>
        <p:spPr>
          <a:xfrm>
            <a:off x="457200" y="1600200"/>
            <a:ext cx="1645920" cy="548640"/>
          </a:xfrm>
          <a:prstGeom prst="rect">
            <a:avLst/>
          </a:prstGeom>
          <a:noFill/>
          <a:ln/>
        </p:spPr>
        <p:txBody>
          <a:bodyPr wrap="square"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Low</a:t>
            </a:r>
            <a:endParaRPr lang="en-US" sz="1100" dirty="0"/>
          </a:p>
        </p:txBody>
      </p:sp>
      <p:sp>
        <p:nvSpPr>
          <p:cNvPr id="6" name="Shape 4"/>
          <p:cNvSpPr/>
          <p:nvPr/>
        </p:nvSpPr>
        <p:spPr>
          <a:xfrm>
            <a:off x="2286000" y="1600200"/>
            <a:ext cx="1645920" cy="548640"/>
          </a:xfrm>
          <a:prstGeom prst="roundRect">
            <a:avLst>
              <a:gd name="adj" fmla="val 13333"/>
            </a:avLst>
          </a:prstGeom>
          <a:solidFill>
            <a:srgbClr val="2E6F9E"/>
          </a:solidFill>
          <a:ln w="12700">
            <a:solidFill>
              <a:srgbClr val="E3E7EE"/>
            </a:solidFill>
            <a:prstDash val="solid"/>
          </a:ln>
        </p:spPr>
      </p:sp>
      <p:sp>
        <p:nvSpPr>
          <p:cNvPr id="7" name="Text 5"/>
          <p:cNvSpPr/>
          <p:nvPr/>
        </p:nvSpPr>
        <p:spPr>
          <a:xfrm>
            <a:off x="2286000" y="1600200"/>
            <a:ext cx="164592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Medium</a:t>
            </a:r>
            <a:endParaRPr lang="en-US" sz="1100" dirty="0"/>
          </a:p>
        </p:txBody>
      </p:sp>
      <p:sp>
        <p:nvSpPr>
          <p:cNvPr id="8" name="Shape 6"/>
          <p:cNvSpPr/>
          <p:nvPr/>
        </p:nvSpPr>
        <p:spPr>
          <a:xfrm>
            <a:off x="4114800" y="1600200"/>
            <a:ext cx="1645920" cy="548640"/>
          </a:xfrm>
          <a:prstGeom prst="roundRect">
            <a:avLst>
              <a:gd name="adj" fmla="val 13333"/>
            </a:avLst>
          </a:prstGeom>
          <a:solidFill>
            <a:srgbClr val="F4F6F9"/>
          </a:solidFill>
          <a:ln w="12700">
            <a:solidFill>
              <a:srgbClr val="E3E7EE"/>
            </a:solidFill>
            <a:prstDash val="solid"/>
          </a:ln>
        </p:spPr>
      </p:sp>
      <p:sp>
        <p:nvSpPr>
          <p:cNvPr id="9" name="Text 7"/>
          <p:cNvSpPr/>
          <p:nvPr/>
        </p:nvSpPr>
        <p:spPr>
          <a:xfrm>
            <a:off x="4114800" y="1600200"/>
            <a:ext cx="1645920" cy="548640"/>
          </a:xfrm>
          <a:prstGeom prst="rect">
            <a:avLst/>
          </a:prstGeom>
          <a:noFill/>
          <a:ln/>
        </p:spPr>
        <p:txBody>
          <a:bodyPr wrap="square"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High</a:t>
            </a:r>
            <a:endParaRPr lang="en-US" sz="1100" dirty="0"/>
          </a:p>
        </p:txBody>
      </p:sp>
      <p:sp>
        <p:nvSpPr>
          <p:cNvPr id="10" name="Shape 8"/>
          <p:cNvSpPr/>
          <p:nvPr/>
        </p:nvSpPr>
        <p:spPr>
          <a:xfrm>
            <a:off x="457200" y="251460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1" name="Text 9"/>
          <p:cNvSpPr/>
          <p:nvPr/>
        </p:nvSpPr>
        <p:spPr>
          <a:xfrm>
            <a:off x="640080" y="251460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Demand Trend</a:t>
            </a:r>
            <a:endParaRPr lang="en-US" sz="1100" dirty="0"/>
          </a:p>
        </p:txBody>
      </p:sp>
      <p:sp>
        <p:nvSpPr>
          <p:cNvPr id="12" name="Text 10"/>
          <p:cNvSpPr/>
          <p:nvPr/>
        </p:nvSpPr>
        <p:spPr>
          <a:xfrm>
            <a:off x="3931920" y="251460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stable</a:t>
            </a:r>
            <a:endParaRPr lang="en-US" sz="1100" dirty="0"/>
          </a:p>
        </p:txBody>
      </p:sp>
      <p:sp>
        <p:nvSpPr>
          <p:cNvPr id="13" name="Shape 11"/>
          <p:cNvSpPr/>
          <p:nvPr/>
        </p:nvSpPr>
        <p:spPr>
          <a:xfrm>
            <a:off x="457200" y="310896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4" name="Text 12"/>
          <p:cNvSpPr/>
          <p:nvPr/>
        </p:nvSpPr>
        <p:spPr>
          <a:xfrm>
            <a:off x="640080" y="310896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Technology Adoption</a:t>
            </a:r>
            <a:endParaRPr lang="en-US" sz="1100" dirty="0"/>
          </a:p>
        </p:txBody>
      </p:sp>
      <p:sp>
        <p:nvSpPr>
          <p:cNvPr id="15" name="Text 13"/>
          <p:cNvSpPr/>
          <p:nvPr/>
        </p:nvSpPr>
        <p:spPr>
          <a:xfrm>
            <a:off x="3931920" y="310896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high</a:t>
            </a:r>
            <a:endParaRPr lang="en-US" sz="1100" dirty="0"/>
          </a:p>
        </p:txBody>
      </p:sp>
      <p:sp>
        <p:nvSpPr>
          <p:cNvPr id="16" name="Shape 14"/>
          <p:cNvSpPr/>
          <p:nvPr/>
        </p:nvSpPr>
        <p:spPr>
          <a:xfrm>
            <a:off x="457200" y="370332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7" name="Text 15"/>
          <p:cNvSpPr/>
          <p:nvPr/>
        </p:nvSpPr>
        <p:spPr>
          <a:xfrm>
            <a:off x="640080" y="370332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Spending Trend</a:t>
            </a:r>
            <a:endParaRPr lang="en-US" sz="1100" dirty="0"/>
          </a:p>
        </p:txBody>
      </p:sp>
      <p:sp>
        <p:nvSpPr>
          <p:cNvPr id="18" name="Text 16"/>
          <p:cNvSpPr/>
          <p:nvPr/>
        </p:nvSpPr>
        <p:spPr>
          <a:xfrm>
            <a:off x="3931920" y="370332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cautious</a:t>
            </a:r>
            <a:endParaRPr lang="en-US" sz="1100" dirty="0"/>
          </a:p>
        </p:txBody>
      </p:sp>
      <p:sp>
        <p:nvSpPr>
          <p:cNvPr id="19" name="Shape 17"/>
          <p:cNvSpPr/>
          <p:nvPr/>
        </p:nvSpPr>
        <p:spPr>
          <a:xfrm>
            <a:off x="457200" y="429768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0" name="Text 18"/>
          <p:cNvSpPr/>
          <p:nvPr/>
        </p:nvSpPr>
        <p:spPr>
          <a:xfrm>
            <a:off x="640080" y="429768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Regulatory Environment</a:t>
            </a:r>
            <a:endParaRPr lang="en-US" sz="1100" dirty="0"/>
          </a:p>
        </p:txBody>
      </p:sp>
      <p:sp>
        <p:nvSpPr>
          <p:cNvPr id="21" name="Text 19"/>
          <p:cNvSpPr/>
          <p:nvPr/>
        </p:nvSpPr>
        <p:spPr>
          <a:xfrm>
            <a:off x="3931920" y="429768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complex</a:t>
            </a:r>
            <a:endParaRPr lang="en-US" sz="1100" dirty="0"/>
          </a:p>
        </p:txBody>
      </p:sp>
      <p:sp>
        <p:nvSpPr>
          <p:cNvPr id="22" name="Shape 20"/>
          <p:cNvSpPr/>
          <p:nvPr/>
        </p:nvSpPr>
        <p:spPr>
          <a:xfrm>
            <a:off x="457200" y="489204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3" name="Text 21"/>
          <p:cNvSpPr/>
          <p:nvPr/>
        </p:nvSpPr>
        <p:spPr>
          <a:xfrm>
            <a:off x="640080" y="489204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Competitive Intensity</a:t>
            </a:r>
            <a:endParaRPr lang="en-US" sz="1100" dirty="0"/>
          </a:p>
        </p:txBody>
      </p:sp>
      <p:sp>
        <p:nvSpPr>
          <p:cNvPr id="24" name="Text 22"/>
          <p:cNvSpPr/>
          <p:nvPr/>
        </p:nvSpPr>
        <p:spPr>
          <a:xfrm>
            <a:off x="3931920" y="489204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very high</a:t>
            </a:r>
            <a:endParaRPr lang="en-US" sz="1100" dirty="0"/>
          </a:p>
        </p:txBody>
      </p:sp>
      <p:sp>
        <p:nvSpPr>
          <p:cNvPr id="25" name="Shape 23"/>
          <p:cNvSpPr/>
          <p:nvPr/>
        </p:nvSpPr>
        <p:spPr>
          <a:xfrm>
            <a:off x="457200" y="548640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6" name="Text 24"/>
          <p:cNvSpPr/>
          <p:nvPr/>
        </p:nvSpPr>
        <p:spPr>
          <a:xfrm>
            <a:off x="640080" y="548640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Outlook</a:t>
            </a:r>
            <a:endParaRPr lang="en-US" sz="1100" dirty="0"/>
          </a:p>
        </p:txBody>
      </p:sp>
      <p:sp>
        <p:nvSpPr>
          <p:cNvPr id="27" name="Text 25"/>
          <p:cNvSpPr/>
          <p:nvPr/>
        </p:nvSpPr>
        <p:spPr>
          <a:xfrm>
            <a:off x="3931920" y="548640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cautiously optimistic</a:t>
            </a:r>
            <a:endParaRPr lang="en-US" sz="1100" dirty="0"/>
          </a:p>
        </p:txBody>
      </p:sp>
      <p:sp>
        <p:nvSpPr>
          <p:cNvPr id="28" name="Text 26"/>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29" name="Text 27"/>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Industry Forecast &amp; Competitive Landscape</a:t>
            </a:r>
            <a:endParaRPr lang="en-US" sz="2600" dirty="0"/>
          </a:p>
        </p:txBody>
      </p:sp>
      <p:sp>
        <p:nvSpPr>
          <p:cNvPr id="3" name="Shape 1"/>
          <p:cNvSpPr/>
          <p:nvPr/>
        </p:nvSpPr>
        <p:spPr>
          <a:xfrm>
            <a:off x="457200" y="1143000"/>
            <a:ext cx="11274552" cy="685800"/>
          </a:xfrm>
          <a:prstGeom prst="roundRect">
            <a:avLst>
              <a:gd name="adj" fmla="val 8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85800" y="1234440"/>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Industry</a:t>
            </a:r>
            <a:endParaRPr lang="en-US" sz="1200" dirty="0"/>
          </a:p>
        </p:txBody>
      </p:sp>
      <p:sp>
        <p:nvSpPr>
          <p:cNvPr id="5" name="Text 3"/>
          <p:cNvSpPr/>
          <p:nvPr/>
        </p:nvSpPr>
        <p:spPr>
          <a:xfrm>
            <a:off x="685800" y="1527048"/>
            <a:ext cx="10817352" cy="274320"/>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omnichannel retailer</a:t>
            </a:r>
            <a:endParaRPr lang="en-US" sz="950" dirty="0"/>
          </a:p>
        </p:txBody>
      </p:sp>
      <p:sp>
        <p:nvSpPr>
          <p:cNvPr id="6" name="Shape 4"/>
          <p:cNvSpPr/>
          <p:nvPr/>
        </p:nvSpPr>
        <p:spPr>
          <a:xfrm>
            <a:off x="457200" y="1965960"/>
            <a:ext cx="11274552" cy="1397402"/>
          </a:xfrm>
          <a:prstGeom prst="roundRect">
            <a:avLst>
              <a:gd name="adj" fmla="val 3926"/>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85800" y="2057400"/>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Competitive Landscape</a:t>
            </a:r>
            <a:endParaRPr lang="en-US" sz="1200" dirty="0"/>
          </a:p>
        </p:txBody>
      </p:sp>
      <p:sp>
        <p:nvSpPr>
          <p:cNvPr id="8" name="Text 6"/>
          <p:cNvSpPr/>
          <p:nvPr/>
        </p:nvSpPr>
        <p:spPr>
          <a:xfrm>
            <a:off x="685800" y="2350008"/>
            <a:ext cx="10817352" cy="985922"/>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Highly competitive and rapidly evolving; includes brick and mortar, eCommerce and omnichannel retailers operating discount, department, retail and wholesale grocery, drug, dollar, variety and specialty stores, supermarkets, supercenter-type stores, membership-only warehouse clubs, gasoline stations and social commerce platforms.</a:t>
            </a:r>
            <a:endParaRPr lang="en-US" sz="950" dirty="0"/>
          </a:p>
        </p:txBody>
      </p:sp>
      <p:sp>
        <p:nvSpPr>
          <p:cNvPr id="9" name="Shape 7"/>
          <p:cNvSpPr/>
          <p:nvPr/>
        </p:nvSpPr>
        <p:spPr>
          <a:xfrm>
            <a:off x="457200" y="3500522"/>
            <a:ext cx="11274552" cy="2448345"/>
          </a:xfrm>
          <a:prstGeom prst="roundRect">
            <a:avLst>
              <a:gd name="adj" fmla="val 224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685800" y="3591962"/>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Forecast</a:t>
            </a:r>
            <a:endParaRPr lang="en-US" sz="1200" dirty="0"/>
          </a:p>
        </p:txBody>
      </p:sp>
      <p:sp>
        <p:nvSpPr>
          <p:cNvPr id="11" name="Text 9"/>
          <p:cNvSpPr/>
          <p:nvPr/>
        </p:nvSpPr>
        <p:spPr>
          <a:xfrm>
            <a:off x="685800" y="3884570"/>
            <a:ext cx="10817352" cy="2036865"/>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Walmart is positioned for continued near-term growth by leveraging its strong omnichannel model and expanding high-margin services like advertising and marketplace offerings. While the company faces headwinds from cost pressures, currency fluctuations, and a shift toward lower-margin merchandise, its strategic focus on AI-driven productivity and supply chain automation aims to improve operating margins. Sustained investment in eCommerce and membership programs remains a key driver to capture broader consumer spending beyond its core grocery business.</a:t>
            </a:r>
            <a:endParaRPr lang="en-US" sz="950" dirty="0"/>
          </a:p>
        </p:txBody>
      </p:sp>
      <p:sp>
        <p:nvSpPr>
          <p:cNvPr id="12" name="Shape 10"/>
          <p:cNvSpPr/>
          <p:nvPr/>
        </p:nvSpPr>
        <p:spPr>
          <a:xfrm>
            <a:off x="457200" y="6086027"/>
            <a:ext cx="11274552" cy="816129"/>
          </a:xfrm>
          <a:prstGeom prst="roundRect">
            <a:avLst>
              <a:gd name="adj" fmla="val 672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85800" y="6177467"/>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Growth Drivers</a:t>
            </a:r>
            <a:endParaRPr lang="en-US" sz="1200" dirty="0"/>
          </a:p>
        </p:txBody>
      </p:sp>
      <p:sp>
        <p:nvSpPr>
          <p:cNvPr id="14" name="Text 12"/>
          <p:cNvSpPr/>
          <p:nvPr/>
        </p:nvSpPr>
        <p:spPr>
          <a:xfrm>
            <a:off x="685800" y="6470075"/>
            <a:ext cx="10817352" cy="404649"/>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omnichannel integration, eCommerce expansion, membership-based loyalty programs, AI-driven operational efficiency, supply chain automation, diversified service offerings, advertising and marketplace growth</a:t>
            </a:r>
            <a:endParaRPr lang="en-US" sz="9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Walmart Inc.</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192E"/>
        </a:solidFill>
      </p:bgPr>
    </p:bg>
    <p:spTree>
      <p:nvGrpSpPr>
        <p:cNvPr id="1" name=""/>
        <p:cNvGrpSpPr/>
        <p:nvPr/>
      </p:nvGrpSpPr>
      <p:grpSpPr>
        <a:xfrm>
          <a:off x="0" y="0"/>
          <a:ext cx="0" cy="0"/>
          <a:chOff x="0" y="0"/>
          <a:chExt cx="0" cy="0"/>
        </a:xfrm>
      </p:grpSpPr>
      <p:sp>
        <p:nvSpPr>
          <p:cNvPr id="2" name="Text 0"/>
          <p:cNvSpPr/>
          <p:nvPr/>
        </p:nvSpPr>
        <p:spPr>
          <a:xfrm>
            <a:off x="731520" y="2743200"/>
            <a:ext cx="10725912"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731520" y="3566160"/>
            <a:ext cx="10725912" cy="457200"/>
          </a:xfrm>
          <a:prstGeom prst="rect">
            <a:avLst/>
          </a:prstGeom>
          <a:noFill/>
          <a:ln/>
        </p:spPr>
        <p:txBody>
          <a:bodyPr wrap="square" rtlCol="0" anchor="ctr"/>
          <a:lstStyle/>
          <a:p>
            <a:pPr indent="0" marL="0">
              <a:buNone/>
            </a:pPr>
            <a:r>
              <a:rPr lang="en-US" sz="1400" dirty="0">
                <a:solidFill>
                  <a:srgbClr val="AFC6E3"/>
                </a:solidFill>
                <a:latin typeface="Calibri" pitchFamily="34" charset="0"/>
                <a:ea typeface="Calibri" pitchFamily="34" charset="-122"/>
                <a:cs typeface="Calibri" pitchFamily="34" charset="-120"/>
              </a:rPr>
              <a:t>Walmart Inc. — Company Intelligence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2026-08-20T09:40:37Z</dcterms:created>
  <dcterms:modified xsi:type="dcterms:W3CDTF">2026-08-20T09:40:37Z</dcterms:modified>
</cp:coreProperties>
</file>