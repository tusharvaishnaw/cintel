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Revenue %</c:v>
                </c:pt>
              </c:strCache>
            </c:strRef>
          </c:tx>
          <c:spPr>
            <a:solidFill>
              <a:schemeClr val="accent1"/>
            </a:solidFill>
            <a:ln w="9525" cap="flat">
              <a:solidFill>
                <a:srgbClr val="F9F9F9"/>
              </a:solidFill>
              <a:prstDash val="solid"/>
              <a:round/>
            </a:ln>
            <a:effectLst/>
          </c:spPr>
          <c:dPt>
            <c:idx val="0"/>
            <c:bubble3D val="0"/>
            <c:spPr>
              <a:solidFill>
                <a:srgbClr val="2E6F9E"/>
              </a:solidFill>
              <a:effectLst/>
            </c:spPr>
          </c:dPt>
          <c:dPt>
            <c:idx val="1"/>
            <c:bubble3D val="0"/>
            <c:spPr>
              <a:solidFill>
                <a:srgbClr val="6FA8C9"/>
              </a:solidFill>
              <a:effectLst/>
            </c:spPr>
          </c:dPt>
          <c:dPt>
            <c:idx val="2"/>
            <c:bubble3D val="0"/>
            <c:spPr>
              <a:solidFill>
                <a:srgbClr val="1F2D50"/>
              </a:solidFill>
              <a:effectLst/>
            </c:spPr>
          </c:dPt>
          <c:dLbls>
            <c:dLbl>
              <c:idx val="0"/>
              <c:numFmt formatCode="0&quot;%&quot;"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North America</c:v>
                </c:pt>
                <c:pt idx="1">
                  <c:v>International</c:v>
                </c:pt>
                <c:pt idx="2">
                  <c:v>AWS</c:v>
                </c:pt>
              </c:strCache>
            </c:strRef>
          </c:cat>
          <c:val>
            <c:numRef>
              <c:f>Sheet1!$B$2:$B$4</c:f>
              <c:numCache>
                <c:ptCount val="3"/>
                <c:pt idx="0">
                  <c:v>59.46</c:v>
                </c:pt>
                <c:pt idx="1">
                  <c:v>22.58</c:v>
                </c:pt>
                <c:pt idx="2">
                  <c:v>17.96</c:v>
                </c:pt>
              </c:numCache>
            </c:numRef>
          </c:val>
        </c:ser>
        <c:firstSliceAng val="0"/>
      </c:pieChart>
      <c:spPr>
        <a:noFill/>
        <a:ln>
          <a:noFill/>
        </a:ln>
        <a:effectLst/>
      </c:spPr>
    </c:plotArea>
    <c:legend>
      <c:legendPos val="r"/>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Revenue / Operating Income / Net Income ($B)</a:t>
            </a:r>
          </a:p>
        </c:rich>
      </c:tx>
      <c:layout/>
      <c:overlay val="0"/>
    </c:title>
    <c:autoTitleDeleted val="0"/>
    <c:plotArea>
      <c:layout/>
      <c:barChart>
        <c:barDir val="col"/>
        <c:grouping val="clustered"/>
        <c:varyColors val="0"/>
        <c:ser>
          <c:idx val="0"/>
          <c:order val="0"/>
          <c:tx>
            <c:strRef>
              <c:f>Sheet1!$B$1</c:f>
              <c:strCache>
                <c:ptCount val="1"/>
                <c:pt idx="0">
                  <c:v>Revenue ($)</c:v>
                </c:pt>
              </c:strCache>
            </c:strRef>
          </c:tx>
          <c:spPr>
            <a:solidFill>
              <a:srgbClr val="1F2D5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 yrs prior</c:v>
                  </c:pt>
                  <c:pt idx="1">
                    <c:v>Prior year</c:v>
                  </c:pt>
                  <c:pt idx="2">
                    <c:v>2025</c:v>
                  </c:pt>
                </c:lvl>
              </c:multiLvlStrCache>
            </c:multiLvlStrRef>
          </c:cat>
          <c:val>
            <c:numRef>
              <c:f>Sheet1!$B$2:$B$4</c:f>
              <c:numCache>
                <c:formatCode>General</c:formatCode>
                <c:ptCount val="3"/>
                <c:pt idx="0">
                  <c:v>574.785</c:v>
                </c:pt>
                <c:pt idx="1">
                  <c:v>637.959</c:v>
                </c:pt>
                <c:pt idx="2">
                  <c:v>716.924</c:v>
                </c:pt>
              </c:numCache>
            </c:numRef>
          </c:val>
        </c:ser>
        <c:ser>
          <c:idx val="1"/>
          <c:order val="1"/>
          <c:tx>
            <c:strRef>
              <c:f>Sheet1!$C$1</c:f>
              <c:strCache>
                <c:ptCount val="1"/>
                <c:pt idx="0">
                  <c:v>Operating Income ($)</c:v>
                </c:pt>
              </c:strCache>
            </c:strRef>
          </c:tx>
          <c:spPr>
            <a:solidFill>
              <a:srgbClr val="2E6F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 yrs prior</c:v>
                  </c:pt>
                  <c:pt idx="1">
                    <c:v>Prior year</c:v>
                  </c:pt>
                  <c:pt idx="2">
                    <c:v>2025</c:v>
                  </c:pt>
                </c:lvl>
              </c:multiLvlStrCache>
            </c:multiLvlStrRef>
          </c:cat>
          <c:val>
            <c:numRef>
              <c:f>Sheet1!$C$2:$C$4</c:f>
              <c:numCache>
                <c:formatCode>General</c:formatCode>
                <c:ptCount val="3"/>
                <c:pt idx="0">
                  <c:v>36.852</c:v>
                </c:pt>
                <c:pt idx="1">
                  <c:v>68.593</c:v>
                </c:pt>
                <c:pt idx="2">
                  <c:v>79.975</c:v>
                </c:pt>
              </c:numCache>
            </c:numRef>
          </c:val>
        </c:ser>
        <c:ser>
          <c:idx val="2"/>
          <c:order val="2"/>
          <c:tx>
            <c:strRef>
              <c:f>Sheet1!$D$1</c:f>
              <c:strCache>
                <c:ptCount val="1"/>
                <c:pt idx="0">
                  <c:v>Net Income ($)</c:v>
                </c:pt>
              </c:strCache>
            </c:strRef>
          </c:tx>
          <c:spPr>
            <a:solidFill>
              <a:srgbClr val="9DB4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 yrs prior</c:v>
                  </c:pt>
                  <c:pt idx="1">
                    <c:v>Prior year</c:v>
                  </c:pt>
                  <c:pt idx="2">
                    <c:v>2025</c:v>
                  </c:pt>
                </c:lvl>
              </c:multiLvlStrCache>
            </c:multiLvlStrRef>
          </c:cat>
          <c:val>
            <c:numRef>
              <c:f>Sheet1!$D$2:$D$4</c:f>
              <c:numCache>
                <c:formatCode>General</c:formatCode>
                <c:ptCount val="3"/>
                <c:pt idx="0">
                  <c:v>30.425</c:v>
                </c:pt>
                <c:pt idx="1">
                  <c:v>59.248</c:v>
                </c:pt>
                <c:pt idx="2">
                  <c:v>77.67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linkedin.com/search/results/people/?keywords=Andrew%20R.%20Jassy%20AMAZON%20COM%20INC" TargetMode="External"/><Relationship Id="rId3" Type="http://schemas.openxmlformats.org/officeDocument/2006/relationships/hyperlink" Target="https://www.linkedin.com/search/results/people/?keywords=Brian%20T.%20Olsavsky%20AMAZON%20COM%20INC" TargetMode="External"/><Relationship Id="rId1" Type="http://schemas.openxmlformats.org/officeDocument/2006/relationships/image" Target="../media/image-6-1.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92E"/>
        </a:solidFill>
      </p:bgPr>
    </p:bg>
    <p:spTree>
      <p:nvGrpSpPr>
        <p:cNvPr id="1" name=""/>
        <p:cNvGrpSpPr/>
        <p:nvPr/>
      </p:nvGrpSpPr>
      <p:grpSpPr>
        <a:xfrm>
          <a:off x="0" y="0"/>
          <a:ext cx="0" cy="0"/>
          <a:chOff x="0" y="0"/>
          <a:chExt cx="0" cy="0"/>
        </a:xfrm>
      </p:grpSpPr>
      <p:sp>
        <p:nvSpPr>
          <p:cNvPr id="2" name="Text 0"/>
          <p:cNvSpPr/>
          <p:nvPr/>
        </p:nvSpPr>
        <p:spPr>
          <a:xfrm>
            <a:off x="731520" y="2468880"/>
            <a:ext cx="10725912" cy="11887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AMAZON COM INC</a:t>
            </a:r>
            <a:endParaRPr lang="en-US" sz="4400" dirty="0"/>
          </a:p>
        </p:txBody>
      </p:sp>
      <p:sp>
        <p:nvSpPr>
          <p:cNvPr id="3" name="Text 1"/>
          <p:cNvSpPr/>
          <p:nvPr/>
        </p:nvSpPr>
        <p:spPr>
          <a:xfrm>
            <a:off x="731520" y="3566160"/>
            <a:ext cx="10725912" cy="548640"/>
          </a:xfrm>
          <a:prstGeom prst="rect">
            <a:avLst/>
          </a:prstGeom>
          <a:noFill/>
          <a:ln/>
        </p:spPr>
        <p:txBody>
          <a:bodyPr wrap="square" rtlCol="0" anchor="ctr"/>
          <a:lstStyle/>
          <a:p>
            <a:pPr indent="0" marL="0">
              <a:buNone/>
            </a:pPr>
            <a:r>
              <a:rPr lang="en-US" sz="2000" dirty="0">
                <a:solidFill>
                  <a:srgbClr val="AFC6E3"/>
                </a:solidFill>
                <a:latin typeface="Calibri" pitchFamily="34" charset="0"/>
                <a:ea typeface="Calibri" pitchFamily="34" charset="-122"/>
                <a:cs typeface="Calibri" pitchFamily="34" charset="-120"/>
              </a:rPr>
              <a:t>Company Intelligence</a:t>
            </a:r>
            <a:endParaRPr lang="en-US" sz="2000" dirty="0"/>
          </a:p>
        </p:txBody>
      </p:sp>
      <p:sp>
        <p:nvSpPr>
          <p:cNvPr id="4" name="Text 2"/>
          <p:cNvSpPr/>
          <p:nvPr/>
        </p:nvSpPr>
        <p:spPr>
          <a:xfrm>
            <a:off x="731520" y="4069080"/>
            <a:ext cx="3657600" cy="365760"/>
          </a:xfrm>
          <a:prstGeom prst="rect">
            <a:avLst/>
          </a:prstGeom>
          <a:noFill/>
          <a:ln/>
        </p:spPr>
        <p:txBody>
          <a:bodyPr wrap="square" rtlCol="0" anchor="ctr"/>
          <a:lstStyle/>
          <a:p>
            <a:pPr indent="0" marL="0">
              <a:buNone/>
            </a:pPr>
            <a:r>
              <a:rPr lang="en-US" sz="1300" dirty="0">
                <a:solidFill>
                  <a:srgbClr val="7E96BF"/>
                </a:solidFill>
                <a:latin typeface="Calibri" pitchFamily="34" charset="0"/>
                <a:ea typeface="Calibri" pitchFamily="34" charset="-122"/>
                <a:cs typeface="Calibri" pitchFamily="34" charset="-120"/>
              </a:rPr>
              <a:t>AMZN</a:t>
            </a:r>
            <a:endParaRPr lang="en-US" sz="1300" dirty="0"/>
          </a:p>
        </p:txBody>
      </p:sp>
      <p:sp>
        <p:nvSpPr>
          <p:cNvPr id="5" name="Text 3"/>
          <p:cNvSpPr/>
          <p:nvPr/>
        </p:nvSpPr>
        <p:spPr>
          <a:xfrm>
            <a:off x="731520" y="6217920"/>
            <a:ext cx="5486400" cy="365760"/>
          </a:xfrm>
          <a:prstGeom prst="rect">
            <a:avLst/>
          </a:prstGeom>
          <a:noFill/>
          <a:ln/>
        </p:spPr>
        <p:txBody>
          <a:bodyPr wrap="square" rtlCol="0" anchor="ctr"/>
          <a:lstStyle/>
          <a:p>
            <a:pPr indent="0" marL="0">
              <a:buNone/>
            </a:pPr>
            <a:r>
              <a:rPr lang="en-US" sz="1100" dirty="0">
                <a:solidFill>
                  <a:srgbClr val="7E96BF"/>
                </a:solidFill>
                <a:latin typeface="Calibri" pitchFamily="34" charset="0"/>
                <a:ea typeface="Calibri" pitchFamily="34" charset="-122"/>
                <a:cs typeface="Calibri" pitchFamily="34" charset="-120"/>
              </a:rPr>
              <a:t>Information Resource Centre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Company Overview</a:t>
            </a:r>
            <a:endParaRPr lang="en-US" sz="2600" dirty="0"/>
          </a:p>
        </p:txBody>
      </p:sp>
      <p:sp>
        <p:nvSpPr>
          <p:cNvPr id="3" name="Shape 1"/>
          <p:cNvSpPr/>
          <p:nvPr/>
        </p:nvSpPr>
        <p:spPr>
          <a:xfrm>
            <a:off x="457200" y="1143000"/>
            <a:ext cx="5500116"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66928" y="1234440"/>
            <a:ext cx="5280660"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REVENUE</a:t>
            </a:r>
            <a:endParaRPr lang="en-US" sz="900" dirty="0"/>
          </a:p>
        </p:txBody>
      </p:sp>
      <p:sp>
        <p:nvSpPr>
          <p:cNvPr id="5" name="Text 3"/>
          <p:cNvSpPr/>
          <p:nvPr/>
        </p:nvSpPr>
        <p:spPr>
          <a:xfrm>
            <a:off x="566928" y="1481328"/>
            <a:ext cx="5280660"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$716.9B</a:t>
            </a:r>
            <a:endParaRPr lang="en-US" sz="1200" dirty="0"/>
          </a:p>
        </p:txBody>
      </p:sp>
      <p:sp>
        <p:nvSpPr>
          <p:cNvPr id="6" name="Shape 4"/>
          <p:cNvSpPr/>
          <p:nvPr/>
        </p:nvSpPr>
        <p:spPr>
          <a:xfrm>
            <a:off x="6231636" y="1143000"/>
            <a:ext cx="5500116"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341364" y="1234440"/>
            <a:ext cx="5280660"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MARKET CAP</a:t>
            </a:r>
            <a:endParaRPr lang="en-US" sz="900" dirty="0"/>
          </a:p>
        </p:txBody>
      </p:sp>
      <p:sp>
        <p:nvSpPr>
          <p:cNvPr id="8" name="Text 6"/>
          <p:cNvSpPr/>
          <p:nvPr/>
        </p:nvSpPr>
        <p:spPr>
          <a:xfrm>
            <a:off x="6341364" y="1481328"/>
            <a:ext cx="5280660"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$2.9T</a:t>
            </a:r>
            <a:endParaRPr lang="en-US" sz="1200" dirty="0"/>
          </a:p>
        </p:txBody>
      </p:sp>
      <p:sp>
        <p:nvSpPr>
          <p:cNvPr id="9" name="Shape 7"/>
          <p:cNvSpPr/>
          <p:nvPr/>
        </p:nvSpPr>
        <p:spPr>
          <a:xfrm>
            <a:off x="457200" y="4069080"/>
            <a:ext cx="11000232" cy="2286000"/>
          </a:xfrm>
          <a:prstGeom prst="roundRect">
            <a:avLst>
              <a:gd name="adj" fmla="val 24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94360" y="4160520"/>
            <a:ext cx="1072591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Key Acquisitions</a:t>
            </a:r>
            <a:endParaRPr lang="en-US" sz="1200" dirty="0"/>
          </a:p>
        </p:txBody>
      </p:sp>
      <p:sp>
        <p:nvSpPr>
          <p:cNvPr id="11" name="Text 9"/>
          <p:cNvSpPr/>
          <p:nvPr/>
        </p:nvSpPr>
        <p:spPr>
          <a:xfrm>
            <a:off x="594360" y="4453128"/>
            <a:ext cx="10725912" cy="1783080"/>
          </a:xfrm>
          <a:prstGeom prst="rect">
            <a:avLst/>
          </a:prstGeom>
          <a:noFill/>
          <a:ln/>
        </p:spPr>
        <p:txBody>
          <a:bodyPr wrap="square" rtlCol="0" anchor="t"/>
          <a:lstStyle/>
          <a:p>
            <a:pPr marL="342900" indent="-342900">
              <a:buSzPct val="100000"/>
              <a:buChar char="•"/>
            </a:pPr>
            <a:r>
              <a:rPr lang="en-US" sz="1000" dirty="0">
                <a:solidFill>
                  <a:srgbClr val="13192E"/>
                </a:solidFill>
                <a:latin typeface="Calibri" pitchFamily="34" charset="0"/>
                <a:ea typeface="Calibri" pitchFamily="34" charset="-122"/>
                <a:cs typeface="Calibri" pitchFamily="34" charset="-120"/>
              </a:rPr>
              <a:t>2023 1Life Healthcare</a:t>
            </a:r>
            <a:endParaRPr lang="en-US" sz="1000" dirty="0"/>
          </a:p>
        </p:txBody>
      </p:sp>
      <p:sp>
        <p:nvSpPr>
          <p:cNvPr id="12" name="Text 10"/>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13" name="Text 11"/>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Mission / Vision</a:t>
            </a:r>
            <a:endParaRPr lang="en-US" sz="2600" dirty="0"/>
          </a:p>
        </p:txBody>
      </p:sp>
      <p:sp>
        <p:nvSpPr>
          <p:cNvPr id="3" name="Shape 1"/>
          <p:cNvSpPr/>
          <p:nvPr/>
        </p:nvSpPr>
        <p:spPr>
          <a:xfrm>
            <a:off x="457200" y="1143000"/>
            <a:ext cx="11274552" cy="5577840"/>
          </a:xfrm>
          <a:prstGeom prst="roundRect">
            <a:avLst>
              <a:gd name="adj" fmla="val 984"/>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685800" y="1252728"/>
            <a:ext cx="2011680" cy="5358384"/>
          </a:xfrm>
          <a:prstGeom prst="rect">
            <a:avLst/>
          </a:prstGeom>
          <a:noFill/>
          <a:ln/>
        </p:spPr>
        <p:txBody>
          <a:bodyPr wrap="square" rtlCol="0" anchor="ctr"/>
          <a:lstStyle/>
          <a:p>
            <a:pPr indent="0" marL="0">
              <a:buNone/>
            </a:pPr>
            <a:r>
              <a:rPr lang="en-US" sz="1500" b="1" dirty="0">
                <a:solidFill>
                  <a:srgbClr val="2E6F9E"/>
                </a:solidFill>
                <a:latin typeface="Calibri" pitchFamily="34" charset="0"/>
                <a:ea typeface="Calibri" pitchFamily="34" charset="-122"/>
                <a:cs typeface="Calibri" pitchFamily="34" charset="-120"/>
              </a:rPr>
              <a:t>Values</a:t>
            </a:r>
            <a:endParaRPr lang="en-US" sz="1500" dirty="0"/>
          </a:p>
        </p:txBody>
      </p:sp>
      <p:sp>
        <p:nvSpPr>
          <p:cNvPr id="5" name="Text 3"/>
          <p:cNvSpPr/>
          <p:nvPr/>
        </p:nvSpPr>
        <p:spPr>
          <a:xfrm>
            <a:off x="2743200" y="1252728"/>
            <a:ext cx="8988552" cy="5358384"/>
          </a:xfrm>
          <a:prstGeom prst="rect">
            <a:avLst/>
          </a:prstGeom>
          <a:noFill/>
          <a:ln/>
        </p:spPr>
        <p:txBody>
          <a:bodyPr wrap="square" rtlCol="0" anchor="ctr">
            <a:normAutofit/>
          </a:bodyPr>
          <a:lstStyle/>
          <a:p>
            <a:pPr indent="0" marL="0">
              <a:buNone/>
            </a:pPr>
            <a:r>
              <a:rPr lang="en-US" sz="1150" dirty="0">
                <a:solidFill>
                  <a:srgbClr val="13192E"/>
                </a:solidFill>
                <a:latin typeface="Calibri" pitchFamily="34" charset="0"/>
                <a:ea typeface="Calibri" pitchFamily="34" charset="-122"/>
                <a:cs typeface="Calibri" pitchFamily="34" charset="-120"/>
              </a:rPr>
              <a:t>innovation, customer obsession, and long-term thinking</a:t>
            </a:r>
            <a:endParaRPr lang="en-US" sz="1150" dirty="0"/>
          </a:p>
        </p:txBody>
      </p:sp>
      <p:sp>
        <p:nvSpPr>
          <p:cNvPr id="6" name="Text 4"/>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7" name="Text 5"/>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Geographic Presence</a:t>
            </a:r>
            <a:endParaRPr lang="en-US" sz="2600" dirty="0"/>
          </a:p>
        </p:txBody>
      </p:sp>
      <p:sp>
        <p:nvSpPr>
          <p:cNvPr id="3" name="Shape 1"/>
          <p:cNvSpPr/>
          <p:nvPr/>
        </p:nvSpPr>
        <p:spPr>
          <a:xfrm>
            <a:off x="457200" y="1188720"/>
            <a:ext cx="11274552" cy="905256"/>
          </a:xfrm>
          <a:prstGeom prst="roundRect">
            <a:avLst>
              <a:gd name="adj" fmla="val 606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640080" y="1261872"/>
            <a:ext cx="2377440" cy="758952"/>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Revenue by Geography</a:t>
            </a:r>
            <a:endParaRPr lang="en-US" sz="1200" dirty="0"/>
          </a:p>
        </p:txBody>
      </p:sp>
      <p:sp>
        <p:nvSpPr>
          <p:cNvPr id="5" name="Text 3"/>
          <p:cNvSpPr/>
          <p:nvPr/>
        </p:nvSpPr>
        <p:spPr>
          <a:xfrm>
            <a:off x="3017520" y="1261872"/>
            <a:ext cx="8531352" cy="758952"/>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{'United States': 489657000000.0, 'Germany': 45900000000.0, 'United Kingdom': 43212000000.0, 'Japan': 30688000000.0, 'Rest of world': 107467000000.0}</a:t>
            </a:r>
            <a:endParaRPr lang="en-US" sz="1050" dirty="0"/>
          </a:p>
        </p:txBody>
      </p:sp>
      <p:sp>
        <p:nvSpPr>
          <p:cNvPr id="6" name="Text 4"/>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7" name="Text 5"/>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Business Segments</a:t>
            </a:r>
            <a:endParaRPr lang="en-US" sz="2600" dirty="0"/>
          </a:p>
        </p:txBody>
      </p:sp>
      <p:sp>
        <p:nvSpPr>
          <p:cNvPr id="3" name="Shape 1"/>
          <p:cNvSpPr/>
          <p:nvPr/>
        </p:nvSpPr>
        <p:spPr>
          <a:xfrm>
            <a:off x="457200" y="1143000"/>
            <a:ext cx="3605784" cy="2743200"/>
          </a:xfrm>
          <a:prstGeom prst="roundRect">
            <a:avLst>
              <a:gd name="adj" fmla="val 2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66928" y="1234440"/>
            <a:ext cx="3386328" cy="411480"/>
          </a:xfrm>
          <a:prstGeom prst="rect">
            <a:avLst/>
          </a:prstGeom>
          <a:noFill/>
          <a:ln/>
        </p:spPr>
        <p:txBody>
          <a:bodyPr wrap="square" rtlCol="0" anchor="ctr">
            <a:normAutofit/>
          </a:bodyPr>
          <a:lstStyle/>
          <a:p>
            <a:pPr indent="0" marL="0">
              <a:buNone/>
            </a:pPr>
            <a:r>
              <a:rPr lang="en-US" sz="1250" b="1" dirty="0">
                <a:solidFill>
                  <a:srgbClr val="1F2D50"/>
                </a:solidFill>
                <a:latin typeface="Calibri" pitchFamily="34" charset="0"/>
                <a:ea typeface="Calibri" pitchFamily="34" charset="-122"/>
                <a:cs typeface="Calibri" pitchFamily="34" charset="-120"/>
              </a:rPr>
              <a:t>North America</a:t>
            </a:r>
            <a:endParaRPr lang="en-US" sz="1250" dirty="0"/>
          </a:p>
        </p:txBody>
      </p:sp>
      <p:sp>
        <p:nvSpPr>
          <p:cNvPr id="5" name="Text 3"/>
          <p:cNvSpPr/>
          <p:nvPr/>
        </p:nvSpPr>
        <p:spPr>
          <a:xfrm>
            <a:off x="566928" y="16916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Revenue: </a:t>
            </a:r>
            <a:endParaRPr lang="en-US" sz="950" dirty="0"/>
          </a:p>
        </p:txBody>
      </p:sp>
      <p:sp>
        <p:nvSpPr>
          <p:cNvPr id="6" name="Text 4"/>
          <p:cNvSpPr/>
          <p:nvPr/>
        </p:nvSpPr>
        <p:spPr>
          <a:xfrm>
            <a:off x="566928" y="18562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$426.3B</a:t>
            </a:r>
            <a:endParaRPr lang="en-US" sz="1150" dirty="0"/>
          </a:p>
        </p:txBody>
      </p:sp>
      <p:sp>
        <p:nvSpPr>
          <p:cNvPr id="7" name="Text 5"/>
          <p:cNvSpPr/>
          <p:nvPr/>
        </p:nvSpPr>
        <p:spPr>
          <a:xfrm>
            <a:off x="566928" y="21488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Growth: </a:t>
            </a:r>
            <a:endParaRPr lang="en-US" sz="950" dirty="0"/>
          </a:p>
        </p:txBody>
      </p:sp>
      <p:sp>
        <p:nvSpPr>
          <p:cNvPr id="8" name="Text 6"/>
          <p:cNvSpPr/>
          <p:nvPr/>
        </p:nvSpPr>
        <p:spPr>
          <a:xfrm>
            <a:off x="566928" y="23134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+10.0%</a:t>
            </a:r>
            <a:endParaRPr lang="en-US" sz="1150" dirty="0"/>
          </a:p>
        </p:txBody>
      </p:sp>
      <p:sp>
        <p:nvSpPr>
          <p:cNvPr id="9" name="Text 7"/>
          <p:cNvSpPr/>
          <p:nvPr/>
        </p:nvSpPr>
        <p:spPr>
          <a:xfrm>
            <a:off x="566928" y="26060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Op. Margin: </a:t>
            </a:r>
            <a:endParaRPr lang="en-US" sz="950" dirty="0"/>
          </a:p>
        </p:txBody>
      </p:sp>
      <p:sp>
        <p:nvSpPr>
          <p:cNvPr id="10" name="Text 8"/>
          <p:cNvSpPr/>
          <p:nvPr/>
        </p:nvSpPr>
        <p:spPr>
          <a:xfrm>
            <a:off x="566928" y="27706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+7.0%</a:t>
            </a:r>
            <a:endParaRPr lang="en-US" sz="1150" dirty="0"/>
          </a:p>
        </p:txBody>
      </p:sp>
      <p:sp>
        <p:nvSpPr>
          <p:cNvPr id="11" name="Shape 9"/>
          <p:cNvSpPr/>
          <p:nvPr/>
        </p:nvSpPr>
        <p:spPr>
          <a:xfrm>
            <a:off x="4291584" y="1143000"/>
            <a:ext cx="3605784" cy="2743200"/>
          </a:xfrm>
          <a:prstGeom prst="roundRect">
            <a:avLst>
              <a:gd name="adj" fmla="val 2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Text 10"/>
          <p:cNvSpPr/>
          <p:nvPr/>
        </p:nvSpPr>
        <p:spPr>
          <a:xfrm>
            <a:off x="4401312" y="1234440"/>
            <a:ext cx="3386328" cy="411480"/>
          </a:xfrm>
          <a:prstGeom prst="rect">
            <a:avLst/>
          </a:prstGeom>
          <a:noFill/>
          <a:ln/>
        </p:spPr>
        <p:txBody>
          <a:bodyPr wrap="square" rtlCol="0" anchor="ctr">
            <a:normAutofit/>
          </a:bodyPr>
          <a:lstStyle/>
          <a:p>
            <a:pPr indent="0" marL="0">
              <a:buNone/>
            </a:pPr>
            <a:r>
              <a:rPr lang="en-US" sz="1250" b="1" dirty="0">
                <a:solidFill>
                  <a:srgbClr val="1F2D50"/>
                </a:solidFill>
                <a:latin typeface="Calibri" pitchFamily="34" charset="0"/>
                <a:ea typeface="Calibri" pitchFamily="34" charset="-122"/>
                <a:cs typeface="Calibri" pitchFamily="34" charset="-120"/>
              </a:rPr>
              <a:t>International</a:t>
            </a:r>
            <a:endParaRPr lang="en-US" sz="1250" dirty="0"/>
          </a:p>
        </p:txBody>
      </p:sp>
      <p:sp>
        <p:nvSpPr>
          <p:cNvPr id="13" name="Text 11"/>
          <p:cNvSpPr/>
          <p:nvPr/>
        </p:nvSpPr>
        <p:spPr>
          <a:xfrm>
            <a:off x="4401312" y="16916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Revenue: </a:t>
            </a:r>
            <a:endParaRPr lang="en-US" sz="950" dirty="0"/>
          </a:p>
        </p:txBody>
      </p:sp>
      <p:sp>
        <p:nvSpPr>
          <p:cNvPr id="14" name="Text 12"/>
          <p:cNvSpPr/>
          <p:nvPr/>
        </p:nvSpPr>
        <p:spPr>
          <a:xfrm>
            <a:off x="4401312" y="18562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$161.9B</a:t>
            </a:r>
            <a:endParaRPr lang="en-US" sz="1150" dirty="0"/>
          </a:p>
        </p:txBody>
      </p:sp>
      <p:sp>
        <p:nvSpPr>
          <p:cNvPr id="15" name="Text 13"/>
          <p:cNvSpPr/>
          <p:nvPr/>
        </p:nvSpPr>
        <p:spPr>
          <a:xfrm>
            <a:off x="4401312" y="21488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Growth: </a:t>
            </a:r>
            <a:endParaRPr lang="en-US" sz="950" dirty="0"/>
          </a:p>
        </p:txBody>
      </p:sp>
      <p:sp>
        <p:nvSpPr>
          <p:cNvPr id="16" name="Text 14"/>
          <p:cNvSpPr/>
          <p:nvPr/>
        </p:nvSpPr>
        <p:spPr>
          <a:xfrm>
            <a:off x="4401312" y="23134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+13.3%</a:t>
            </a:r>
            <a:endParaRPr lang="en-US" sz="1150" dirty="0"/>
          </a:p>
        </p:txBody>
      </p:sp>
      <p:sp>
        <p:nvSpPr>
          <p:cNvPr id="17" name="Text 15"/>
          <p:cNvSpPr/>
          <p:nvPr/>
        </p:nvSpPr>
        <p:spPr>
          <a:xfrm>
            <a:off x="4401312" y="26060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Op. Margin: </a:t>
            </a:r>
            <a:endParaRPr lang="en-US" sz="950" dirty="0"/>
          </a:p>
        </p:txBody>
      </p:sp>
      <p:sp>
        <p:nvSpPr>
          <p:cNvPr id="18" name="Text 16"/>
          <p:cNvSpPr/>
          <p:nvPr/>
        </p:nvSpPr>
        <p:spPr>
          <a:xfrm>
            <a:off x="4401312" y="27706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+2.9%</a:t>
            </a:r>
            <a:endParaRPr lang="en-US" sz="1150" dirty="0"/>
          </a:p>
        </p:txBody>
      </p:sp>
      <p:sp>
        <p:nvSpPr>
          <p:cNvPr id="19" name="Shape 17"/>
          <p:cNvSpPr/>
          <p:nvPr/>
        </p:nvSpPr>
        <p:spPr>
          <a:xfrm>
            <a:off x="8125968" y="1143000"/>
            <a:ext cx="3605784" cy="2743200"/>
          </a:xfrm>
          <a:prstGeom prst="roundRect">
            <a:avLst>
              <a:gd name="adj" fmla="val 2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0" name="Text 18"/>
          <p:cNvSpPr/>
          <p:nvPr/>
        </p:nvSpPr>
        <p:spPr>
          <a:xfrm>
            <a:off x="8235696" y="1234440"/>
            <a:ext cx="3386328" cy="411480"/>
          </a:xfrm>
          <a:prstGeom prst="rect">
            <a:avLst/>
          </a:prstGeom>
          <a:noFill/>
          <a:ln/>
        </p:spPr>
        <p:txBody>
          <a:bodyPr wrap="square" rtlCol="0" anchor="ctr">
            <a:normAutofit/>
          </a:bodyPr>
          <a:lstStyle/>
          <a:p>
            <a:pPr indent="0" marL="0">
              <a:buNone/>
            </a:pPr>
            <a:r>
              <a:rPr lang="en-US" sz="1250" b="1" dirty="0">
                <a:solidFill>
                  <a:srgbClr val="1F2D50"/>
                </a:solidFill>
                <a:latin typeface="Calibri" pitchFamily="34" charset="0"/>
                <a:ea typeface="Calibri" pitchFamily="34" charset="-122"/>
                <a:cs typeface="Calibri" pitchFamily="34" charset="-120"/>
              </a:rPr>
              <a:t>AWS</a:t>
            </a:r>
            <a:endParaRPr lang="en-US" sz="1250" dirty="0"/>
          </a:p>
        </p:txBody>
      </p:sp>
      <p:sp>
        <p:nvSpPr>
          <p:cNvPr id="21" name="Text 19"/>
          <p:cNvSpPr/>
          <p:nvPr/>
        </p:nvSpPr>
        <p:spPr>
          <a:xfrm>
            <a:off x="8235696" y="16916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Revenue: </a:t>
            </a:r>
            <a:endParaRPr lang="en-US" sz="950" dirty="0"/>
          </a:p>
        </p:txBody>
      </p:sp>
      <p:sp>
        <p:nvSpPr>
          <p:cNvPr id="22" name="Text 20"/>
          <p:cNvSpPr/>
          <p:nvPr/>
        </p:nvSpPr>
        <p:spPr>
          <a:xfrm>
            <a:off x="8235696" y="18562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$128.7B</a:t>
            </a:r>
            <a:endParaRPr lang="en-US" sz="1150" dirty="0"/>
          </a:p>
        </p:txBody>
      </p:sp>
      <p:sp>
        <p:nvSpPr>
          <p:cNvPr id="23" name="Text 21"/>
          <p:cNvSpPr/>
          <p:nvPr/>
        </p:nvSpPr>
        <p:spPr>
          <a:xfrm>
            <a:off x="8235696" y="21488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Growth: </a:t>
            </a:r>
            <a:endParaRPr lang="en-US" sz="950" dirty="0"/>
          </a:p>
        </p:txBody>
      </p:sp>
      <p:sp>
        <p:nvSpPr>
          <p:cNvPr id="24" name="Text 22"/>
          <p:cNvSpPr/>
          <p:nvPr/>
        </p:nvSpPr>
        <p:spPr>
          <a:xfrm>
            <a:off x="8235696" y="23134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+19.7%</a:t>
            </a:r>
            <a:endParaRPr lang="en-US" sz="1150" dirty="0"/>
          </a:p>
        </p:txBody>
      </p:sp>
      <p:sp>
        <p:nvSpPr>
          <p:cNvPr id="25" name="Text 23"/>
          <p:cNvSpPr/>
          <p:nvPr/>
        </p:nvSpPr>
        <p:spPr>
          <a:xfrm>
            <a:off x="8235696" y="26060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Op. Margin: </a:t>
            </a:r>
            <a:endParaRPr lang="en-US" sz="950" dirty="0"/>
          </a:p>
        </p:txBody>
      </p:sp>
      <p:sp>
        <p:nvSpPr>
          <p:cNvPr id="26" name="Text 24"/>
          <p:cNvSpPr/>
          <p:nvPr/>
        </p:nvSpPr>
        <p:spPr>
          <a:xfrm>
            <a:off x="8235696" y="27706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+35.4%</a:t>
            </a:r>
            <a:endParaRPr lang="en-US" sz="1150" dirty="0"/>
          </a:p>
        </p:txBody>
      </p:sp>
      <p:sp>
        <p:nvSpPr>
          <p:cNvPr id="27" name="Text 25"/>
          <p:cNvSpPr/>
          <p:nvPr/>
        </p:nvSpPr>
        <p:spPr>
          <a:xfrm>
            <a:off x="457200" y="4114800"/>
            <a:ext cx="3657600" cy="320040"/>
          </a:xfrm>
          <a:prstGeom prst="rect">
            <a:avLst/>
          </a:prstGeom>
          <a:noFill/>
          <a:ln/>
        </p:spPr>
        <p:txBody>
          <a:bodyPr wrap="square" rtlCol="0" anchor="ctr"/>
          <a:lstStyle/>
          <a:p>
            <a:pPr indent="0" marL="0">
              <a:buNone/>
            </a:pPr>
            <a:r>
              <a:rPr lang="en-US" sz="1300" b="1" dirty="0">
                <a:solidFill>
                  <a:srgbClr val="1F2D50"/>
                </a:solidFill>
                <a:latin typeface="Calibri" pitchFamily="34" charset="0"/>
                <a:ea typeface="Calibri" pitchFamily="34" charset="-122"/>
                <a:cs typeface="Calibri" pitchFamily="34" charset="-120"/>
              </a:rPr>
              <a:t>Revenue Mix</a:t>
            </a:r>
            <a:endParaRPr lang="en-US" sz="1300" dirty="0"/>
          </a:p>
        </p:txBody>
      </p:sp>
      <p:graphicFrame>
        <p:nvGraphicFramePr>
          <p:cNvPr id="28" name="Chart 0" descr=""/>
          <p:cNvGraphicFramePr/>
          <p:nvPr/>
        </p:nvGraphicFramePr>
        <p:xfrm>
          <a:off x="457200" y="4434840"/>
          <a:ext cx="5486400" cy="214884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30" name="Text 27"/>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Leadership Team</a:t>
            </a:r>
            <a:endParaRPr lang="en-US" sz="2600" dirty="0"/>
          </a:p>
        </p:txBody>
      </p:sp>
      <p:sp>
        <p:nvSpPr>
          <p:cNvPr id="3" name="Shape 1"/>
          <p:cNvSpPr/>
          <p:nvPr/>
        </p:nvSpPr>
        <p:spPr>
          <a:xfrm>
            <a:off x="457200" y="1143000"/>
            <a:ext cx="5500116" cy="5257800"/>
          </a:xfrm>
          <a:prstGeom prst="roundRect">
            <a:avLst>
              <a:gd name="adj" fmla="val 1043"/>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pic>
        <p:nvPicPr>
          <p:cNvPr id="4" name="Image 0" descr="photos\andrew-r-jassy.jpg">    </p:cNvPr>
          <p:cNvPicPr>
            <a:picLocks noChangeAspect="1"/>
          </p:cNvPicPr>
          <p:nvPr/>
        </p:nvPicPr>
        <p:blipFill>
          <a:blip r:embed="rId1"/>
          <a:stretch>
            <a:fillRect/>
          </a:stretch>
        </p:blipFill>
        <p:spPr>
          <a:xfrm>
            <a:off x="621792" y="1307592"/>
            <a:ext cx="594360" cy="594360"/>
          </a:xfrm>
          <a:prstGeom prst="ellipse">
            <a:avLst/>
          </a:prstGeom>
        </p:spPr>
      </p:pic>
      <p:sp>
        <p:nvSpPr>
          <p:cNvPr id="5" name="Text 2"/>
          <p:cNvSpPr/>
          <p:nvPr/>
        </p:nvSpPr>
        <p:spPr>
          <a:xfrm>
            <a:off x="1325880" y="1280160"/>
            <a:ext cx="449427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Andrew R. Jassy</a:t>
            </a:r>
            <a:endParaRPr lang="en-US" sz="1150" dirty="0"/>
          </a:p>
        </p:txBody>
      </p:sp>
      <p:sp>
        <p:nvSpPr>
          <p:cNvPr id="6" name="Text 3"/>
          <p:cNvSpPr/>
          <p:nvPr/>
        </p:nvSpPr>
        <p:spPr>
          <a:xfrm>
            <a:off x="1325880" y="1581912"/>
            <a:ext cx="4494276" cy="4114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President and Chief Executive Officer (Principal Executive Officer) and Director</a:t>
            </a:r>
            <a:endParaRPr lang="en-US" sz="900" dirty="0"/>
          </a:p>
        </p:txBody>
      </p:sp>
      <p:sp>
        <p:nvSpPr>
          <p:cNvPr id="7" name="Text 4"/>
          <p:cNvSpPr/>
          <p:nvPr/>
        </p:nvSpPr>
        <p:spPr>
          <a:xfrm>
            <a:off x="621792" y="2011680"/>
            <a:ext cx="5170932" cy="4206240"/>
          </a:xfrm>
          <a:prstGeom prst="rect">
            <a:avLst/>
          </a:prstGeom>
          <a:noFill/>
          <a:ln/>
        </p:spPr>
        <p:txBody>
          <a:bodyPr wrap="square" rtlCol="0" anchor="t">
            <a:normAutofit/>
          </a:bodyPr>
          <a:lstStyle/>
          <a:p>
            <a:pPr indent="0" marL="0">
              <a:buNone/>
            </a:pPr>
            <a:r>
              <a:rPr lang="en-US" sz="850" dirty="0">
                <a:solidFill>
                  <a:srgbClr val="13192E"/>
                </a:solidFill>
                <a:latin typeface="Calibri" pitchFamily="34" charset="0"/>
                <a:ea typeface="Calibri" pitchFamily="34" charset="-122"/>
                <a:cs typeface="Calibri" pitchFamily="34" charset="-120"/>
              </a:rPr>
              <a:t>Andrew R. Jassy is an American business executive who is the president and chief executive officer of Amazon since July 2021, succeeding founder Jeff Bezos, who remains executive chairman. Jassy founded and led Amazon Web Services (AWS) from its inception and served as its CEO from April 2016 until July 2021.</a:t>
            </a:r>
            <a:endParaRPr lang="en-US" sz="850" dirty="0"/>
          </a:p>
        </p:txBody>
      </p:sp>
      <p:sp>
        <p:nvSpPr>
          <p:cNvPr id="8" name="Text 5">
            <a:hlinkClick r:id="rId2" tooltip=""/>
          </p:cNvPr>
          <p:cNvSpPr/>
          <p:nvPr/>
        </p:nvSpPr>
        <p:spPr>
          <a:xfrm>
            <a:off x="621792" y="6108192"/>
            <a:ext cx="5170932" cy="256032"/>
          </a:xfrm>
          <a:prstGeom prst="rect">
            <a:avLst/>
          </a:prstGeom>
          <a:noFill/>
          <a:ln/>
        </p:spPr>
        <p:txBody>
          <a:bodyPr wrap="square" rtlCol="0" anchor="ctr"/>
          <a:lstStyle/>
          <a:p>
            <a:pPr indent="0" marL="0">
              <a:buNone/>
            </a:pPr>
            <a:r>
              <a:rPr lang="en-US" sz="850" u="sng" dirty="0">
                <a:solidFill>
                  <a:srgbClr val="2E6F9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 ↗</a:t>
            </a:r>
            <a:endParaRPr lang="en-US" sz="850" dirty="0"/>
          </a:p>
        </p:txBody>
      </p:sp>
      <p:sp>
        <p:nvSpPr>
          <p:cNvPr id="9" name="Shape 6"/>
          <p:cNvSpPr/>
          <p:nvPr/>
        </p:nvSpPr>
        <p:spPr>
          <a:xfrm>
            <a:off x="6231636" y="1143000"/>
            <a:ext cx="5500116" cy="5257800"/>
          </a:xfrm>
          <a:prstGeom prst="roundRect">
            <a:avLst>
              <a:gd name="adj" fmla="val 1043"/>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Shape 7"/>
          <p:cNvSpPr/>
          <p:nvPr/>
        </p:nvSpPr>
        <p:spPr>
          <a:xfrm>
            <a:off x="6396228" y="1307592"/>
            <a:ext cx="594360" cy="594360"/>
          </a:xfrm>
          <a:prstGeom prst="ellipse">
            <a:avLst/>
          </a:prstGeom>
          <a:solidFill>
            <a:srgbClr val="2E6F9E"/>
          </a:solidFill>
          <a:ln/>
        </p:spPr>
      </p:sp>
      <p:sp>
        <p:nvSpPr>
          <p:cNvPr id="11" name="Text 8"/>
          <p:cNvSpPr/>
          <p:nvPr/>
        </p:nvSpPr>
        <p:spPr>
          <a:xfrm>
            <a:off x="6396228" y="1307592"/>
            <a:ext cx="594360" cy="5943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BT</a:t>
            </a:r>
            <a:endParaRPr lang="en-US" sz="1600" dirty="0"/>
          </a:p>
        </p:txBody>
      </p:sp>
      <p:sp>
        <p:nvSpPr>
          <p:cNvPr id="12" name="Text 9"/>
          <p:cNvSpPr/>
          <p:nvPr/>
        </p:nvSpPr>
        <p:spPr>
          <a:xfrm>
            <a:off x="7100316" y="1280160"/>
            <a:ext cx="449427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Brian T. Olsavsky</a:t>
            </a:r>
            <a:endParaRPr lang="en-US" sz="1150" dirty="0"/>
          </a:p>
        </p:txBody>
      </p:sp>
      <p:sp>
        <p:nvSpPr>
          <p:cNvPr id="13" name="Text 10"/>
          <p:cNvSpPr/>
          <p:nvPr/>
        </p:nvSpPr>
        <p:spPr>
          <a:xfrm>
            <a:off x="7100316" y="1581912"/>
            <a:ext cx="4494276" cy="4114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Senior Vice President and Chief Financial Officer (Principal Financial Officer)</a:t>
            </a:r>
            <a:endParaRPr lang="en-US" sz="900" dirty="0"/>
          </a:p>
        </p:txBody>
      </p:sp>
      <p:sp>
        <p:nvSpPr>
          <p:cNvPr id="14" name="Text 11"/>
          <p:cNvSpPr/>
          <p:nvPr/>
        </p:nvSpPr>
        <p:spPr>
          <a:xfrm>
            <a:off x="6396228" y="2011680"/>
            <a:ext cx="5170932" cy="4206240"/>
          </a:xfrm>
          <a:prstGeom prst="rect">
            <a:avLst/>
          </a:prstGeom>
          <a:noFill/>
          <a:ln/>
        </p:spPr>
        <p:txBody>
          <a:bodyPr wrap="square" rtlCol="0" anchor="t">
            <a:normAutofit/>
          </a:bodyPr>
          <a:lstStyle/>
          <a:p>
            <a:pPr indent="0" marL="0">
              <a:buNone/>
            </a:pPr>
            <a:r>
              <a:rPr lang="en-US" sz="850" dirty="0">
                <a:solidFill>
                  <a:srgbClr val="13192E"/>
                </a:solidFill>
                <a:latin typeface="Calibri" pitchFamily="34" charset="0"/>
                <a:ea typeface="Calibri" pitchFamily="34" charset="-122"/>
                <a:cs typeface="Calibri" pitchFamily="34" charset="-120"/>
              </a:rPr>
              <a:t>Brian T. Olsavsky is an American business executive who has served as chief financial officer (CFO) and Senior Vice President of Amazon since 2015.</a:t>
            </a:r>
            <a:endParaRPr lang="en-US" sz="850" dirty="0"/>
          </a:p>
        </p:txBody>
      </p:sp>
      <p:sp>
        <p:nvSpPr>
          <p:cNvPr id="15" name="Text 12">
            <a:hlinkClick r:id="rId3" tooltip=""/>
          </p:cNvPr>
          <p:cNvSpPr/>
          <p:nvPr/>
        </p:nvSpPr>
        <p:spPr>
          <a:xfrm>
            <a:off x="6396228" y="6108192"/>
            <a:ext cx="5170932" cy="256032"/>
          </a:xfrm>
          <a:prstGeom prst="rect">
            <a:avLst/>
          </a:prstGeom>
          <a:noFill/>
          <a:ln/>
        </p:spPr>
        <p:txBody>
          <a:bodyPr wrap="square" rtlCol="0" anchor="ctr"/>
          <a:lstStyle/>
          <a:p>
            <a:pPr indent="0" marL="0">
              <a:buNone/>
            </a:pPr>
            <a:r>
              <a:rPr lang="en-US" sz="850" u="sng" dirty="0">
                <a:solidFill>
                  <a:srgbClr val="2E6F9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LinkedIn ↗</a:t>
            </a:r>
            <a:endParaRPr lang="en-US" sz="850" dirty="0"/>
          </a:p>
        </p:txBody>
      </p:sp>
      <p:sp>
        <p:nvSpPr>
          <p:cNvPr id="16"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17"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SWOT Analysis</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Analysis</a:t>
            </a:r>
            <a:endParaRPr lang="en-US" sz="2600" dirty="0"/>
          </a:p>
        </p:txBody>
      </p:sp>
      <p:sp>
        <p:nvSpPr>
          <p:cNvPr id="3" name="Shape 1"/>
          <p:cNvSpPr/>
          <p:nvPr/>
        </p:nvSpPr>
        <p:spPr>
          <a:xfrm>
            <a:off x="457200"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457200" y="1143000"/>
            <a:ext cx="2612898" cy="457200"/>
          </a:xfrm>
          <a:prstGeom prst="rect">
            <a:avLst/>
          </a:prstGeom>
          <a:solidFill>
            <a:srgbClr val="3C8A5B"/>
          </a:solidFill>
          <a:ln/>
        </p:spPr>
      </p:sp>
      <p:sp>
        <p:nvSpPr>
          <p:cNvPr id="5" name="Text 3"/>
          <p:cNvSpPr/>
          <p:nvPr/>
        </p:nvSpPr>
        <p:spPr>
          <a:xfrm>
            <a:off x="457200"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STRENGTHS</a:t>
            </a:r>
            <a:endParaRPr lang="en-US" sz="1200" dirty="0"/>
          </a:p>
        </p:txBody>
      </p:sp>
      <p:sp>
        <p:nvSpPr>
          <p:cNvPr id="6" name="Text 4"/>
          <p:cNvSpPr/>
          <p:nvPr/>
        </p:nvSpPr>
        <p:spPr>
          <a:xfrm>
            <a:off x="594360"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High profitability and strong financial growth</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Dominant cloud computing segment</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Strong balance sheet and liquidity</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Significant scale of operations</a:t>
            </a:r>
            <a:endParaRPr lang="en-US" sz="950" dirty="0"/>
          </a:p>
        </p:txBody>
      </p:sp>
      <p:sp>
        <p:nvSpPr>
          <p:cNvPr id="7" name="Shape 5"/>
          <p:cNvSpPr/>
          <p:nvPr/>
        </p:nvSpPr>
        <p:spPr>
          <a:xfrm>
            <a:off x="3344418"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3344418" y="1143000"/>
            <a:ext cx="2612898" cy="457200"/>
          </a:xfrm>
          <a:prstGeom prst="rect">
            <a:avLst/>
          </a:prstGeom>
          <a:solidFill>
            <a:srgbClr val="B5473A"/>
          </a:solidFill>
          <a:ln/>
        </p:spPr>
      </p:sp>
      <p:sp>
        <p:nvSpPr>
          <p:cNvPr id="9" name="Text 7"/>
          <p:cNvSpPr/>
          <p:nvPr/>
        </p:nvSpPr>
        <p:spPr>
          <a:xfrm>
            <a:off x="3344418"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WEAKNESSES</a:t>
            </a:r>
            <a:endParaRPr lang="en-US" sz="1200" dirty="0"/>
          </a:p>
        </p:txBody>
      </p:sp>
      <p:sp>
        <p:nvSpPr>
          <p:cNvPr id="10" name="Text 8"/>
          <p:cNvSpPr/>
          <p:nvPr/>
        </p:nvSpPr>
        <p:spPr>
          <a:xfrm>
            <a:off x="3481578"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Negative free cash flow</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Low operating margins in core retail segments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Tight liquidity position</a:t>
            </a:r>
            <a:endParaRPr lang="en-US" sz="950" dirty="0"/>
          </a:p>
        </p:txBody>
      </p:sp>
      <p:sp>
        <p:nvSpPr>
          <p:cNvPr id="11" name="Shape 9"/>
          <p:cNvSpPr/>
          <p:nvPr/>
        </p:nvSpPr>
        <p:spPr>
          <a:xfrm>
            <a:off x="6231636"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231636" y="1143000"/>
            <a:ext cx="2612898" cy="457200"/>
          </a:xfrm>
          <a:prstGeom prst="rect">
            <a:avLst/>
          </a:prstGeom>
          <a:solidFill>
            <a:srgbClr val="2E6F9E"/>
          </a:solidFill>
          <a:ln/>
        </p:spPr>
      </p:sp>
      <p:sp>
        <p:nvSpPr>
          <p:cNvPr id="13" name="Text 11"/>
          <p:cNvSpPr/>
          <p:nvPr/>
        </p:nvSpPr>
        <p:spPr>
          <a:xfrm>
            <a:off x="6231636"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OPPORTUNITIES</a:t>
            </a:r>
            <a:endParaRPr lang="en-US" sz="1200" dirty="0"/>
          </a:p>
        </p:txBody>
      </p:sp>
      <p:sp>
        <p:nvSpPr>
          <p:cNvPr id="14" name="Text 12"/>
          <p:cNvSpPr/>
          <p:nvPr/>
        </p:nvSpPr>
        <p:spPr>
          <a:xfrm>
            <a:off x="6368796"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Continued international market expansion</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Investment in AI and machine learning</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Growth in cloud infrastructure demand</a:t>
            </a:r>
            <a:endParaRPr lang="en-US" sz="950" dirty="0"/>
          </a:p>
        </p:txBody>
      </p:sp>
      <p:sp>
        <p:nvSpPr>
          <p:cNvPr id="15" name="Shape 13"/>
          <p:cNvSpPr/>
          <p:nvPr/>
        </p:nvSpPr>
        <p:spPr>
          <a:xfrm>
            <a:off x="9118854"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9118854" y="1143000"/>
            <a:ext cx="2612898" cy="457200"/>
          </a:xfrm>
          <a:prstGeom prst="rect">
            <a:avLst/>
          </a:prstGeom>
          <a:solidFill>
            <a:srgbClr val="C6862B"/>
          </a:solidFill>
          <a:ln/>
        </p:spPr>
      </p:sp>
      <p:sp>
        <p:nvSpPr>
          <p:cNvPr id="17" name="Text 15"/>
          <p:cNvSpPr/>
          <p:nvPr/>
        </p:nvSpPr>
        <p:spPr>
          <a:xfrm>
            <a:off x="9118854"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18" name="Text 16"/>
          <p:cNvSpPr/>
          <p:nvPr/>
        </p:nvSpPr>
        <p:spPr>
          <a:xfrm>
            <a:off x="9256014"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Regulatory and legal risks regarding seller conduct</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Intellectual property and litigation exposure</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Operational risks from rapid expansion</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Cybersecurity and data privacy threats</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Strengths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3C8A5B"/>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High profitability and strong financial growth</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Net income grew by 31.09% year-over-year, reaching $77.67 billion.</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3C8A5B"/>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Dominant cloud computing segment</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AWS segment generated $128.725 billion in revenue with a high operating margin of 35.43%.</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3C8A5B"/>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Strong balance sheet and liquidity</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holds $86.81 billion in cash and cash equivalents with a low debt-to-equity ratio of 0.1664.</a:t>
            </a:r>
            <a:endParaRPr lang="en-US" sz="950" dirty="0"/>
          </a:p>
        </p:txBody>
      </p:sp>
      <p:sp>
        <p:nvSpPr>
          <p:cNvPr id="15" name="Shape 13"/>
          <p:cNvSpPr/>
          <p:nvPr/>
        </p:nvSpPr>
        <p:spPr>
          <a:xfrm>
            <a:off x="457200" y="484632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640080" y="4992624"/>
            <a:ext cx="128016" cy="128016"/>
          </a:xfrm>
          <a:prstGeom prst="ellipse">
            <a:avLst/>
          </a:prstGeom>
          <a:solidFill>
            <a:srgbClr val="3C8A5B"/>
          </a:solidFill>
          <a:ln/>
        </p:spPr>
      </p:sp>
      <p:sp>
        <p:nvSpPr>
          <p:cNvPr id="17" name="Text 15"/>
          <p:cNvSpPr/>
          <p:nvPr/>
        </p:nvSpPr>
        <p:spPr>
          <a:xfrm>
            <a:off x="896112" y="491947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Significant scale of operations</a:t>
            </a:r>
            <a:endParaRPr lang="en-US" sz="1200" dirty="0"/>
          </a:p>
        </p:txBody>
      </p:sp>
      <p:sp>
        <p:nvSpPr>
          <p:cNvPr id="18" name="Text 16"/>
          <p:cNvSpPr/>
          <p:nvPr/>
        </p:nvSpPr>
        <p:spPr>
          <a:xfrm>
            <a:off x="896112" y="523036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Total annual revenue reached $716.92 billion, supported by $818.04 billion in total assets.</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Weaknesses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B5473A"/>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Negative free cash flow</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reported a free cash flow of -$529 million, driven by high capital expenditures of $140.04 billion.</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B5473A"/>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Low operating margins in core retail segments</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International segment operates at a thin 2.93% operating margin, while North America operates at 6.95%.</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B5473A"/>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Tight liquidity position</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current ratio is 1.05, indicating limited headroom between current assets ($229.08 billion) and current liabilities ($218.01 billion).</a:t>
            </a:r>
            <a:endParaRPr lang="en-US" sz="9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Opportunities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2E6F9E"/>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Continued international market expansion</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company's strategy explicitly includes plans to further expand internationally and into new products and services.</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2E6F9E"/>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Investment in AI and machine learning</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is actively adopting and utilizing artificial intelligence and machine learning technologies as part of its technology strategy.</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2E6F9E"/>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Growth in cloud infrastructure demand</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AWS segment is currently growing at a rate of 19.68%, the highest among the company's reported business segments.</a:t>
            </a:r>
            <a:endParaRPr lang="en-US" sz="9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Threats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C6862B"/>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Regulatory and legal risks regarding seller conduct</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faces risks from fraudulent or unlawful activities of sellers, which can lead to civil or criminal liability and damage to reputation.</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C6862B"/>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Intellectual property and litigation exposure</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faces increasing claims of intellectual property infringement, which may require significant financial and managerial resources to defend.</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C6862B"/>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Operational risks from rapid expansion</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Rapid global expansion places significant strain on management, operations, systems, and financial resources, potentially leading to negative effects on operating results.</a:t>
            </a:r>
            <a:endParaRPr lang="en-US" sz="950" dirty="0"/>
          </a:p>
        </p:txBody>
      </p:sp>
      <p:sp>
        <p:nvSpPr>
          <p:cNvPr id="15" name="Shape 13"/>
          <p:cNvSpPr/>
          <p:nvPr/>
        </p:nvSpPr>
        <p:spPr>
          <a:xfrm>
            <a:off x="457200" y="484632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640080" y="4992624"/>
            <a:ext cx="128016" cy="128016"/>
          </a:xfrm>
          <a:prstGeom prst="ellipse">
            <a:avLst/>
          </a:prstGeom>
          <a:solidFill>
            <a:srgbClr val="C6862B"/>
          </a:solidFill>
          <a:ln/>
        </p:spPr>
      </p:sp>
      <p:sp>
        <p:nvSpPr>
          <p:cNvPr id="17" name="Text 15"/>
          <p:cNvSpPr/>
          <p:nvPr/>
        </p:nvSpPr>
        <p:spPr>
          <a:xfrm>
            <a:off x="896112" y="491947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Cybersecurity and data privacy threats</a:t>
            </a:r>
            <a:endParaRPr lang="en-US" sz="1200" dirty="0"/>
          </a:p>
        </p:txBody>
      </p:sp>
      <p:sp>
        <p:nvSpPr>
          <p:cNvPr id="18" name="Text 16"/>
          <p:cNvSpPr/>
          <p:nvPr/>
        </p:nvSpPr>
        <p:spPr>
          <a:xfrm>
            <a:off x="896112" y="523036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Failure to prevent or mitigate security incidents could result in the loss or misuse of information, leading to regulatory action and litigation.</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Financials</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Financials – Annual</a:t>
            </a:r>
            <a:endParaRPr lang="en-US" sz="2600" dirty="0"/>
          </a:p>
        </p:txBody>
      </p:sp>
      <p:graphicFrame>
        <p:nvGraphicFramePr>
          <p:cNvPr id="3" name="Chart 0" descr=""/>
          <p:cNvGraphicFramePr/>
          <p:nvPr/>
        </p:nvGraphicFramePr>
        <p:xfrm>
          <a:off x="457200" y="1143000"/>
          <a:ext cx="7315200" cy="51206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8092440" y="1143000"/>
            <a:ext cx="3566160" cy="320040"/>
          </a:xfrm>
          <a:prstGeom prst="rect">
            <a:avLst/>
          </a:prstGeom>
          <a:noFill/>
          <a:ln/>
        </p:spPr>
        <p:txBody>
          <a:bodyPr wrap="square" rtlCol="0" anchor="ctr"/>
          <a:lstStyle/>
          <a:p>
            <a:pPr indent="0" marL="0">
              <a:buNone/>
            </a:pPr>
            <a:r>
              <a:rPr lang="en-US" sz="1300" b="1" dirty="0">
                <a:solidFill>
                  <a:srgbClr val="1F2D50"/>
                </a:solidFill>
                <a:latin typeface="Calibri" pitchFamily="34" charset="0"/>
                <a:ea typeface="Calibri" pitchFamily="34" charset="-122"/>
                <a:cs typeface="Calibri" pitchFamily="34" charset="-120"/>
              </a:rPr>
              <a:t>Highlights</a:t>
            </a:r>
            <a:endParaRPr lang="en-US" sz="1300" dirty="0"/>
          </a:p>
        </p:txBody>
      </p:sp>
      <p:sp>
        <p:nvSpPr>
          <p:cNvPr id="5" name="Text 2"/>
          <p:cNvSpPr/>
          <p:nvPr/>
        </p:nvSpPr>
        <p:spPr>
          <a:xfrm>
            <a:off x="8092440" y="150876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EBITDA</a:t>
            </a:r>
            <a:endParaRPr lang="en-US" sz="1000" dirty="0"/>
          </a:p>
        </p:txBody>
      </p:sp>
      <p:sp>
        <p:nvSpPr>
          <p:cNvPr id="6" name="Text 3"/>
          <p:cNvSpPr/>
          <p:nvPr/>
        </p:nvSpPr>
        <p:spPr>
          <a:xfrm>
            <a:off x="10149840" y="150876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$145.7B</a:t>
            </a:r>
            <a:endParaRPr lang="en-US" sz="1000" dirty="0"/>
          </a:p>
        </p:txBody>
      </p:sp>
      <p:sp>
        <p:nvSpPr>
          <p:cNvPr id="7" name="Text 4"/>
          <p:cNvSpPr/>
          <p:nvPr/>
        </p:nvSpPr>
        <p:spPr>
          <a:xfrm>
            <a:off x="8092440" y="187452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EPS</a:t>
            </a:r>
            <a:endParaRPr lang="en-US" sz="1000" dirty="0"/>
          </a:p>
        </p:txBody>
      </p:sp>
      <p:sp>
        <p:nvSpPr>
          <p:cNvPr id="8" name="Text 5"/>
          <p:cNvSpPr/>
          <p:nvPr/>
        </p:nvSpPr>
        <p:spPr>
          <a:xfrm>
            <a:off x="10149840" y="187452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7.17</a:t>
            </a:r>
            <a:endParaRPr lang="en-US" sz="1000" dirty="0"/>
          </a:p>
        </p:txBody>
      </p:sp>
      <p:sp>
        <p:nvSpPr>
          <p:cNvPr id="9" name="Text 6"/>
          <p:cNvSpPr/>
          <p:nvPr/>
        </p:nvSpPr>
        <p:spPr>
          <a:xfrm>
            <a:off x="8092440" y="224028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Revenue Growth</a:t>
            </a:r>
            <a:endParaRPr lang="en-US" sz="1000" dirty="0"/>
          </a:p>
        </p:txBody>
      </p:sp>
      <p:sp>
        <p:nvSpPr>
          <p:cNvPr id="10" name="Text 7"/>
          <p:cNvSpPr/>
          <p:nvPr/>
        </p:nvSpPr>
        <p:spPr>
          <a:xfrm>
            <a:off x="10149840" y="224028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+12.4%</a:t>
            </a:r>
            <a:endParaRPr lang="en-US" sz="1000" dirty="0"/>
          </a:p>
        </p:txBody>
      </p:sp>
      <p:sp>
        <p:nvSpPr>
          <p:cNvPr id="11" name="Text 8"/>
          <p:cNvSpPr/>
          <p:nvPr/>
        </p:nvSpPr>
        <p:spPr>
          <a:xfrm>
            <a:off x="8092440" y="260604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Operating Margin</a:t>
            </a:r>
            <a:endParaRPr lang="en-US" sz="1000" dirty="0"/>
          </a:p>
        </p:txBody>
      </p:sp>
      <p:sp>
        <p:nvSpPr>
          <p:cNvPr id="12" name="Text 9"/>
          <p:cNvSpPr/>
          <p:nvPr/>
        </p:nvSpPr>
        <p:spPr>
          <a:xfrm>
            <a:off x="10149840" y="260604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+11.2%</a:t>
            </a:r>
            <a:endParaRPr lang="en-US" sz="1000" dirty="0"/>
          </a:p>
        </p:txBody>
      </p:sp>
      <p:sp>
        <p:nvSpPr>
          <p:cNvPr id="13" name="Text 10"/>
          <p:cNvSpPr/>
          <p:nvPr/>
        </p:nvSpPr>
        <p:spPr>
          <a:xfrm>
            <a:off x="8092440" y="297180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Net Margin</a:t>
            </a:r>
            <a:endParaRPr lang="en-US" sz="1000" dirty="0"/>
          </a:p>
        </p:txBody>
      </p:sp>
      <p:sp>
        <p:nvSpPr>
          <p:cNvPr id="14" name="Text 11"/>
          <p:cNvSpPr/>
          <p:nvPr/>
        </p:nvSpPr>
        <p:spPr>
          <a:xfrm>
            <a:off x="10149840" y="297180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+10.8%</a:t>
            </a:r>
            <a:endParaRPr lang="en-US" sz="1000" dirty="0"/>
          </a:p>
        </p:txBody>
      </p:sp>
      <p:sp>
        <p:nvSpPr>
          <p:cNvPr id="15" name="Text 12"/>
          <p:cNvSpPr/>
          <p:nvPr/>
        </p:nvSpPr>
        <p:spPr>
          <a:xfrm>
            <a:off x="8092440" y="333756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Free Cash Flow</a:t>
            </a:r>
            <a:endParaRPr lang="en-US" sz="1000" dirty="0"/>
          </a:p>
        </p:txBody>
      </p:sp>
      <p:sp>
        <p:nvSpPr>
          <p:cNvPr id="16" name="Text 13"/>
          <p:cNvSpPr/>
          <p:nvPr/>
        </p:nvSpPr>
        <p:spPr>
          <a:xfrm>
            <a:off x="10149840" y="333756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$-529.0M</a:t>
            </a:r>
            <a:endParaRPr lang="en-US" sz="1000" dirty="0"/>
          </a:p>
        </p:txBody>
      </p:sp>
      <p:sp>
        <p:nvSpPr>
          <p:cNvPr id="17" name="Text 14"/>
          <p:cNvSpPr/>
          <p:nvPr/>
        </p:nvSpPr>
        <p:spPr>
          <a:xfrm>
            <a:off x="8092440" y="370332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ROE</a:t>
            </a:r>
            <a:endParaRPr lang="en-US" sz="1000" dirty="0"/>
          </a:p>
        </p:txBody>
      </p:sp>
      <p:sp>
        <p:nvSpPr>
          <p:cNvPr id="18" name="Text 15"/>
          <p:cNvSpPr/>
          <p:nvPr/>
        </p:nvSpPr>
        <p:spPr>
          <a:xfrm>
            <a:off x="10149840" y="370332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+18.9%</a:t>
            </a:r>
            <a:endParaRPr lang="en-US" sz="1000" dirty="0"/>
          </a:p>
        </p:txBody>
      </p:sp>
      <p:sp>
        <p:nvSpPr>
          <p:cNvPr id="19" name="Text 16"/>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20" name="Text 17"/>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Financials – Current Quarter</a:t>
            </a:r>
            <a:endParaRPr lang="en-US" sz="2600" dirty="0"/>
          </a:p>
        </p:txBody>
      </p:sp>
      <p:sp>
        <p:nvSpPr>
          <p:cNvPr id="3" name="Shape 1"/>
          <p:cNvSpPr/>
          <p:nvPr/>
        </p:nvSpPr>
        <p:spPr>
          <a:xfrm>
            <a:off x="457200" y="12344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3258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QUARTER</a:t>
            </a:r>
            <a:endParaRPr lang="en-US" sz="900" dirty="0"/>
          </a:p>
        </p:txBody>
      </p:sp>
      <p:sp>
        <p:nvSpPr>
          <p:cNvPr id="5" name="Text 3"/>
          <p:cNvSpPr/>
          <p:nvPr/>
        </p:nvSpPr>
        <p:spPr>
          <a:xfrm>
            <a:off x="594360" y="15819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2026-06-30</a:t>
            </a:r>
            <a:endParaRPr lang="en-US" sz="1400" dirty="0"/>
          </a:p>
        </p:txBody>
      </p:sp>
      <p:sp>
        <p:nvSpPr>
          <p:cNvPr id="6" name="Shape 4"/>
          <p:cNvSpPr/>
          <p:nvPr/>
        </p:nvSpPr>
        <p:spPr>
          <a:xfrm>
            <a:off x="457200" y="21488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594360" y="22402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REVENUE</a:t>
            </a:r>
            <a:endParaRPr lang="en-US" sz="900" dirty="0"/>
          </a:p>
        </p:txBody>
      </p:sp>
      <p:sp>
        <p:nvSpPr>
          <p:cNvPr id="8" name="Text 6"/>
          <p:cNvSpPr/>
          <p:nvPr/>
        </p:nvSpPr>
        <p:spPr>
          <a:xfrm>
            <a:off x="594360" y="24963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$200.6B</a:t>
            </a:r>
            <a:endParaRPr lang="en-US" sz="1400" dirty="0"/>
          </a:p>
        </p:txBody>
      </p:sp>
      <p:sp>
        <p:nvSpPr>
          <p:cNvPr id="9" name="Shape 7"/>
          <p:cNvSpPr/>
          <p:nvPr/>
        </p:nvSpPr>
        <p:spPr>
          <a:xfrm>
            <a:off x="457200" y="30632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94360" y="31546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OPERATING INCOME</a:t>
            </a:r>
            <a:endParaRPr lang="en-US" sz="900" dirty="0"/>
          </a:p>
        </p:txBody>
      </p:sp>
      <p:sp>
        <p:nvSpPr>
          <p:cNvPr id="11" name="Text 9"/>
          <p:cNvSpPr/>
          <p:nvPr/>
        </p:nvSpPr>
        <p:spPr>
          <a:xfrm>
            <a:off x="594360" y="34107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$27.5B</a:t>
            </a:r>
            <a:endParaRPr lang="en-US" sz="1400" dirty="0"/>
          </a:p>
        </p:txBody>
      </p:sp>
      <p:sp>
        <p:nvSpPr>
          <p:cNvPr id="12" name="Shape 10"/>
          <p:cNvSpPr/>
          <p:nvPr/>
        </p:nvSpPr>
        <p:spPr>
          <a:xfrm>
            <a:off x="457200" y="39776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594360" y="40690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NET INCOME</a:t>
            </a:r>
            <a:endParaRPr lang="en-US" sz="900" dirty="0"/>
          </a:p>
        </p:txBody>
      </p:sp>
      <p:sp>
        <p:nvSpPr>
          <p:cNvPr id="14" name="Text 12"/>
          <p:cNvSpPr/>
          <p:nvPr/>
        </p:nvSpPr>
        <p:spPr>
          <a:xfrm>
            <a:off x="594360" y="43251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$62.6B</a:t>
            </a:r>
            <a:endParaRPr lang="en-US" sz="1400" dirty="0"/>
          </a:p>
        </p:txBody>
      </p:sp>
      <p:sp>
        <p:nvSpPr>
          <p:cNvPr id="15" name="Shape 13"/>
          <p:cNvSpPr/>
          <p:nvPr/>
        </p:nvSpPr>
        <p:spPr>
          <a:xfrm>
            <a:off x="457200" y="48920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594360" y="49834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EBITDA</a:t>
            </a:r>
            <a:endParaRPr lang="en-US" sz="900" dirty="0"/>
          </a:p>
        </p:txBody>
      </p:sp>
      <p:sp>
        <p:nvSpPr>
          <p:cNvPr id="17" name="Text 15"/>
          <p:cNvSpPr/>
          <p:nvPr/>
        </p:nvSpPr>
        <p:spPr>
          <a:xfrm>
            <a:off x="594360" y="52395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$47.4B</a:t>
            </a:r>
            <a:endParaRPr lang="en-US" sz="1400" dirty="0"/>
          </a:p>
        </p:txBody>
      </p:sp>
      <p:sp>
        <p:nvSpPr>
          <p:cNvPr id="18" name="Shape 16"/>
          <p:cNvSpPr/>
          <p:nvPr/>
        </p:nvSpPr>
        <p:spPr>
          <a:xfrm>
            <a:off x="6185916" y="12344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9" name="Text 17"/>
          <p:cNvSpPr/>
          <p:nvPr/>
        </p:nvSpPr>
        <p:spPr>
          <a:xfrm>
            <a:off x="6323076" y="13258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EPS</a:t>
            </a:r>
            <a:endParaRPr lang="en-US" sz="900" dirty="0"/>
          </a:p>
        </p:txBody>
      </p:sp>
      <p:sp>
        <p:nvSpPr>
          <p:cNvPr id="20" name="Text 18"/>
          <p:cNvSpPr/>
          <p:nvPr/>
        </p:nvSpPr>
        <p:spPr>
          <a:xfrm>
            <a:off x="6323076" y="15819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5.75</a:t>
            </a:r>
            <a:endParaRPr lang="en-US" sz="1400" dirty="0"/>
          </a:p>
        </p:txBody>
      </p:sp>
      <p:sp>
        <p:nvSpPr>
          <p:cNvPr id="21" name="Shape 19"/>
          <p:cNvSpPr/>
          <p:nvPr/>
        </p:nvSpPr>
        <p:spPr>
          <a:xfrm>
            <a:off x="6185916" y="21488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2" name="Text 20"/>
          <p:cNvSpPr/>
          <p:nvPr/>
        </p:nvSpPr>
        <p:spPr>
          <a:xfrm>
            <a:off x="6323076" y="22402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CASH FLOW</a:t>
            </a:r>
            <a:endParaRPr lang="en-US" sz="900" dirty="0"/>
          </a:p>
        </p:txBody>
      </p:sp>
      <p:sp>
        <p:nvSpPr>
          <p:cNvPr id="23" name="Text 21"/>
          <p:cNvSpPr/>
          <p:nvPr/>
        </p:nvSpPr>
        <p:spPr>
          <a:xfrm>
            <a:off x="6323076" y="24963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$45.4B</a:t>
            </a:r>
            <a:endParaRPr lang="en-US" sz="1400" dirty="0"/>
          </a:p>
        </p:txBody>
      </p:sp>
      <p:sp>
        <p:nvSpPr>
          <p:cNvPr id="24" name="Shape 22"/>
          <p:cNvSpPr/>
          <p:nvPr/>
        </p:nvSpPr>
        <p:spPr>
          <a:xfrm>
            <a:off x="6185916" y="30632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5" name="Text 23"/>
          <p:cNvSpPr/>
          <p:nvPr/>
        </p:nvSpPr>
        <p:spPr>
          <a:xfrm>
            <a:off x="6323076" y="31546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REVENUE GROWTH (YOY)</a:t>
            </a:r>
            <a:endParaRPr lang="en-US" sz="900" dirty="0"/>
          </a:p>
        </p:txBody>
      </p:sp>
      <p:sp>
        <p:nvSpPr>
          <p:cNvPr id="26" name="Text 24"/>
          <p:cNvSpPr/>
          <p:nvPr/>
        </p:nvSpPr>
        <p:spPr>
          <a:xfrm>
            <a:off x="6323076" y="34107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+19.6%</a:t>
            </a:r>
            <a:endParaRPr lang="en-US" sz="1400" dirty="0"/>
          </a:p>
        </p:txBody>
      </p:sp>
      <p:sp>
        <p:nvSpPr>
          <p:cNvPr id="27" name="Shape 25"/>
          <p:cNvSpPr/>
          <p:nvPr/>
        </p:nvSpPr>
        <p:spPr>
          <a:xfrm>
            <a:off x="6185916" y="39776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8" name="Text 26"/>
          <p:cNvSpPr/>
          <p:nvPr/>
        </p:nvSpPr>
        <p:spPr>
          <a:xfrm>
            <a:off x="6323076" y="40690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NET INCOME GROWTH (YOY)</a:t>
            </a:r>
            <a:endParaRPr lang="en-US" sz="900" dirty="0"/>
          </a:p>
        </p:txBody>
      </p:sp>
      <p:sp>
        <p:nvSpPr>
          <p:cNvPr id="29" name="Text 27"/>
          <p:cNvSpPr/>
          <p:nvPr/>
        </p:nvSpPr>
        <p:spPr>
          <a:xfrm>
            <a:off x="6323076" y="43251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+244.9%</a:t>
            </a:r>
            <a:endParaRPr lang="en-US" sz="1400" dirty="0"/>
          </a:p>
        </p:txBody>
      </p:sp>
      <p:sp>
        <p:nvSpPr>
          <p:cNvPr id="30" name="Text 28"/>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31" name="Text 29"/>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Key Acquisitions</a:t>
            </a:r>
            <a:endParaRPr lang="en-US" sz="2600" dirty="0"/>
          </a:p>
        </p:txBody>
      </p:sp>
      <p:sp>
        <p:nvSpPr>
          <p:cNvPr id="3" name="Shape 1"/>
          <p:cNvSpPr/>
          <p:nvPr/>
        </p:nvSpPr>
        <p:spPr>
          <a:xfrm>
            <a:off x="457200" y="1143000"/>
            <a:ext cx="11274552"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34440"/>
            <a:ext cx="11000232"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1Life Healthcare</a:t>
            </a:r>
            <a:endParaRPr lang="en-US" sz="1200" dirty="0"/>
          </a:p>
        </p:txBody>
      </p:sp>
      <p:sp>
        <p:nvSpPr>
          <p:cNvPr id="5" name="Text 3"/>
          <p:cNvSpPr/>
          <p:nvPr/>
        </p:nvSpPr>
        <p:spPr>
          <a:xfrm>
            <a:off x="594360" y="1563624"/>
            <a:ext cx="11000232"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Year: 2023  |  Value: $3.5B</a:t>
            </a:r>
            <a:endParaRPr lang="en-US" sz="900" dirty="0"/>
          </a:p>
        </p:txBody>
      </p:sp>
      <p:sp>
        <p:nvSpPr>
          <p:cNvPr id="6" name="Text 4"/>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7" name="Text 5"/>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Business Challenges</a:t>
            </a:r>
            <a:endParaRPr lang="en-US" sz="2600" dirty="0"/>
          </a:p>
        </p:txBody>
      </p:sp>
      <p:sp>
        <p:nvSpPr>
          <p:cNvPr id="3" name="Shape 1"/>
          <p:cNvSpPr/>
          <p:nvPr/>
        </p:nvSpPr>
        <p:spPr>
          <a:xfrm>
            <a:off x="457200" y="1143000"/>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3444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Fraudulent or unlawful activities of sellers</a:t>
            </a:r>
            <a:endParaRPr lang="en-US" sz="1200" dirty="0"/>
          </a:p>
        </p:txBody>
      </p:sp>
      <p:sp>
        <p:nvSpPr>
          <p:cNvPr id="5" name="Text 3"/>
          <p:cNvSpPr/>
          <p:nvPr/>
        </p:nvSpPr>
        <p:spPr>
          <a:xfrm>
            <a:off x="594360" y="1563624"/>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Harm to business, damage to reputation, civil or criminal liability, and increased costs under the A-to-z Guarantee.  |  Brief: Policies to prevent sellers from selling unlawful or counterfeit goods may be circumvented or fail.</a:t>
            </a:r>
            <a:endParaRPr lang="en-US" sz="900" dirty="0"/>
          </a:p>
        </p:txBody>
      </p:sp>
      <p:sp>
        <p:nvSpPr>
          <p:cNvPr id="6" name="Shape 4"/>
          <p:cNvSpPr/>
          <p:nvPr/>
        </p:nvSpPr>
        <p:spPr>
          <a:xfrm>
            <a:off x="6208776" y="1143000"/>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345936" y="123444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Intellectual property protection and infringement claims</a:t>
            </a:r>
            <a:endParaRPr lang="en-US" sz="1200" dirty="0"/>
          </a:p>
        </p:txBody>
      </p:sp>
      <p:sp>
        <p:nvSpPr>
          <p:cNvPr id="8" name="Text 6"/>
          <p:cNvSpPr/>
          <p:nvPr/>
        </p:nvSpPr>
        <p:spPr>
          <a:xfrm>
            <a:off x="6345936" y="1563624"/>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Expenditure of significant financial and managerial resources, injunctions, and significant payments for damages.  |  Brief: Difficulty protecting proprietary rights globally and facing increasing claims of intellectual property infringement.</a:t>
            </a:r>
            <a:endParaRPr lang="en-US" sz="900" dirty="0"/>
          </a:p>
        </p:txBody>
      </p:sp>
      <p:sp>
        <p:nvSpPr>
          <p:cNvPr id="9" name="Shape 7"/>
          <p:cNvSpPr/>
          <p:nvPr/>
        </p:nvSpPr>
        <p:spPr>
          <a:xfrm>
            <a:off x="457200" y="1907177"/>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94360" y="1998617"/>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Foreign exchange risk</a:t>
            </a:r>
            <a:endParaRPr lang="en-US" sz="1200" dirty="0"/>
          </a:p>
        </p:txBody>
      </p:sp>
      <p:sp>
        <p:nvSpPr>
          <p:cNvPr id="11" name="Text 9"/>
          <p:cNvSpPr/>
          <p:nvPr/>
        </p:nvSpPr>
        <p:spPr>
          <a:xfrm>
            <a:off x="594360" y="2327801"/>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Operating results may differ materially from expectations and significant gains or losses on remeasurement of intercompany balances.  |  Brief: Exposure to fluctuations in foreign currency exchange rates due to international operations.</a:t>
            </a:r>
            <a:endParaRPr lang="en-US" sz="900" dirty="0"/>
          </a:p>
        </p:txBody>
      </p:sp>
      <p:sp>
        <p:nvSpPr>
          <p:cNvPr id="12" name="Shape 10"/>
          <p:cNvSpPr/>
          <p:nvPr/>
        </p:nvSpPr>
        <p:spPr>
          <a:xfrm>
            <a:off x="6208776" y="1907177"/>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6345936" y="1998617"/>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Rapid expansion and resource strain</a:t>
            </a:r>
            <a:endParaRPr lang="en-US" sz="1200" dirty="0"/>
          </a:p>
        </p:txBody>
      </p:sp>
      <p:sp>
        <p:nvSpPr>
          <p:cNvPr id="14" name="Text 12"/>
          <p:cNvSpPr/>
          <p:nvPr/>
        </p:nvSpPr>
        <p:spPr>
          <a:xfrm>
            <a:off x="6345936" y="2327801"/>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Damage to reputation, limited growth, and negative effects on operating results.  |  Brief: Rapid global expansion places significant strain on management, operations, systems, and financial resources.</a:t>
            </a:r>
            <a:endParaRPr lang="en-US" sz="900" dirty="0"/>
          </a:p>
        </p:txBody>
      </p:sp>
      <p:sp>
        <p:nvSpPr>
          <p:cNvPr id="15" name="Shape 13"/>
          <p:cNvSpPr/>
          <p:nvPr/>
        </p:nvSpPr>
        <p:spPr>
          <a:xfrm>
            <a:off x="457200" y="2671354"/>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594360" y="2762794"/>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Fluctuations in operating results and growth rate</a:t>
            </a:r>
            <a:endParaRPr lang="en-US" sz="1200" dirty="0"/>
          </a:p>
        </p:txBody>
      </p:sp>
      <p:sp>
        <p:nvSpPr>
          <p:cNvPr id="17" name="Text 15"/>
          <p:cNvSpPr/>
          <p:nvPr/>
        </p:nvSpPr>
        <p:spPr>
          <a:xfrm>
            <a:off x="594360" y="3091978"/>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Inability to adjust spending quickly if sales are lower than expected, potentially leading to decreased revenue or growth.  |  Brief: Difficulty in accurately forecasting growth and managing fixed expenses against variable demand.</a:t>
            </a:r>
            <a:endParaRPr lang="en-US" sz="900" dirty="0"/>
          </a:p>
        </p:txBody>
      </p:sp>
      <p:sp>
        <p:nvSpPr>
          <p:cNvPr id="18" name="Shape 16"/>
          <p:cNvSpPr/>
          <p:nvPr/>
        </p:nvSpPr>
        <p:spPr>
          <a:xfrm>
            <a:off x="6208776" y="2671354"/>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9" name="Text 17"/>
          <p:cNvSpPr/>
          <p:nvPr/>
        </p:nvSpPr>
        <p:spPr>
          <a:xfrm>
            <a:off x="6345936" y="2762794"/>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Fulfillment network and data center optimization</a:t>
            </a:r>
            <a:endParaRPr lang="en-US" sz="1200" dirty="0"/>
          </a:p>
        </p:txBody>
      </p:sp>
      <p:sp>
        <p:nvSpPr>
          <p:cNvPr id="20" name="Text 18"/>
          <p:cNvSpPr/>
          <p:nvPr/>
        </p:nvSpPr>
        <p:spPr>
          <a:xfrm>
            <a:off x="6345936" y="3091978"/>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Excess or insufficient capacity, service interruptions, increased costs, and impairment charges.  |  Brief: Complexity in operating and scaling fulfillment and data center networks leads to potential service and efficiency failures.</a:t>
            </a:r>
            <a:endParaRPr lang="en-US" sz="900" dirty="0"/>
          </a:p>
        </p:txBody>
      </p:sp>
      <p:sp>
        <p:nvSpPr>
          <p:cNvPr id="21" name="Shape 19"/>
          <p:cNvSpPr/>
          <p:nvPr/>
        </p:nvSpPr>
        <p:spPr>
          <a:xfrm>
            <a:off x="457200" y="3435531"/>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2" name="Text 20"/>
          <p:cNvSpPr/>
          <p:nvPr/>
        </p:nvSpPr>
        <p:spPr>
          <a:xfrm>
            <a:off x="594360" y="3526971"/>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Data loss or security incidents</a:t>
            </a:r>
            <a:endParaRPr lang="en-US" sz="1200" dirty="0"/>
          </a:p>
        </p:txBody>
      </p:sp>
      <p:sp>
        <p:nvSpPr>
          <p:cNvPr id="23" name="Text 21"/>
          <p:cNvSpPr/>
          <p:nvPr/>
        </p:nvSpPr>
        <p:spPr>
          <a:xfrm>
            <a:off x="594360" y="3856155"/>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Risk of loss/misuse of information, litigation, regulatory action, and harm to business and reputation.  |  Brief: Failure to prevent or mitigate security incidents affecting technology, products, or systems.</a:t>
            </a:r>
            <a:endParaRPr lang="en-US" sz="900" dirty="0"/>
          </a:p>
        </p:txBody>
      </p:sp>
      <p:sp>
        <p:nvSpPr>
          <p:cNvPr id="24" name="Shape 22"/>
          <p:cNvSpPr/>
          <p:nvPr/>
        </p:nvSpPr>
        <p:spPr>
          <a:xfrm>
            <a:off x="6208776" y="3435531"/>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5" name="Text 23"/>
          <p:cNvSpPr/>
          <p:nvPr/>
        </p:nvSpPr>
        <p:spPr>
          <a:xfrm>
            <a:off x="6345936" y="3526971"/>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System interruption and lack of redundancy</a:t>
            </a:r>
            <a:endParaRPr lang="en-US" sz="1200" dirty="0"/>
          </a:p>
        </p:txBody>
      </p:sp>
      <p:sp>
        <p:nvSpPr>
          <p:cNvPr id="26" name="Text 24"/>
          <p:cNvSpPr/>
          <p:nvPr/>
        </p:nvSpPr>
        <p:spPr>
          <a:xfrm>
            <a:off x="6345936" y="3856155"/>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Reduced net sales, liability, and damage to reputation.  |  Brief: Occasional system interruptions and lack of full redundancy can make services unavailable or slow.</a:t>
            </a:r>
            <a:endParaRPr lang="en-US" sz="900" dirty="0"/>
          </a:p>
        </p:txBody>
      </p:sp>
      <p:sp>
        <p:nvSpPr>
          <p:cNvPr id="27" name="Shape 25"/>
          <p:cNvSpPr/>
          <p:nvPr/>
        </p:nvSpPr>
        <p:spPr>
          <a:xfrm>
            <a:off x="457200" y="4199709"/>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8" name="Text 26"/>
          <p:cNvSpPr/>
          <p:nvPr/>
        </p:nvSpPr>
        <p:spPr>
          <a:xfrm>
            <a:off x="594360" y="4291149"/>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Hiring and retaining key personnel</a:t>
            </a:r>
            <a:endParaRPr lang="en-US" sz="1200" dirty="0"/>
          </a:p>
        </p:txBody>
      </p:sp>
      <p:sp>
        <p:nvSpPr>
          <p:cNvPr id="29" name="Text 27"/>
          <p:cNvSpPr/>
          <p:nvPr/>
        </p:nvSpPr>
        <p:spPr>
          <a:xfrm>
            <a:off x="594360" y="4620333"/>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Strained operations, increased payroll costs, and potential harm to business and reputation.  |  Brief: Intense competition for skilled personnel and potential labor union organizational efforts.</a:t>
            </a:r>
            <a:endParaRPr lang="en-US" sz="900" dirty="0"/>
          </a:p>
        </p:txBody>
      </p:sp>
      <p:sp>
        <p:nvSpPr>
          <p:cNvPr id="30" name="Shape 28"/>
          <p:cNvSpPr/>
          <p:nvPr/>
        </p:nvSpPr>
        <p:spPr>
          <a:xfrm>
            <a:off x="6208776" y="4199709"/>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31" name="Text 29"/>
          <p:cNvSpPr/>
          <p:nvPr/>
        </p:nvSpPr>
        <p:spPr>
          <a:xfrm>
            <a:off x="6345936" y="4291149"/>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Supplier relationship risks</a:t>
            </a:r>
            <a:endParaRPr lang="en-US" sz="1200" dirty="0"/>
          </a:p>
        </p:txBody>
      </p:sp>
      <p:sp>
        <p:nvSpPr>
          <p:cNvPr id="32" name="Text 30"/>
          <p:cNvSpPr/>
          <p:nvPr/>
        </p:nvSpPr>
        <p:spPr>
          <a:xfrm>
            <a:off x="6345936" y="4620333"/>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Inability to procure alternatives, potential supply chain disruptions, and exposure to claims.  |  Brief: Reliance on limited or single-source suppliers without long-term guarantees for availability or terms.</a:t>
            </a:r>
            <a:endParaRPr lang="en-US" sz="900" dirty="0"/>
          </a:p>
        </p:txBody>
      </p:sp>
      <p:sp>
        <p:nvSpPr>
          <p:cNvPr id="33" name="Shape 31"/>
          <p:cNvSpPr/>
          <p:nvPr/>
        </p:nvSpPr>
        <p:spPr>
          <a:xfrm>
            <a:off x="457200" y="4963886"/>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34" name="Text 32"/>
          <p:cNvSpPr/>
          <p:nvPr/>
        </p:nvSpPr>
        <p:spPr>
          <a:xfrm>
            <a:off x="594360" y="5055326"/>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Acquisition and investment integration</a:t>
            </a:r>
            <a:endParaRPr lang="en-US" sz="1200" dirty="0"/>
          </a:p>
        </p:txBody>
      </p:sp>
      <p:sp>
        <p:nvSpPr>
          <p:cNvPr id="35" name="Text 33"/>
          <p:cNvSpPr/>
          <p:nvPr/>
        </p:nvSpPr>
        <p:spPr>
          <a:xfrm>
            <a:off x="594360" y="5384510"/>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Disruption of ongoing business, operating losses, and potential impairment of assets.  |  Brief: Difficulties in successfully integrating acquired companies, technologies, and systems.</a:t>
            </a:r>
            <a:endParaRPr lang="en-US" sz="900" dirty="0"/>
          </a:p>
        </p:txBody>
      </p:sp>
      <p:sp>
        <p:nvSpPr>
          <p:cNvPr id="36" name="Shape 34"/>
          <p:cNvSpPr/>
          <p:nvPr/>
        </p:nvSpPr>
        <p:spPr>
          <a:xfrm>
            <a:off x="6208776" y="4963886"/>
            <a:ext cx="5522976" cy="581297"/>
          </a:xfrm>
          <a:prstGeom prst="roundRect">
            <a:avLst>
              <a:gd name="adj" fmla="val 9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37" name="Text 35"/>
          <p:cNvSpPr/>
          <p:nvPr/>
        </p:nvSpPr>
        <p:spPr>
          <a:xfrm>
            <a:off x="6345936" y="5055326"/>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Evolving government regulation</a:t>
            </a:r>
            <a:endParaRPr lang="en-US" sz="1200" dirty="0"/>
          </a:p>
        </p:txBody>
      </p:sp>
      <p:sp>
        <p:nvSpPr>
          <p:cNvPr id="38" name="Text 36"/>
          <p:cNvSpPr/>
          <p:nvPr/>
        </p:nvSpPr>
        <p:spPr>
          <a:xfrm>
            <a:off x="6345936" y="5384510"/>
            <a:ext cx="5248656" cy="69233"/>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Substantial costs, civil/criminal liability, diminished demand, and forced changes to business practices.  |  Brief: Unfavorable changes in laws governing the internet, retail, data, and AI could harm business operations.</a:t>
            </a:r>
            <a:endParaRPr lang="en-US" sz="900" dirty="0"/>
          </a:p>
        </p:txBody>
      </p:sp>
      <p:sp>
        <p:nvSpPr>
          <p:cNvPr id="39" name="Text 3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40" name="Text 3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Market &amp; Technology</a:t>
            </a:r>
            <a:endParaRPr lang="en-US"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Latest News</a:t>
            </a:r>
            <a:endParaRPr lang="en-US" sz="2600" dirty="0"/>
          </a:p>
        </p:txBody>
      </p:sp>
      <p:sp>
        <p:nvSpPr>
          <p:cNvPr id="3" name="Shape 1"/>
          <p:cNvSpPr/>
          <p:nvPr/>
        </p:nvSpPr>
        <p:spPr>
          <a:xfrm>
            <a:off x="457200" y="1097280"/>
            <a:ext cx="11274552" cy="411480"/>
          </a:xfrm>
          <a:prstGeom prst="roundRect">
            <a:avLst>
              <a:gd name="adj" fmla="val 13333"/>
            </a:avLst>
          </a:prstGeom>
          <a:solidFill>
            <a:srgbClr val="1F2D50"/>
          </a:solidFill>
          <a:ln/>
        </p:spPr>
      </p:sp>
      <p:sp>
        <p:nvSpPr>
          <p:cNvPr id="4" name="Text 2"/>
          <p:cNvSpPr/>
          <p:nvPr/>
        </p:nvSpPr>
        <p:spPr>
          <a:xfrm>
            <a:off x="457200" y="1097280"/>
            <a:ext cx="11274552"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Partnership</a:t>
            </a:r>
            <a:endParaRPr lang="en-US" sz="1100" dirty="0"/>
          </a:p>
        </p:txBody>
      </p:sp>
      <p:sp>
        <p:nvSpPr>
          <p:cNvPr id="5" name="Shape 3"/>
          <p:cNvSpPr/>
          <p:nvPr/>
        </p:nvSpPr>
        <p:spPr>
          <a:xfrm>
            <a:off x="457200" y="1645920"/>
            <a:ext cx="11274552" cy="1261872"/>
          </a:xfrm>
          <a:prstGeom prst="roundRect">
            <a:avLst>
              <a:gd name="adj" fmla="val 434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6" name="Text 4"/>
          <p:cNvSpPr/>
          <p:nvPr/>
        </p:nvSpPr>
        <p:spPr>
          <a:xfrm>
            <a:off x="566928" y="1883664"/>
            <a:ext cx="11055096" cy="365760"/>
          </a:xfrm>
          <a:prstGeom prst="rect">
            <a:avLst/>
          </a:prstGeom>
          <a:noFill/>
          <a:ln/>
        </p:spPr>
        <p:txBody>
          <a:bodyPr wrap="square" rtlCol="0" anchor="t">
            <a:normAutofit/>
          </a:bodyPr>
          <a:lstStyle/>
          <a:p>
            <a:pPr indent="0" marL="0">
              <a:buNone/>
            </a:pPr>
            <a:endParaRPr lang="en-US" sz="950" dirty="0"/>
          </a:p>
        </p:txBody>
      </p:sp>
      <p:sp>
        <p:nvSpPr>
          <p:cNvPr id="7" name="Text 5"/>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8" name="Text 6"/>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IT Spending</a:t>
            </a:r>
            <a:endParaRPr lang="en-US" sz="2600" dirty="0"/>
          </a:p>
        </p:txBody>
      </p:sp>
      <p:sp>
        <p:nvSpPr>
          <p:cNvPr id="3" name="Shape 1"/>
          <p:cNvSpPr/>
          <p:nvPr/>
        </p:nvSpPr>
        <p:spPr>
          <a:xfrm>
            <a:off x="457200" y="1143000"/>
            <a:ext cx="11274552" cy="5166360"/>
          </a:xfrm>
          <a:prstGeom prst="roundRect">
            <a:avLst>
              <a:gd name="adj" fmla="val 106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731520" y="1280160"/>
            <a:ext cx="10725912" cy="4937760"/>
          </a:xfrm>
          <a:prstGeom prst="rect">
            <a:avLst/>
          </a:prstGeom>
          <a:noFill/>
          <a:ln/>
        </p:spPr>
        <p:txBody>
          <a:bodyPr wrap="square" rtlCol="0" anchor="ctr">
            <a:normAutofit/>
          </a:bodyPr>
          <a:lstStyle/>
          <a:p>
            <a:pPr indent="0" marL="0">
              <a:buNone/>
            </a:pPr>
            <a:r>
              <a:rPr lang="en-US" sz="1300" dirty="0">
                <a:solidFill>
                  <a:srgbClr val="13192E"/>
                </a:solidFill>
                <a:latin typeface="Calibri" pitchFamily="34" charset="0"/>
                <a:ea typeface="Calibri" pitchFamily="34" charset="-122"/>
                <a:cs typeface="Calibri" pitchFamily="34" charset="-120"/>
              </a:rPr>
              <a:t>The company invests in technology and infrastructure, including scaling its technology infrastructure, adopting artificial intelligence and machine learning technologies, and expanding its data centers, which requires significant financial and managerial resources.</a:t>
            </a:r>
            <a:endParaRPr lang="en-US" sz="1300" dirty="0"/>
          </a:p>
        </p:txBody>
      </p:sp>
      <p:sp>
        <p:nvSpPr>
          <p:cNvPr id="5" name="Text 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6" name="Text 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Deals</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4552" cy="914400"/>
        </p:xfrm>
        <a:graphic>
          <a:graphicData uri="http://schemas.openxmlformats.org/drawingml/2006/table">
            <a:tbl>
              <a:tblPr/>
              <a:tblGrid>
                <a:gridCol w="2560320"/>
                <a:gridCol w="1463040"/>
                <a:gridCol w="1463040"/>
                <a:gridCol w="578815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Vendor</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Start Date</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End Date</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Contract Details</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AMAZON MICRO INC.</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2018-02-09</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2018-05-07</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SAMSUNG WIFI HOTSPOTS — contract value $184</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bl>
          </a:graphicData>
        </a:graphic>
      </p:graphicFrame>
      <p:sp>
        <p:nvSpPr>
          <p:cNvPr id="4" name="Text 1"/>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5" name="Text 2"/>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Industry Outlook</a:t>
            </a:r>
            <a:endParaRPr 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Industry Indicators</a:t>
            </a:r>
            <a:endParaRPr lang="en-US" sz="2600" dirty="0"/>
          </a:p>
        </p:txBody>
      </p:sp>
      <p:sp>
        <p:nvSpPr>
          <p:cNvPr id="3" name="Text 1"/>
          <p:cNvSpPr/>
          <p:nvPr/>
        </p:nvSpPr>
        <p:spPr>
          <a:xfrm>
            <a:off x="457200" y="1188720"/>
            <a:ext cx="2743200" cy="320040"/>
          </a:xfrm>
          <a:prstGeom prst="rect">
            <a:avLst/>
          </a:prstGeom>
          <a:noFill/>
          <a:ln/>
        </p:spPr>
        <p:txBody>
          <a:bodyPr wrap="square" rtlCol="0" anchor="ctr"/>
          <a:lstStyle/>
          <a:p>
            <a:pPr indent="0" marL="0">
              <a:buNone/>
            </a:pPr>
            <a:r>
              <a:rPr lang="en-US" sz="1200" b="1" dirty="0">
                <a:solidFill>
                  <a:srgbClr val="1F2D50"/>
                </a:solidFill>
                <a:latin typeface="Calibri" pitchFamily="34" charset="0"/>
                <a:ea typeface="Calibri" pitchFamily="34" charset="-122"/>
                <a:cs typeface="Calibri" pitchFamily="34" charset="-120"/>
              </a:rPr>
              <a:t>Growth Rating</a:t>
            </a:r>
            <a:endParaRPr lang="en-US" sz="1200" dirty="0"/>
          </a:p>
        </p:txBody>
      </p:sp>
      <p:sp>
        <p:nvSpPr>
          <p:cNvPr id="4" name="Shape 2"/>
          <p:cNvSpPr/>
          <p:nvPr/>
        </p:nvSpPr>
        <p:spPr>
          <a:xfrm>
            <a:off x="457200" y="1600200"/>
            <a:ext cx="1645920" cy="548640"/>
          </a:xfrm>
          <a:prstGeom prst="roundRect">
            <a:avLst>
              <a:gd name="adj" fmla="val 13333"/>
            </a:avLst>
          </a:prstGeom>
          <a:solidFill>
            <a:srgbClr val="F4F6F9"/>
          </a:solidFill>
          <a:ln w="12700">
            <a:solidFill>
              <a:srgbClr val="E3E7EE"/>
            </a:solidFill>
            <a:prstDash val="solid"/>
          </a:ln>
        </p:spPr>
      </p:sp>
      <p:sp>
        <p:nvSpPr>
          <p:cNvPr id="5" name="Text 3"/>
          <p:cNvSpPr/>
          <p:nvPr/>
        </p:nvSpPr>
        <p:spPr>
          <a:xfrm>
            <a:off x="457200" y="1600200"/>
            <a:ext cx="1645920" cy="548640"/>
          </a:xfrm>
          <a:prstGeom prst="rect">
            <a:avLst/>
          </a:prstGeom>
          <a:noFill/>
          <a:ln/>
        </p:spPr>
        <p:txBody>
          <a:bodyPr wrap="square"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Low</a:t>
            </a:r>
            <a:endParaRPr lang="en-US" sz="1100" dirty="0"/>
          </a:p>
        </p:txBody>
      </p:sp>
      <p:sp>
        <p:nvSpPr>
          <p:cNvPr id="6" name="Shape 4"/>
          <p:cNvSpPr/>
          <p:nvPr/>
        </p:nvSpPr>
        <p:spPr>
          <a:xfrm>
            <a:off x="2286000" y="1600200"/>
            <a:ext cx="1645920" cy="548640"/>
          </a:xfrm>
          <a:prstGeom prst="roundRect">
            <a:avLst>
              <a:gd name="adj" fmla="val 13333"/>
            </a:avLst>
          </a:prstGeom>
          <a:solidFill>
            <a:srgbClr val="2E6F9E"/>
          </a:solidFill>
          <a:ln w="12700">
            <a:solidFill>
              <a:srgbClr val="E3E7EE"/>
            </a:solidFill>
            <a:prstDash val="solid"/>
          </a:ln>
        </p:spPr>
      </p:sp>
      <p:sp>
        <p:nvSpPr>
          <p:cNvPr id="7" name="Text 5"/>
          <p:cNvSpPr/>
          <p:nvPr/>
        </p:nvSpPr>
        <p:spPr>
          <a:xfrm>
            <a:off x="2286000" y="1600200"/>
            <a:ext cx="164592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Medium</a:t>
            </a:r>
            <a:endParaRPr lang="en-US" sz="1100" dirty="0"/>
          </a:p>
        </p:txBody>
      </p:sp>
      <p:sp>
        <p:nvSpPr>
          <p:cNvPr id="8" name="Shape 6"/>
          <p:cNvSpPr/>
          <p:nvPr/>
        </p:nvSpPr>
        <p:spPr>
          <a:xfrm>
            <a:off x="4114800" y="1600200"/>
            <a:ext cx="1645920" cy="548640"/>
          </a:xfrm>
          <a:prstGeom prst="roundRect">
            <a:avLst>
              <a:gd name="adj" fmla="val 13333"/>
            </a:avLst>
          </a:prstGeom>
          <a:solidFill>
            <a:srgbClr val="F4F6F9"/>
          </a:solidFill>
          <a:ln w="12700">
            <a:solidFill>
              <a:srgbClr val="E3E7EE"/>
            </a:solidFill>
            <a:prstDash val="solid"/>
          </a:ln>
        </p:spPr>
      </p:sp>
      <p:sp>
        <p:nvSpPr>
          <p:cNvPr id="9" name="Text 7"/>
          <p:cNvSpPr/>
          <p:nvPr/>
        </p:nvSpPr>
        <p:spPr>
          <a:xfrm>
            <a:off x="4114800" y="1600200"/>
            <a:ext cx="1645920" cy="548640"/>
          </a:xfrm>
          <a:prstGeom prst="rect">
            <a:avLst/>
          </a:prstGeom>
          <a:noFill/>
          <a:ln/>
        </p:spPr>
        <p:txBody>
          <a:bodyPr wrap="square"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High</a:t>
            </a:r>
            <a:endParaRPr lang="en-US" sz="1100" dirty="0"/>
          </a:p>
        </p:txBody>
      </p:sp>
      <p:sp>
        <p:nvSpPr>
          <p:cNvPr id="10" name="Shape 8"/>
          <p:cNvSpPr/>
          <p:nvPr/>
        </p:nvSpPr>
        <p:spPr>
          <a:xfrm>
            <a:off x="457200" y="251460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1" name="Text 9"/>
          <p:cNvSpPr/>
          <p:nvPr/>
        </p:nvSpPr>
        <p:spPr>
          <a:xfrm>
            <a:off x="640080" y="251460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Demand Trend</a:t>
            </a:r>
            <a:endParaRPr lang="en-US" sz="1100" dirty="0"/>
          </a:p>
        </p:txBody>
      </p:sp>
      <p:sp>
        <p:nvSpPr>
          <p:cNvPr id="12" name="Text 10"/>
          <p:cNvSpPr/>
          <p:nvPr/>
        </p:nvSpPr>
        <p:spPr>
          <a:xfrm>
            <a:off x="3931920" y="251460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High</a:t>
            </a:r>
            <a:endParaRPr lang="en-US" sz="1100" dirty="0"/>
          </a:p>
        </p:txBody>
      </p:sp>
      <p:sp>
        <p:nvSpPr>
          <p:cNvPr id="13" name="Shape 11"/>
          <p:cNvSpPr/>
          <p:nvPr/>
        </p:nvSpPr>
        <p:spPr>
          <a:xfrm>
            <a:off x="457200" y="310896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4" name="Text 12"/>
          <p:cNvSpPr/>
          <p:nvPr/>
        </p:nvSpPr>
        <p:spPr>
          <a:xfrm>
            <a:off x="640080" y="310896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Technology Adoption</a:t>
            </a:r>
            <a:endParaRPr lang="en-US" sz="1100" dirty="0"/>
          </a:p>
        </p:txBody>
      </p:sp>
      <p:sp>
        <p:nvSpPr>
          <p:cNvPr id="15" name="Text 13"/>
          <p:cNvSpPr/>
          <p:nvPr/>
        </p:nvSpPr>
        <p:spPr>
          <a:xfrm>
            <a:off x="3931920" y="310896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Aggressive</a:t>
            </a:r>
            <a:endParaRPr lang="en-US" sz="1100" dirty="0"/>
          </a:p>
        </p:txBody>
      </p:sp>
      <p:sp>
        <p:nvSpPr>
          <p:cNvPr id="16" name="Shape 14"/>
          <p:cNvSpPr/>
          <p:nvPr/>
        </p:nvSpPr>
        <p:spPr>
          <a:xfrm>
            <a:off x="457200" y="370332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7" name="Text 15"/>
          <p:cNvSpPr/>
          <p:nvPr/>
        </p:nvSpPr>
        <p:spPr>
          <a:xfrm>
            <a:off x="640080" y="370332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Spending Trend</a:t>
            </a:r>
            <a:endParaRPr lang="en-US" sz="1100" dirty="0"/>
          </a:p>
        </p:txBody>
      </p:sp>
      <p:sp>
        <p:nvSpPr>
          <p:cNvPr id="18" name="Text 16"/>
          <p:cNvSpPr/>
          <p:nvPr/>
        </p:nvSpPr>
        <p:spPr>
          <a:xfrm>
            <a:off x="3931920" y="370332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High</a:t>
            </a:r>
            <a:endParaRPr lang="en-US" sz="1100" dirty="0"/>
          </a:p>
        </p:txBody>
      </p:sp>
      <p:sp>
        <p:nvSpPr>
          <p:cNvPr id="19" name="Shape 17"/>
          <p:cNvSpPr/>
          <p:nvPr/>
        </p:nvSpPr>
        <p:spPr>
          <a:xfrm>
            <a:off x="457200" y="429768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0" name="Text 18"/>
          <p:cNvSpPr/>
          <p:nvPr/>
        </p:nvSpPr>
        <p:spPr>
          <a:xfrm>
            <a:off x="640080" y="429768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Regulatory Environment</a:t>
            </a:r>
            <a:endParaRPr lang="en-US" sz="1100" dirty="0"/>
          </a:p>
        </p:txBody>
      </p:sp>
      <p:sp>
        <p:nvSpPr>
          <p:cNvPr id="21" name="Text 19"/>
          <p:cNvSpPr/>
          <p:nvPr/>
        </p:nvSpPr>
        <p:spPr>
          <a:xfrm>
            <a:off x="3931920" y="429768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Complex</a:t>
            </a:r>
            <a:endParaRPr lang="en-US" sz="1100" dirty="0"/>
          </a:p>
        </p:txBody>
      </p:sp>
      <p:sp>
        <p:nvSpPr>
          <p:cNvPr id="22" name="Shape 20"/>
          <p:cNvSpPr/>
          <p:nvPr/>
        </p:nvSpPr>
        <p:spPr>
          <a:xfrm>
            <a:off x="457200" y="489204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3" name="Text 21"/>
          <p:cNvSpPr/>
          <p:nvPr/>
        </p:nvSpPr>
        <p:spPr>
          <a:xfrm>
            <a:off x="640080" y="489204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Competitive Intensity</a:t>
            </a:r>
            <a:endParaRPr lang="en-US" sz="1100" dirty="0"/>
          </a:p>
        </p:txBody>
      </p:sp>
      <p:sp>
        <p:nvSpPr>
          <p:cNvPr id="24" name="Text 22"/>
          <p:cNvSpPr/>
          <p:nvPr/>
        </p:nvSpPr>
        <p:spPr>
          <a:xfrm>
            <a:off x="3931920" y="489204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High</a:t>
            </a:r>
            <a:endParaRPr lang="en-US" sz="1100" dirty="0"/>
          </a:p>
        </p:txBody>
      </p:sp>
      <p:sp>
        <p:nvSpPr>
          <p:cNvPr id="25" name="Shape 23"/>
          <p:cNvSpPr/>
          <p:nvPr/>
        </p:nvSpPr>
        <p:spPr>
          <a:xfrm>
            <a:off x="457200" y="548640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6" name="Text 24"/>
          <p:cNvSpPr/>
          <p:nvPr/>
        </p:nvSpPr>
        <p:spPr>
          <a:xfrm>
            <a:off x="640080" y="548640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Outlook</a:t>
            </a:r>
            <a:endParaRPr lang="en-US" sz="1100" dirty="0"/>
          </a:p>
        </p:txBody>
      </p:sp>
      <p:sp>
        <p:nvSpPr>
          <p:cNvPr id="27" name="Text 25"/>
          <p:cNvSpPr/>
          <p:nvPr/>
        </p:nvSpPr>
        <p:spPr>
          <a:xfrm>
            <a:off x="3931920" y="548640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Positive</a:t>
            </a:r>
            <a:endParaRPr lang="en-US" sz="1100" dirty="0"/>
          </a:p>
        </p:txBody>
      </p:sp>
      <p:sp>
        <p:nvSpPr>
          <p:cNvPr id="28" name="Text 26"/>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29" name="Text 27"/>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Industry Forecast &amp; Competitive Landscape</a:t>
            </a:r>
            <a:endParaRPr lang="en-US" sz="2600" dirty="0"/>
          </a:p>
        </p:txBody>
      </p:sp>
      <p:sp>
        <p:nvSpPr>
          <p:cNvPr id="3" name="Shape 1"/>
          <p:cNvSpPr/>
          <p:nvPr/>
        </p:nvSpPr>
        <p:spPr>
          <a:xfrm>
            <a:off x="457200" y="1143000"/>
            <a:ext cx="11274552" cy="3655687"/>
          </a:xfrm>
          <a:prstGeom prst="roundRect">
            <a:avLst>
              <a:gd name="adj" fmla="val 150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685800" y="1234440"/>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Forecast</a:t>
            </a:r>
            <a:endParaRPr lang="en-US" sz="1200" dirty="0"/>
          </a:p>
        </p:txBody>
      </p:sp>
      <p:sp>
        <p:nvSpPr>
          <p:cNvPr id="5" name="Text 3"/>
          <p:cNvSpPr/>
          <p:nvPr/>
        </p:nvSpPr>
        <p:spPr>
          <a:xfrm>
            <a:off x="685800" y="1527048"/>
            <a:ext cx="10817352" cy="3244207"/>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The company is positioned for a strong near-term growth trajectory, evidenced by a 12.38% overall revenue increase and a robust 19.68% growth rate in its high-margin AWS segment. Future expansion will be driven by continued heavy investment in technology infrastructure, artificial intelligence, and global market reach. While international operations and cloud services provide significant momentum, the company must navigate risks associated with rapid scaling, fulfillment network optimization, and intense competition for skilled personnel.</a:t>
            </a:r>
            <a:endParaRPr lang="en-US" sz="950" dirty="0"/>
          </a:p>
        </p:txBody>
      </p:sp>
      <p:sp>
        <p:nvSpPr>
          <p:cNvPr id="6" name="Shape 4"/>
          <p:cNvSpPr/>
          <p:nvPr/>
        </p:nvSpPr>
        <p:spPr>
          <a:xfrm>
            <a:off x="457200" y="4935847"/>
            <a:ext cx="11274552" cy="1236353"/>
          </a:xfrm>
          <a:prstGeom prst="roundRect">
            <a:avLst>
              <a:gd name="adj" fmla="val 4438"/>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85800" y="5027287"/>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Growth Drivers</a:t>
            </a:r>
            <a:endParaRPr lang="en-US" sz="1200" dirty="0"/>
          </a:p>
        </p:txBody>
      </p:sp>
      <p:sp>
        <p:nvSpPr>
          <p:cNvPr id="8" name="Text 6"/>
          <p:cNvSpPr/>
          <p:nvPr/>
        </p:nvSpPr>
        <p:spPr>
          <a:xfrm>
            <a:off x="685800" y="5319895"/>
            <a:ext cx="10817352" cy="824873"/>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Cloud computing adoption, artificial intelligence and machine learning integration, global e-commerce expansion, infrastructure and fulfillment network optimization, digital service diversification</a:t>
            </a:r>
            <a:endParaRPr lang="en-US" sz="950" dirty="0"/>
          </a:p>
        </p:txBody>
      </p:sp>
      <p:sp>
        <p:nvSpPr>
          <p:cNvPr id="9" name="Text 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AMAZON COM INC</a:t>
            </a:r>
            <a:endParaRPr lang="en-US" sz="900" dirty="0"/>
          </a:p>
        </p:txBody>
      </p:sp>
      <p:sp>
        <p:nvSpPr>
          <p:cNvPr id="10" name="Text 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192E"/>
        </a:solidFill>
      </p:bgPr>
    </p:bg>
    <p:spTree>
      <p:nvGrpSpPr>
        <p:cNvPr id="1" name=""/>
        <p:cNvGrpSpPr/>
        <p:nvPr/>
      </p:nvGrpSpPr>
      <p:grpSpPr>
        <a:xfrm>
          <a:off x="0" y="0"/>
          <a:ext cx="0" cy="0"/>
          <a:chOff x="0" y="0"/>
          <a:chExt cx="0" cy="0"/>
        </a:xfrm>
      </p:grpSpPr>
      <p:sp>
        <p:nvSpPr>
          <p:cNvPr id="2" name="Text 0"/>
          <p:cNvSpPr/>
          <p:nvPr/>
        </p:nvSpPr>
        <p:spPr>
          <a:xfrm>
            <a:off x="731520" y="2743200"/>
            <a:ext cx="10725912"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731520" y="3566160"/>
            <a:ext cx="10725912" cy="457200"/>
          </a:xfrm>
          <a:prstGeom prst="rect">
            <a:avLst/>
          </a:prstGeom>
          <a:noFill/>
          <a:ln/>
        </p:spPr>
        <p:txBody>
          <a:bodyPr wrap="square" rtlCol="0" anchor="ctr"/>
          <a:lstStyle/>
          <a:p>
            <a:pPr indent="0" marL="0">
              <a:buNone/>
            </a:pPr>
            <a:r>
              <a:rPr lang="en-US" sz="1400" dirty="0">
                <a:solidFill>
                  <a:srgbClr val="AFC6E3"/>
                </a:solidFill>
                <a:latin typeface="Calibri" pitchFamily="34" charset="0"/>
                <a:ea typeface="Calibri" pitchFamily="34" charset="-122"/>
                <a:cs typeface="Calibri" pitchFamily="34" charset="-120"/>
              </a:rPr>
              <a:t>AMAZON COM INC — Company Intelligence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2026-08-20T10:03:35Z</dcterms:created>
  <dcterms:modified xsi:type="dcterms:W3CDTF">2026-08-20T10:03:35Z</dcterms:modified>
</cp:coreProperties>
</file>