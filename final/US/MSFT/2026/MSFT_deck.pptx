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Revenue / Operating Income / Net Income ($B)</a:t>
            </a:r>
          </a:p>
        </c:rich>
      </c:tx>
      <c:layout/>
      <c:overlay val="0"/>
    </c:title>
    <c:autoTitleDeleted val="0"/>
    <c:plotArea>
      <c:layout/>
      <c:barChart>
        <c:barDir val="col"/>
        <c:grouping val="clustered"/>
        <c:varyColors val="0"/>
        <c:ser>
          <c:idx val="0"/>
          <c:order val="0"/>
          <c:tx>
            <c:strRef>
              <c:f>Sheet1!$B$1</c:f>
              <c:strCache>
                <c:ptCount val="1"/>
                <c:pt idx="0">
                  <c:v>Revenue ($)</c:v>
                </c:pt>
              </c:strCache>
            </c:strRef>
          </c:tx>
          <c:spPr>
            <a:solidFill>
              <a:srgbClr val="1F2D5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 yrs prior</c:v>
                  </c:pt>
                  <c:pt idx="1">
                    <c:v>Prior year</c:v>
                  </c:pt>
                  <c:pt idx="2">
                    <c:v>2026</c:v>
                  </c:pt>
                </c:lvl>
              </c:multiLvlStrCache>
            </c:multiLvlStrRef>
          </c:cat>
          <c:val>
            <c:numRef>
              <c:f>Sheet1!$B$2:$B$4</c:f>
              <c:numCache>
                <c:formatCode>General</c:formatCode>
                <c:ptCount val="3"/>
                <c:pt idx="0">
                  <c:v>245.122</c:v>
                </c:pt>
                <c:pt idx="1">
                  <c:v>281.724</c:v>
                </c:pt>
                <c:pt idx="2">
                  <c:v>331.839</c:v>
                </c:pt>
              </c:numCache>
            </c:numRef>
          </c:val>
        </c:ser>
        <c:ser>
          <c:idx val="1"/>
          <c:order val="1"/>
          <c:tx>
            <c:strRef>
              <c:f>Sheet1!$C$1</c:f>
              <c:strCache>
                <c:ptCount val="1"/>
                <c:pt idx="0">
                  <c:v>Operating Income ($)</c:v>
                </c:pt>
              </c:strCache>
            </c:strRef>
          </c:tx>
          <c:spPr>
            <a:solidFill>
              <a:srgbClr val="2E6F9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 yrs prior</c:v>
                  </c:pt>
                  <c:pt idx="1">
                    <c:v>Prior year</c:v>
                  </c:pt>
                  <c:pt idx="2">
                    <c:v>2026</c:v>
                  </c:pt>
                </c:lvl>
              </c:multiLvlStrCache>
            </c:multiLvlStrRef>
          </c:cat>
          <c:val>
            <c:numRef>
              <c:f>Sheet1!$C$2:$C$4</c:f>
              <c:numCache>
                <c:formatCode>General</c:formatCode>
                <c:ptCount val="3"/>
                <c:pt idx="0">
                  <c:v>109.433</c:v>
                </c:pt>
                <c:pt idx="1">
                  <c:v>128.528</c:v>
                </c:pt>
                <c:pt idx="2">
                  <c:v>155.237</c:v>
                </c:pt>
              </c:numCache>
            </c:numRef>
          </c:val>
        </c:ser>
        <c:ser>
          <c:idx val="2"/>
          <c:order val="2"/>
          <c:tx>
            <c:strRef>
              <c:f>Sheet1!$D$1</c:f>
              <c:strCache>
                <c:ptCount val="1"/>
                <c:pt idx="0">
                  <c:v>Net Income ($)</c:v>
                </c:pt>
              </c:strCache>
            </c:strRef>
          </c:tx>
          <c:spPr>
            <a:solidFill>
              <a:srgbClr val="9DB4C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2 yrs prior</c:v>
                  </c:pt>
                  <c:pt idx="1">
                    <c:v>Prior year</c:v>
                  </c:pt>
                  <c:pt idx="2">
                    <c:v>2026</c:v>
                  </c:pt>
                </c:lvl>
              </c:multiLvlStrCache>
            </c:multiLvlStrRef>
          </c:cat>
          <c:val>
            <c:numRef>
              <c:f>Sheet1!$D$2:$D$4</c:f>
              <c:numCache>
                <c:formatCode>General</c:formatCode>
                <c:ptCount val="3"/>
                <c:pt idx="0">
                  <c:v>88.136</c:v>
                </c:pt>
                <c:pt idx="1">
                  <c:v>101.832</c:v>
                </c:pt>
                <c:pt idx="2">
                  <c:v>133.749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www.linkedin.com/search/results/people/?keywords=Satya%20Nadella%20MICROSOFT%20CORP" TargetMode="External"/><Relationship Id="rId4" Type="http://schemas.openxmlformats.org/officeDocument/2006/relationships/hyperlink" Target="https://www.linkedin.com/search/results/people/?keywords=Amy%20E.%20Hood%20MICROSOFT%20CORP" TargetMode="External"/><Relationship Id="rId5" Type="http://schemas.openxmlformats.org/officeDocument/2006/relationships/hyperlink" Target="https://www.linkedin.com/search/results/people/?keywords=Alice%20L.%20Jolla%20MICROSOFT%20CORP" TargetMode="External"/><Relationship Id="rId1" Type="http://schemas.openxmlformats.org/officeDocument/2006/relationships/image" Target="../media/image-6-1.jpg"/><Relationship Id="rId3" Type="http://schemas.openxmlformats.org/officeDocument/2006/relationships/image" Target="../media/image-6-2.jp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www.c-sharpcorner.com/article/extract-text-from-a-word-document-in-power-automate-using-only-the-sharepoint-co/" TargetMode="External"/><Relationship Id="rId2" Type="http://schemas.openxmlformats.org/officeDocument/2006/relationships/hyperlink" Target="https://www.c-sharpcorner.com/article/building-user-delegated-ai-tools-with-microsoft-foundry-toolboxes/" TargetMode="External"/><Relationship Id="rId3" Type="http://schemas.openxmlformats.org/officeDocument/2006/relationships/hyperlink" Target="https://www.c-sharpcorner.com/article/microsoft-extensions-ai-routing-benchmarking-cost-latency-and-failover/" TargetMode="External"/><Relationship Id="rId4" Type="http://schemas.openxmlformats.org/officeDocument/2006/relationships/hyperlink" Target="https://thehackernews.com/2026/08/microsoft-links-30-rotating-domains-to.html" TargetMode="External"/><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92E"/>
        </a:solidFill>
      </p:bgPr>
    </p:bg>
    <p:spTree>
      <p:nvGrpSpPr>
        <p:cNvPr id="1" name=""/>
        <p:cNvGrpSpPr/>
        <p:nvPr/>
      </p:nvGrpSpPr>
      <p:grpSpPr>
        <a:xfrm>
          <a:off x="0" y="0"/>
          <a:ext cx="0" cy="0"/>
          <a:chOff x="0" y="0"/>
          <a:chExt cx="0" cy="0"/>
        </a:xfrm>
      </p:grpSpPr>
      <p:sp>
        <p:nvSpPr>
          <p:cNvPr id="2" name="Text 0"/>
          <p:cNvSpPr/>
          <p:nvPr/>
        </p:nvSpPr>
        <p:spPr>
          <a:xfrm>
            <a:off x="731520" y="2468880"/>
            <a:ext cx="10725912" cy="118872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MICROSOFT CORP</a:t>
            </a:r>
            <a:endParaRPr lang="en-US" sz="4400" dirty="0"/>
          </a:p>
        </p:txBody>
      </p:sp>
      <p:sp>
        <p:nvSpPr>
          <p:cNvPr id="3" name="Text 1"/>
          <p:cNvSpPr/>
          <p:nvPr/>
        </p:nvSpPr>
        <p:spPr>
          <a:xfrm>
            <a:off x="731520" y="3566160"/>
            <a:ext cx="10725912" cy="548640"/>
          </a:xfrm>
          <a:prstGeom prst="rect">
            <a:avLst/>
          </a:prstGeom>
          <a:noFill/>
          <a:ln/>
        </p:spPr>
        <p:txBody>
          <a:bodyPr wrap="square" rtlCol="0" anchor="ctr"/>
          <a:lstStyle/>
          <a:p>
            <a:pPr indent="0" marL="0">
              <a:buNone/>
            </a:pPr>
            <a:r>
              <a:rPr lang="en-US" sz="2000" dirty="0">
                <a:solidFill>
                  <a:srgbClr val="AFC6E3"/>
                </a:solidFill>
                <a:latin typeface="Calibri" pitchFamily="34" charset="0"/>
                <a:ea typeface="Calibri" pitchFamily="34" charset="-122"/>
                <a:cs typeface="Calibri" pitchFamily="34" charset="-120"/>
              </a:rPr>
              <a:t>Company Intelligence</a:t>
            </a:r>
            <a:endParaRPr lang="en-US" sz="2000" dirty="0"/>
          </a:p>
        </p:txBody>
      </p:sp>
      <p:sp>
        <p:nvSpPr>
          <p:cNvPr id="4" name="Text 2"/>
          <p:cNvSpPr/>
          <p:nvPr/>
        </p:nvSpPr>
        <p:spPr>
          <a:xfrm>
            <a:off x="731520" y="4069080"/>
            <a:ext cx="3657600" cy="365760"/>
          </a:xfrm>
          <a:prstGeom prst="rect">
            <a:avLst/>
          </a:prstGeom>
          <a:noFill/>
          <a:ln/>
        </p:spPr>
        <p:txBody>
          <a:bodyPr wrap="square" rtlCol="0" anchor="ctr"/>
          <a:lstStyle/>
          <a:p>
            <a:pPr indent="0" marL="0">
              <a:buNone/>
            </a:pPr>
            <a:r>
              <a:rPr lang="en-US" sz="1300" dirty="0">
                <a:solidFill>
                  <a:srgbClr val="7E96BF"/>
                </a:solidFill>
                <a:latin typeface="Calibri" pitchFamily="34" charset="0"/>
                <a:ea typeface="Calibri" pitchFamily="34" charset="-122"/>
                <a:cs typeface="Calibri" pitchFamily="34" charset="-120"/>
              </a:rPr>
              <a:t>MSFT</a:t>
            </a:r>
            <a:endParaRPr lang="en-US" sz="1300" dirty="0"/>
          </a:p>
        </p:txBody>
      </p:sp>
      <p:sp>
        <p:nvSpPr>
          <p:cNvPr id="5" name="Text 3"/>
          <p:cNvSpPr/>
          <p:nvPr/>
        </p:nvSpPr>
        <p:spPr>
          <a:xfrm>
            <a:off x="731520" y="6217920"/>
            <a:ext cx="5486400" cy="365760"/>
          </a:xfrm>
          <a:prstGeom prst="rect">
            <a:avLst/>
          </a:prstGeom>
          <a:noFill/>
          <a:ln/>
        </p:spPr>
        <p:txBody>
          <a:bodyPr wrap="square" rtlCol="0" anchor="ctr"/>
          <a:lstStyle/>
          <a:p>
            <a:pPr indent="0" marL="0">
              <a:buNone/>
            </a:pPr>
            <a:r>
              <a:rPr lang="en-US" sz="1100" dirty="0">
                <a:solidFill>
                  <a:srgbClr val="7E96BF"/>
                </a:solidFill>
                <a:latin typeface="Calibri" pitchFamily="34" charset="0"/>
                <a:ea typeface="Calibri" pitchFamily="34" charset="-122"/>
                <a:cs typeface="Calibri" pitchFamily="34" charset="-120"/>
              </a:rPr>
              <a:t>Information Resource Centre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Company Overview</a:t>
            </a:r>
            <a:endParaRPr lang="en-US" sz="2600" dirty="0"/>
          </a:p>
        </p:txBody>
      </p:sp>
      <p:sp>
        <p:nvSpPr>
          <p:cNvPr id="3" name="Shape 1"/>
          <p:cNvSpPr/>
          <p:nvPr/>
        </p:nvSpPr>
        <p:spPr>
          <a:xfrm>
            <a:off x="457200" y="1143000"/>
            <a:ext cx="203545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66928" y="1234440"/>
            <a:ext cx="1815998"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FOUNDED</a:t>
            </a:r>
            <a:endParaRPr lang="en-US" sz="900" dirty="0"/>
          </a:p>
        </p:txBody>
      </p:sp>
      <p:sp>
        <p:nvSpPr>
          <p:cNvPr id="5" name="Text 3"/>
          <p:cNvSpPr/>
          <p:nvPr/>
        </p:nvSpPr>
        <p:spPr>
          <a:xfrm>
            <a:off x="566928" y="1481328"/>
            <a:ext cx="1815998" cy="594360"/>
          </a:xfrm>
          <a:prstGeom prst="rect">
            <a:avLst/>
          </a:prstGeom>
          <a:noFill/>
          <a:ln/>
        </p:spPr>
        <p:txBody>
          <a:bodyPr wrap="square" rtlCol="0" anchor="t">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1975</a:t>
            </a:r>
            <a:endParaRPr lang="en-US" sz="1200" dirty="0"/>
          </a:p>
        </p:txBody>
      </p:sp>
      <p:sp>
        <p:nvSpPr>
          <p:cNvPr id="6" name="Shape 4"/>
          <p:cNvSpPr/>
          <p:nvPr/>
        </p:nvSpPr>
        <p:spPr>
          <a:xfrm>
            <a:off x="2766974" y="1143000"/>
            <a:ext cx="203545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2876702" y="1234440"/>
            <a:ext cx="1815998"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HEADQUARTERS</a:t>
            </a:r>
            <a:endParaRPr lang="en-US" sz="900" dirty="0"/>
          </a:p>
        </p:txBody>
      </p:sp>
      <p:sp>
        <p:nvSpPr>
          <p:cNvPr id="8" name="Text 6"/>
          <p:cNvSpPr/>
          <p:nvPr/>
        </p:nvSpPr>
        <p:spPr>
          <a:xfrm>
            <a:off x="2876702" y="1481328"/>
            <a:ext cx="1815998" cy="594360"/>
          </a:xfrm>
          <a:prstGeom prst="rect">
            <a:avLst/>
          </a:prstGeom>
          <a:noFill/>
          <a:ln/>
        </p:spPr>
        <p:txBody>
          <a:bodyPr wrap="square" rtlCol="0" anchor="t">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Redmond, Washington</a:t>
            </a:r>
            <a:endParaRPr lang="en-US" sz="1200" dirty="0"/>
          </a:p>
        </p:txBody>
      </p:sp>
      <p:sp>
        <p:nvSpPr>
          <p:cNvPr id="9" name="Shape 7"/>
          <p:cNvSpPr/>
          <p:nvPr/>
        </p:nvSpPr>
        <p:spPr>
          <a:xfrm>
            <a:off x="5076749" y="1143000"/>
            <a:ext cx="203545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Text 8"/>
          <p:cNvSpPr/>
          <p:nvPr/>
        </p:nvSpPr>
        <p:spPr>
          <a:xfrm>
            <a:off x="5186477" y="1234440"/>
            <a:ext cx="1815998"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EMPLOYEES</a:t>
            </a:r>
            <a:endParaRPr lang="en-US" sz="900" dirty="0"/>
          </a:p>
        </p:txBody>
      </p:sp>
      <p:sp>
        <p:nvSpPr>
          <p:cNvPr id="11" name="Text 9"/>
          <p:cNvSpPr/>
          <p:nvPr/>
        </p:nvSpPr>
        <p:spPr>
          <a:xfrm>
            <a:off x="5186477" y="1481328"/>
            <a:ext cx="1815998" cy="594360"/>
          </a:xfrm>
          <a:prstGeom prst="rect">
            <a:avLst/>
          </a:prstGeom>
          <a:noFill/>
          <a:ln/>
        </p:spPr>
        <p:txBody>
          <a:bodyPr wrap="square" rtlCol="0" anchor="t">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approximately 223,000</a:t>
            </a:r>
            <a:endParaRPr lang="en-US" sz="1200" dirty="0"/>
          </a:p>
        </p:txBody>
      </p:sp>
      <p:sp>
        <p:nvSpPr>
          <p:cNvPr id="12" name="Shape 10"/>
          <p:cNvSpPr/>
          <p:nvPr/>
        </p:nvSpPr>
        <p:spPr>
          <a:xfrm>
            <a:off x="7386523" y="1143000"/>
            <a:ext cx="203545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3" name="Text 11"/>
          <p:cNvSpPr/>
          <p:nvPr/>
        </p:nvSpPr>
        <p:spPr>
          <a:xfrm>
            <a:off x="7496251" y="1234440"/>
            <a:ext cx="1815998"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REVENUE</a:t>
            </a:r>
            <a:endParaRPr lang="en-US" sz="900" dirty="0"/>
          </a:p>
        </p:txBody>
      </p:sp>
      <p:sp>
        <p:nvSpPr>
          <p:cNvPr id="14" name="Text 12"/>
          <p:cNvSpPr/>
          <p:nvPr/>
        </p:nvSpPr>
        <p:spPr>
          <a:xfrm>
            <a:off x="7496251" y="1481328"/>
            <a:ext cx="1815998" cy="594360"/>
          </a:xfrm>
          <a:prstGeom prst="rect">
            <a:avLst/>
          </a:prstGeom>
          <a:noFill/>
          <a:ln/>
        </p:spPr>
        <p:txBody>
          <a:bodyPr wrap="square" rtlCol="0" anchor="t">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$331.8B</a:t>
            </a:r>
            <a:endParaRPr lang="en-US" sz="1200" dirty="0"/>
          </a:p>
        </p:txBody>
      </p:sp>
      <p:sp>
        <p:nvSpPr>
          <p:cNvPr id="15" name="Shape 13"/>
          <p:cNvSpPr/>
          <p:nvPr/>
        </p:nvSpPr>
        <p:spPr>
          <a:xfrm>
            <a:off x="9696298" y="1143000"/>
            <a:ext cx="203545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Text 14"/>
          <p:cNvSpPr/>
          <p:nvPr/>
        </p:nvSpPr>
        <p:spPr>
          <a:xfrm>
            <a:off x="9806026" y="1234440"/>
            <a:ext cx="1815998"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MARKET CAP</a:t>
            </a:r>
            <a:endParaRPr lang="en-US" sz="900" dirty="0"/>
          </a:p>
        </p:txBody>
      </p:sp>
      <p:sp>
        <p:nvSpPr>
          <p:cNvPr id="17" name="Text 15"/>
          <p:cNvSpPr/>
          <p:nvPr/>
        </p:nvSpPr>
        <p:spPr>
          <a:xfrm>
            <a:off x="9806026" y="1481328"/>
            <a:ext cx="1815998" cy="594360"/>
          </a:xfrm>
          <a:prstGeom prst="rect">
            <a:avLst/>
          </a:prstGeom>
          <a:noFill/>
          <a:ln/>
        </p:spPr>
        <p:txBody>
          <a:bodyPr wrap="square" rtlCol="0" anchor="t">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$3.6T</a:t>
            </a:r>
            <a:endParaRPr lang="en-US" sz="1200" dirty="0"/>
          </a:p>
        </p:txBody>
      </p:sp>
      <p:sp>
        <p:nvSpPr>
          <p:cNvPr id="18" name="Shape 16"/>
          <p:cNvSpPr/>
          <p:nvPr/>
        </p:nvSpPr>
        <p:spPr>
          <a:xfrm>
            <a:off x="457200" y="2423160"/>
            <a:ext cx="5500116" cy="1417320"/>
          </a:xfrm>
          <a:prstGeom prst="roundRect">
            <a:avLst>
              <a:gd name="adj" fmla="val 3871"/>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9" name="Text 17"/>
          <p:cNvSpPr/>
          <p:nvPr/>
        </p:nvSpPr>
        <p:spPr>
          <a:xfrm>
            <a:off x="594360" y="2514600"/>
            <a:ext cx="5225796"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Brands</a:t>
            </a:r>
            <a:endParaRPr lang="en-US" sz="1200" dirty="0"/>
          </a:p>
        </p:txBody>
      </p:sp>
      <p:sp>
        <p:nvSpPr>
          <p:cNvPr id="20" name="Text 18"/>
          <p:cNvSpPr/>
          <p:nvPr/>
        </p:nvSpPr>
        <p:spPr>
          <a:xfrm>
            <a:off x="594360" y="2807208"/>
            <a:ext cx="5225796" cy="914400"/>
          </a:xfrm>
          <a:prstGeom prst="rect">
            <a:avLst/>
          </a:prstGeom>
          <a:noFill/>
          <a:ln/>
        </p:spPr>
        <p:txBody>
          <a:bodyPr wrap="square" rtlCol="0" anchor="t">
            <a:normAutofit/>
          </a:bodyPr>
          <a:lstStyle/>
          <a:p>
            <a:pPr indent="0" marL="0">
              <a:buNone/>
            </a:pPr>
            <a:r>
              <a:rPr lang="en-US" sz="1000" dirty="0">
                <a:solidFill>
                  <a:srgbClr val="13192E"/>
                </a:solidFill>
                <a:latin typeface="Calibri" pitchFamily="34" charset="0"/>
                <a:ea typeface="Calibri" pitchFamily="34" charset="-122"/>
                <a:cs typeface="Calibri" pitchFamily="34" charset="-120"/>
              </a:rPr>
              <a:t>Windows, XBOX, Microsoft Copilot, Microsoft Edge, Bing, Surface, GitHub, LinkedIn, Dynamics 365, SQL Server, Visual Studio</a:t>
            </a:r>
            <a:endParaRPr lang="en-US" sz="1000" dirty="0"/>
          </a:p>
        </p:txBody>
      </p:sp>
      <p:sp>
        <p:nvSpPr>
          <p:cNvPr id="21" name="Shape 19"/>
          <p:cNvSpPr/>
          <p:nvPr/>
        </p:nvSpPr>
        <p:spPr>
          <a:xfrm>
            <a:off x="6231636" y="2423160"/>
            <a:ext cx="5500116" cy="1417320"/>
          </a:xfrm>
          <a:prstGeom prst="roundRect">
            <a:avLst>
              <a:gd name="adj" fmla="val 3871"/>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2" name="Text 20"/>
          <p:cNvSpPr/>
          <p:nvPr/>
        </p:nvSpPr>
        <p:spPr>
          <a:xfrm>
            <a:off x="6368796" y="2514600"/>
            <a:ext cx="5225796"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Services</a:t>
            </a:r>
            <a:endParaRPr lang="en-US" sz="1200" dirty="0"/>
          </a:p>
        </p:txBody>
      </p:sp>
      <p:sp>
        <p:nvSpPr>
          <p:cNvPr id="23" name="Text 21"/>
          <p:cNvSpPr/>
          <p:nvPr/>
        </p:nvSpPr>
        <p:spPr>
          <a:xfrm>
            <a:off x="6368796" y="2807208"/>
            <a:ext cx="5225796" cy="914400"/>
          </a:xfrm>
          <a:prstGeom prst="rect">
            <a:avLst/>
          </a:prstGeom>
          <a:noFill/>
          <a:ln/>
        </p:spPr>
        <p:txBody>
          <a:bodyPr wrap="square" rtlCol="0" anchor="t">
            <a:normAutofit/>
          </a:bodyPr>
          <a:lstStyle/>
          <a:p>
            <a:pPr indent="0" marL="0">
              <a:buNone/>
            </a:pPr>
            <a:r>
              <a:rPr lang="en-US" sz="1000" dirty="0">
                <a:solidFill>
                  <a:srgbClr val="13192E"/>
                </a:solidFill>
                <a:latin typeface="Calibri" pitchFamily="34" charset="0"/>
                <a:ea typeface="Calibri" pitchFamily="34" charset="-122"/>
                <a:cs typeface="Calibri" pitchFamily="34" charset="-120"/>
              </a:rPr>
              <a:t>cloud services, search advertising, gaming services, enterprise and partner services, consulting services, training and certification</a:t>
            </a:r>
            <a:endParaRPr lang="en-US" sz="1000" dirty="0"/>
          </a:p>
        </p:txBody>
      </p:sp>
      <p:sp>
        <p:nvSpPr>
          <p:cNvPr id="24" name="Shape 22"/>
          <p:cNvSpPr/>
          <p:nvPr/>
        </p:nvSpPr>
        <p:spPr>
          <a:xfrm>
            <a:off x="457200" y="4069080"/>
            <a:ext cx="11000232" cy="2286000"/>
          </a:xfrm>
          <a:prstGeom prst="roundRect">
            <a:avLst>
              <a:gd name="adj" fmla="val 24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5" name="Text 23"/>
          <p:cNvSpPr/>
          <p:nvPr/>
        </p:nvSpPr>
        <p:spPr>
          <a:xfrm>
            <a:off x="594360" y="4160520"/>
            <a:ext cx="10725912"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Key Acquisitions</a:t>
            </a:r>
            <a:endParaRPr lang="en-US" sz="1200" dirty="0"/>
          </a:p>
        </p:txBody>
      </p:sp>
      <p:sp>
        <p:nvSpPr>
          <p:cNvPr id="26" name="Text 24"/>
          <p:cNvSpPr/>
          <p:nvPr/>
        </p:nvSpPr>
        <p:spPr>
          <a:xfrm>
            <a:off x="594360" y="4453128"/>
            <a:ext cx="10725912" cy="1783080"/>
          </a:xfrm>
          <a:prstGeom prst="rect">
            <a:avLst/>
          </a:prstGeom>
          <a:noFill/>
          <a:ln/>
        </p:spPr>
        <p:txBody>
          <a:bodyPr wrap="square" rtlCol="0" anchor="t"/>
          <a:lstStyle/>
          <a:p>
            <a:pPr marL="342900" indent="-342900">
              <a:buSzPct val="100000"/>
              <a:buChar char="•"/>
            </a:pPr>
            <a:r>
              <a:rPr lang="en-US" sz="1000" dirty="0">
                <a:solidFill>
                  <a:srgbClr val="13192E"/>
                </a:solidFill>
                <a:latin typeface="Calibri" pitchFamily="34" charset="0"/>
                <a:ea typeface="Calibri" pitchFamily="34" charset="-122"/>
                <a:cs typeface="Calibri" pitchFamily="34" charset="-120"/>
              </a:rPr>
              <a:t>2023 Activision Blizzard, Inc.</a:t>
            </a:r>
            <a:endParaRPr lang="en-US" sz="1000" dirty="0"/>
          </a:p>
        </p:txBody>
      </p:sp>
      <p:sp>
        <p:nvSpPr>
          <p:cNvPr id="27" name="Text 25"/>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28" name="Text 26"/>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Geographic Presence</a:t>
            </a:r>
            <a:endParaRPr lang="en-US" sz="2600" dirty="0"/>
          </a:p>
        </p:txBody>
      </p:sp>
      <p:sp>
        <p:nvSpPr>
          <p:cNvPr id="3" name="Shape 1"/>
          <p:cNvSpPr/>
          <p:nvPr/>
        </p:nvSpPr>
        <p:spPr>
          <a:xfrm>
            <a:off x="457200" y="1188720"/>
            <a:ext cx="11274552" cy="905256"/>
          </a:xfrm>
          <a:prstGeom prst="roundRect">
            <a:avLst>
              <a:gd name="adj" fmla="val 6061"/>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640080" y="1261872"/>
            <a:ext cx="2377440" cy="758952"/>
          </a:xfrm>
          <a:prstGeom prst="rect">
            <a:avLst/>
          </a:prstGeom>
          <a:noFill/>
          <a:ln/>
        </p:spPr>
        <p:txBody>
          <a:bodyPr wrap="square" rtlCol="0" anchor="t"/>
          <a:lstStyle/>
          <a:p>
            <a:pPr indent="0" marL="0">
              <a:buNone/>
            </a:pPr>
            <a:r>
              <a:rPr lang="en-US" sz="1200" b="1" dirty="0">
                <a:solidFill>
                  <a:srgbClr val="2E6F9E"/>
                </a:solidFill>
                <a:latin typeface="Calibri" pitchFamily="34" charset="0"/>
                <a:ea typeface="Calibri" pitchFamily="34" charset="-122"/>
                <a:cs typeface="Calibri" pitchFamily="34" charset="-120"/>
              </a:rPr>
              <a:t>Countries</a:t>
            </a:r>
            <a:endParaRPr lang="en-US" sz="1200" dirty="0"/>
          </a:p>
        </p:txBody>
      </p:sp>
      <p:sp>
        <p:nvSpPr>
          <p:cNvPr id="5" name="Text 3"/>
          <p:cNvSpPr/>
          <p:nvPr/>
        </p:nvSpPr>
        <p:spPr>
          <a:xfrm>
            <a:off x="3017520" y="1261872"/>
            <a:ext cx="8531352" cy="758952"/>
          </a:xfrm>
          <a:prstGeom prst="rect">
            <a:avLst/>
          </a:prstGeom>
          <a:noFill/>
          <a:ln/>
        </p:spPr>
        <p:txBody>
          <a:bodyPr wrap="square" rtlCol="0" anchor="t"/>
          <a:lstStyle/>
          <a:p>
            <a:pPr indent="0" marL="0">
              <a:buNone/>
            </a:pPr>
            <a:r>
              <a:rPr lang="en-US" sz="1050" dirty="0">
                <a:solidFill>
                  <a:srgbClr val="13192E"/>
                </a:solidFill>
                <a:latin typeface="Calibri" pitchFamily="34" charset="0"/>
                <a:ea typeface="Calibri" pitchFamily="34" charset="-122"/>
                <a:cs typeface="Calibri" pitchFamily="34" charset="-120"/>
              </a:rPr>
              <a:t>Australia, Canada, China, France, Germany, India, Ireland, Japan, the Netherlands, Sweden, United Kingdom</a:t>
            </a:r>
            <a:endParaRPr lang="en-US" sz="1050" dirty="0"/>
          </a:p>
        </p:txBody>
      </p:sp>
      <p:sp>
        <p:nvSpPr>
          <p:cNvPr id="6" name="Shape 4"/>
          <p:cNvSpPr/>
          <p:nvPr/>
        </p:nvSpPr>
        <p:spPr>
          <a:xfrm>
            <a:off x="457200" y="2258568"/>
            <a:ext cx="11274552" cy="704088"/>
          </a:xfrm>
          <a:prstGeom prst="roundRect">
            <a:avLst>
              <a:gd name="adj" fmla="val 779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640080" y="2331720"/>
            <a:ext cx="2377440" cy="557784"/>
          </a:xfrm>
          <a:prstGeom prst="rect">
            <a:avLst/>
          </a:prstGeom>
          <a:noFill/>
          <a:ln/>
        </p:spPr>
        <p:txBody>
          <a:bodyPr wrap="square" rtlCol="0" anchor="t"/>
          <a:lstStyle/>
          <a:p>
            <a:pPr indent="0" marL="0">
              <a:buNone/>
            </a:pPr>
            <a:r>
              <a:rPr lang="en-US" sz="1200" b="1" dirty="0">
                <a:solidFill>
                  <a:srgbClr val="2E6F9E"/>
                </a:solidFill>
                <a:latin typeface="Calibri" pitchFamily="34" charset="0"/>
                <a:ea typeface="Calibri" pitchFamily="34" charset="-122"/>
                <a:cs typeface="Calibri" pitchFamily="34" charset="-120"/>
              </a:rPr>
              <a:t>Regions</a:t>
            </a:r>
            <a:endParaRPr lang="en-US" sz="1200" dirty="0"/>
          </a:p>
        </p:txBody>
      </p:sp>
      <p:sp>
        <p:nvSpPr>
          <p:cNvPr id="8" name="Text 6"/>
          <p:cNvSpPr/>
          <p:nvPr/>
        </p:nvSpPr>
        <p:spPr>
          <a:xfrm>
            <a:off x="3017520" y="2331720"/>
            <a:ext cx="8531352" cy="557784"/>
          </a:xfrm>
          <a:prstGeom prst="rect">
            <a:avLst/>
          </a:prstGeom>
          <a:noFill/>
          <a:ln/>
        </p:spPr>
        <p:txBody>
          <a:bodyPr wrap="square" rtlCol="0" anchor="t"/>
          <a:lstStyle/>
          <a:p>
            <a:pPr indent="0" marL="0">
              <a:buNone/>
            </a:pPr>
            <a:r>
              <a:rPr lang="en-US" sz="1050" dirty="0">
                <a:solidFill>
                  <a:srgbClr val="13192E"/>
                </a:solidFill>
                <a:latin typeface="Calibri" pitchFamily="34" charset="0"/>
                <a:ea typeface="Calibri" pitchFamily="34" charset="-122"/>
                <a:cs typeface="Calibri" pitchFamily="34" charset="-120"/>
              </a:rPr>
              <a:t>Americas, Asia Pacific, Europe, and the Middle East</a:t>
            </a:r>
            <a:endParaRPr lang="en-US" sz="1050" dirty="0"/>
          </a:p>
        </p:txBody>
      </p:sp>
      <p:sp>
        <p:nvSpPr>
          <p:cNvPr id="9" name="Shape 7"/>
          <p:cNvSpPr/>
          <p:nvPr/>
        </p:nvSpPr>
        <p:spPr>
          <a:xfrm>
            <a:off x="457200" y="3127248"/>
            <a:ext cx="11274552" cy="704088"/>
          </a:xfrm>
          <a:prstGeom prst="roundRect">
            <a:avLst>
              <a:gd name="adj" fmla="val 779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Text 8"/>
          <p:cNvSpPr/>
          <p:nvPr/>
        </p:nvSpPr>
        <p:spPr>
          <a:xfrm>
            <a:off x="640080" y="3200400"/>
            <a:ext cx="2377440" cy="557784"/>
          </a:xfrm>
          <a:prstGeom prst="rect">
            <a:avLst/>
          </a:prstGeom>
          <a:noFill/>
          <a:ln/>
        </p:spPr>
        <p:txBody>
          <a:bodyPr wrap="square" rtlCol="0" anchor="t"/>
          <a:lstStyle/>
          <a:p>
            <a:pPr indent="0" marL="0">
              <a:buNone/>
            </a:pPr>
            <a:r>
              <a:rPr lang="en-US" sz="1200" b="1" dirty="0">
                <a:solidFill>
                  <a:srgbClr val="2E6F9E"/>
                </a:solidFill>
                <a:latin typeface="Calibri" pitchFamily="34" charset="0"/>
                <a:ea typeface="Calibri" pitchFamily="34" charset="-122"/>
                <a:cs typeface="Calibri" pitchFamily="34" charset="-120"/>
              </a:rPr>
              <a:t>Offices / Facilities</a:t>
            </a:r>
            <a:endParaRPr lang="en-US" sz="1200" dirty="0"/>
          </a:p>
        </p:txBody>
      </p:sp>
      <p:sp>
        <p:nvSpPr>
          <p:cNvPr id="11" name="Text 9"/>
          <p:cNvSpPr/>
          <p:nvPr/>
        </p:nvSpPr>
        <p:spPr>
          <a:xfrm>
            <a:off x="3017520" y="3200400"/>
            <a:ext cx="8531352" cy="557784"/>
          </a:xfrm>
          <a:prstGeom prst="rect">
            <a:avLst/>
          </a:prstGeom>
          <a:noFill/>
          <a:ln/>
        </p:spPr>
        <p:txBody>
          <a:bodyPr wrap="square" rtlCol="0" anchor="t"/>
          <a:lstStyle/>
          <a:p>
            <a:pPr indent="0" marL="0">
              <a:buNone/>
            </a:pPr>
            <a:r>
              <a:rPr lang="en-US" sz="1050" dirty="0">
                <a:solidFill>
                  <a:srgbClr val="13192E"/>
                </a:solidFill>
                <a:latin typeface="Calibri" pitchFamily="34" charset="0"/>
                <a:ea typeface="Calibri" pitchFamily="34" charset="-122"/>
                <a:cs typeface="Calibri" pitchFamily="34" charset="-120"/>
              </a:rPr>
              <a:t>offices, datacenters, and research and development</a:t>
            </a:r>
            <a:endParaRPr lang="en-US" sz="1050" dirty="0"/>
          </a:p>
        </p:txBody>
      </p:sp>
      <p:sp>
        <p:nvSpPr>
          <p:cNvPr id="12" name="Shape 10"/>
          <p:cNvSpPr/>
          <p:nvPr/>
        </p:nvSpPr>
        <p:spPr>
          <a:xfrm>
            <a:off x="457200" y="3995928"/>
            <a:ext cx="11274552" cy="704088"/>
          </a:xfrm>
          <a:prstGeom prst="roundRect">
            <a:avLst>
              <a:gd name="adj" fmla="val 779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3" name="Text 11"/>
          <p:cNvSpPr/>
          <p:nvPr/>
        </p:nvSpPr>
        <p:spPr>
          <a:xfrm>
            <a:off x="640080" y="4069080"/>
            <a:ext cx="2377440" cy="557784"/>
          </a:xfrm>
          <a:prstGeom prst="rect">
            <a:avLst/>
          </a:prstGeom>
          <a:noFill/>
          <a:ln/>
        </p:spPr>
        <p:txBody>
          <a:bodyPr wrap="square" rtlCol="0" anchor="t"/>
          <a:lstStyle/>
          <a:p>
            <a:pPr indent="0" marL="0">
              <a:buNone/>
            </a:pPr>
            <a:r>
              <a:rPr lang="en-US" sz="1200" b="1" dirty="0">
                <a:solidFill>
                  <a:srgbClr val="2E6F9E"/>
                </a:solidFill>
                <a:latin typeface="Calibri" pitchFamily="34" charset="0"/>
                <a:ea typeface="Calibri" pitchFamily="34" charset="-122"/>
                <a:cs typeface="Calibri" pitchFamily="34" charset="-120"/>
              </a:rPr>
              <a:t>Delivery Centers</a:t>
            </a:r>
            <a:endParaRPr lang="en-US" sz="1200" dirty="0"/>
          </a:p>
        </p:txBody>
      </p:sp>
      <p:sp>
        <p:nvSpPr>
          <p:cNvPr id="14" name="Text 12"/>
          <p:cNvSpPr/>
          <p:nvPr/>
        </p:nvSpPr>
        <p:spPr>
          <a:xfrm>
            <a:off x="3017520" y="4069080"/>
            <a:ext cx="8531352" cy="557784"/>
          </a:xfrm>
          <a:prstGeom prst="rect">
            <a:avLst/>
          </a:prstGeom>
          <a:noFill/>
          <a:ln/>
        </p:spPr>
        <p:txBody>
          <a:bodyPr wrap="square" rtlCol="0" anchor="t"/>
          <a:lstStyle/>
          <a:p>
            <a:pPr indent="0" marL="0">
              <a:buNone/>
            </a:pPr>
            <a:r>
              <a:rPr lang="en-US" sz="1050" dirty="0">
                <a:solidFill>
                  <a:srgbClr val="13192E"/>
                </a:solidFill>
                <a:latin typeface="Calibri" pitchFamily="34" charset="0"/>
                <a:ea typeface="Calibri" pitchFamily="34" charset="-122"/>
                <a:cs typeface="Calibri" pitchFamily="34" charset="-120"/>
              </a:rPr>
              <a:t>global network of datacenters</a:t>
            </a:r>
            <a:endParaRPr lang="en-US" sz="1050" dirty="0"/>
          </a:p>
        </p:txBody>
      </p:sp>
      <p:sp>
        <p:nvSpPr>
          <p:cNvPr id="15" name="Shape 13"/>
          <p:cNvSpPr/>
          <p:nvPr/>
        </p:nvSpPr>
        <p:spPr>
          <a:xfrm>
            <a:off x="457200" y="4864608"/>
            <a:ext cx="11274552" cy="704088"/>
          </a:xfrm>
          <a:prstGeom prst="roundRect">
            <a:avLst>
              <a:gd name="adj" fmla="val 779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Text 14"/>
          <p:cNvSpPr/>
          <p:nvPr/>
        </p:nvSpPr>
        <p:spPr>
          <a:xfrm>
            <a:off x="640080" y="4937760"/>
            <a:ext cx="2377440" cy="557784"/>
          </a:xfrm>
          <a:prstGeom prst="rect">
            <a:avLst/>
          </a:prstGeom>
          <a:noFill/>
          <a:ln/>
        </p:spPr>
        <p:txBody>
          <a:bodyPr wrap="square" rtlCol="0" anchor="t"/>
          <a:lstStyle/>
          <a:p>
            <a:pPr indent="0" marL="0">
              <a:buNone/>
            </a:pPr>
            <a:r>
              <a:rPr lang="en-US" sz="1200" b="1" dirty="0">
                <a:solidFill>
                  <a:srgbClr val="2E6F9E"/>
                </a:solidFill>
                <a:latin typeface="Calibri" pitchFamily="34" charset="0"/>
                <a:ea typeface="Calibri" pitchFamily="34" charset="-122"/>
                <a:cs typeface="Calibri" pitchFamily="34" charset="-120"/>
              </a:rPr>
              <a:t>Revenue by Geography</a:t>
            </a:r>
            <a:endParaRPr lang="en-US" sz="1200" dirty="0"/>
          </a:p>
        </p:txBody>
      </p:sp>
      <p:sp>
        <p:nvSpPr>
          <p:cNvPr id="17" name="Text 15"/>
          <p:cNvSpPr/>
          <p:nvPr/>
        </p:nvSpPr>
        <p:spPr>
          <a:xfrm>
            <a:off x="3017520" y="4937760"/>
            <a:ext cx="8531352" cy="557784"/>
          </a:xfrm>
          <a:prstGeom prst="rect">
            <a:avLst/>
          </a:prstGeom>
          <a:noFill/>
          <a:ln/>
        </p:spPr>
        <p:txBody>
          <a:bodyPr wrap="square" rtlCol="0" anchor="t"/>
          <a:lstStyle/>
          <a:p>
            <a:pPr indent="0" marL="0">
              <a:buNone/>
            </a:pPr>
            <a:r>
              <a:rPr lang="en-US" sz="1050" dirty="0">
                <a:solidFill>
                  <a:srgbClr val="13192E"/>
                </a:solidFill>
                <a:latin typeface="Calibri" pitchFamily="34" charset="0"/>
                <a:ea typeface="Calibri" pitchFamily="34" charset="-122"/>
                <a:cs typeface="Calibri" pitchFamily="34" charset="-120"/>
              </a:rPr>
              <a:t>{'United States': 170794000000.0, 'Other Countries': 161045000000.0}</a:t>
            </a:r>
            <a:endParaRPr lang="en-US" sz="1050" dirty="0"/>
          </a:p>
        </p:txBody>
      </p:sp>
      <p:sp>
        <p:nvSpPr>
          <p:cNvPr id="18" name="Text 16"/>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19" name="Text 17"/>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Business Segments</a:t>
            </a:r>
            <a:endParaRPr lang="en-US" sz="2600" dirty="0"/>
          </a:p>
        </p:txBody>
      </p:sp>
      <p:sp>
        <p:nvSpPr>
          <p:cNvPr id="3" name="Shape 1"/>
          <p:cNvSpPr/>
          <p:nvPr/>
        </p:nvSpPr>
        <p:spPr>
          <a:xfrm>
            <a:off x="457200" y="1143000"/>
            <a:ext cx="3605784" cy="2743200"/>
          </a:xfrm>
          <a:prstGeom prst="roundRect">
            <a:avLst>
              <a:gd name="adj" fmla="val 2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66928" y="1234440"/>
            <a:ext cx="3386328" cy="411480"/>
          </a:xfrm>
          <a:prstGeom prst="rect">
            <a:avLst/>
          </a:prstGeom>
          <a:noFill/>
          <a:ln/>
        </p:spPr>
        <p:txBody>
          <a:bodyPr wrap="square" rtlCol="0" anchor="ctr">
            <a:normAutofit/>
          </a:bodyPr>
          <a:lstStyle/>
          <a:p>
            <a:pPr indent="0" marL="0">
              <a:buNone/>
            </a:pPr>
            <a:r>
              <a:rPr lang="en-US" sz="1250" b="1" dirty="0">
                <a:solidFill>
                  <a:srgbClr val="1F2D50"/>
                </a:solidFill>
                <a:latin typeface="Calibri" pitchFamily="34" charset="0"/>
                <a:ea typeface="Calibri" pitchFamily="34" charset="-122"/>
                <a:cs typeface="Calibri" pitchFamily="34" charset="-120"/>
              </a:rPr>
              <a:t>Productivity and Business Processes</a:t>
            </a:r>
            <a:endParaRPr lang="en-US" sz="1250" dirty="0"/>
          </a:p>
        </p:txBody>
      </p:sp>
      <p:sp>
        <p:nvSpPr>
          <p:cNvPr id="5" name="Text 3"/>
          <p:cNvSpPr/>
          <p:nvPr/>
        </p:nvSpPr>
        <p:spPr>
          <a:xfrm>
            <a:off x="566928" y="1691640"/>
            <a:ext cx="3386328" cy="256032"/>
          </a:xfrm>
          <a:prstGeom prst="rect">
            <a:avLst/>
          </a:prstGeom>
          <a:noFill/>
          <a:ln/>
        </p:spPr>
        <p:txBody>
          <a:bodyPr wrap="square" rtlCol="0" anchor="ctr"/>
          <a:lstStyle/>
          <a:p>
            <a:pPr indent="0" marL="0">
              <a:buNone/>
            </a:pPr>
            <a:r>
              <a:rPr lang="en-US" sz="950" b="1" dirty="0">
                <a:solidFill>
                  <a:srgbClr val="5B6472"/>
                </a:solidFill>
                <a:latin typeface="Calibri" pitchFamily="34" charset="0"/>
                <a:ea typeface="Calibri" pitchFamily="34" charset="-122"/>
                <a:cs typeface="Calibri" pitchFamily="34" charset="-120"/>
              </a:rPr>
              <a:t>Revenue: </a:t>
            </a:r>
            <a:endParaRPr lang="en-US" sz="950" dirty="0"/>
          </a:p>
        </p:txBody>
      </p:sp>
      <p:sp>
        <p:nvSpPr>
          <p:cNvPr id="6" name="Text 4"/>
          <p:cNvSpPr/>
          <p:nvPr/>
        </p:nvSpPr>
        <p:spPr>
          <a:xfrm>
            <a:off x="566928" y="1856232"/>
            <a:ext cx="3386328" cy="256032"/>
          </a:xfrm>
          <a:prstGeom prst="rect">
            <a:avLst/>
          </a:prstGeom>
          <a:noFill/>
          <a:ln/>
        </p:spPr>
        <p:txBody>
          <a:bodyPr wrap="square" rtlCol="0" anchor="ctr"/>
          <a:lstStyle/>
          <a:p>
            <a:pPr indent="0" marL="0">
              <a:buNone/>
            </a:pPr>
            <a:r>
              <a:rPr lang="en-US" sz="1150" b="1" dirty="0">
                <a:solidFill>
                  <a:srgbClr val="13192E"/>
                </a:solidFill>
                <a:latin typeface="Calibri" pitchFamily="34" charset="0"/>
                <a:ea typeface="Calibri" pitchFamily="34" charset="-122"/>
                <a:cs typeface="Calibri" pitchFamily="34" charset="-120"/>
              </a:rPr>
              <a:t>$140.0B</a:t>
            </a:r>
            <a:endParaRPr lang="en-US" sz="1150" dirty="0"/>
          </a:p>
        </p:txBody>
      </p:sp>
      <p:sp>
        <p:nvSpPr>
          <p:cNvPr id="7" name="Text 5"/>
          <p:cNvSpPr/>
          <p:nvPr/>
        </p:nvSpPr>
        <p:spPr>
          <a:xfrm>
            <a:off x="566928" y="2148840"/>
            <a:ext cx="3386328" cy="256032"/>
          </a:xfrm>
          <a:prstGeom prst="rect">
            <a:avLst/>
          </a:prstGeom>
          <a:noFill/>
          <a:ln/>
        </p:spPr>
        <p:txBody>
          <a:bodyPr wrap="square" rtlCol="0" anchor="ctr"/>
          <a:lstStyle/>
          <a:p>
            <a:pPr indent="0" marL="0">
              <a:buNone/>
            </a:pPr>
            <a:r>
              <a:rPr lang="en-US" sz="950" b="1" dirty="0">
                <a:solidFill>
                  <a:srgbClr val="5B6472"/>
                </a:solidFill>
                <a:latin typeface="Calibri" pitchFamily="34" charset="0"/>
                <a:ea typeface="Calibri" pitchFamily="34" charset="-122"/>
                <a:cs typeface="Calibri" pitchFamily="34" charset="-120"/>
              </a:rPr>
              <a:t>Growth: </a:t>
            </a:r>
            <a:endParaRPr lang="en-US" sz="950" dirty="0"/>
          </a:p>
        </p:txBody>
      </p:sp>
      <p:sp>
        <p:nvSpPr>
          <p:cNvPr id="8" name="Text 6"/>
          <p:cNvSpPr/>
          <p:nvPr/>
        </p:nvSpPr>
        <p:spPr>
          <a:xfrm>
            <a:off x="566928" y="2313432"/>
            <a:ext cx="3386328" cy="256032"/>
          </a:xfrm>
          <a:prstGeom prst="rect">
            <a:avLst/>
          </a:prstGeom>
          <a:noFill/>
          <a:ln/>
        </p:spPr>
        <p:txBody>
          <a:bodyPr wrap="square" rtlCol="0" anchor="ctr"/>
          <a:lstStyle/>
          <a:p>
            <a:pPr indent="0" marL="0">
              <a:buNone/>
            </a:pPr>
            <a:r>
              <a:rPr lang="en-US" sz="1150" b="1" dirty="0">
                <a:solidFill>
                  <a:srgbClr val="13192E"/>
                </a:solidFill>
                <a:latin typeface="Calibri" pitchFamily="34" charset="0"/>
                <a:ea typeface="Calibri" pitchFamily="34" charset="-122"/>
                <a:cs typeface="Calibri" pitchFamily="34" charset="-120"/>
              </a:rPr>
              <a:t>+15.9%</a:t>
            </a:r>
            <a:endParaRPr lang="en-US" sz="1150" dirty="0"/>
          </a:p>
        </p:txBody>
      </p:sp>
      <p:sp>
        <p:nvSpPr>
          <p:cNvPr id="9" name="Text 7"/>
          <p:cNvSpPr/>
          <p:nvPr/>
        </p:nvSpPr>
        <p:spPr>
          <a:xfrm>
            <a:off x="566928" y="2606040"/>
            <a:ext cx="3386328" cy="256032"/>
          </a:xfrm>
          <a:prstGeom prst="rect">
            <a:avLst/>
          </a:prstGeom>
          <a:noFill/>
          <a:ln/>
        </p:spPr>
        <p:txBody>
          <a:bodyPr wrap="square" rtlCol="0" anchor="ctr"/>
          <a:lstStyle/>
          <a:p>
            <a:pPr indent="0" marL="0">
              <a:buNone/>
            </a:pPr>
            <a:r>
              <a:rPr lang="en-US" sz="950" b="1" dirty="0">
                <a:solidFill>
                  <a:srgbClr val="5B6472"/>
                </a:solidFill>
                <a:latin typeface="Calibri" pitchFamily="34" charset="0"/>
                <a:ea typeface="Calibri" pitchFamily="34" charset="-122"/>
                <a:cs typeface="Calibri" pitchFamily="34" charset="-120"/>
              </a:rPr>
              <a:t>Op. Margin: </a:t>
            </a:r>
            <a:endParaRPr lang="en-US" sz="950" dirty="0"/>
          </a:p>
        </p:txBody>
      </p:sp>
      <p:sp>
        <p:nvSpPr>
          <p:cNvPr id="10" name="Text 8"/>
          <p:cNvSpPr/>
          <p:nvPr/>
        </p:nvSpPr>
        <p:spPr>
          <a:xfrm>
            <a:off x="566928" y="2770632"/>
            <a:ext cx="3386328" cy="256032"/>
          </a:xfrm>
          <a:prstGeom prst="rect">
            <a:avLst/>
          </a:prstGeom>
          <a:noFill/>
          <a:ln/>
        </p:spPr>
        <p:txBody>
          <a:bodyPr wrap="square" rtlCol="0" anchor="ctr"/>
          <a:lstStyle/>
          <a:p>
            <a:pPr indent="0" marL="0">
              <a:buNone/>
            </a:pPr>
            <a:r>
              <a:rPr lang="en-US" sz="1150" b="1" dirty="0">
                <a:solidFill>
                  <a:srgbClr val="13192E"/>
                </a:solidFill>
                <a:latin typeface="Calibri" pitchFamily="34" charset="0"/>
                <a:ea typeface="Calibri" pitchFamily="34" charset="-122"/>
                <a:cs typeface="Calibri" pitchFamily="34" charset="-120"/>
              </a:rPr>
              <a:t>+0.6%</a:t>
            </a:r>
            <a:endParaRPr lang="en-US" sz="1150" dirty="0"/>
          </a:p>
        </p:txBody>
      </p:sp>
      <p:sp>
        <p:nvSpPr>
          <p:cNvPr id="11" name="Text 9"/>
          <p:cNvSpPr/>
          <p:nvPr/>
        </p:nvSpPr>
        <p:spPr>
          <a:xfrm>
            <a:off x="566928" y="3108960"/>
            <a:ext cx="3386328" cy="685800"/>
          </a:xfrm>
          <a:prstGeom prst="rect">
            <a:avLst/>
          </a:prstGeom>
          <a:noFill/>
          <a:ln/>
        </p:spPr>
        <p:txBody>
          <a:bodyPr wrap="square" rtlCol="0" anchor="t">
            <a:normAutofit/>
          </a:bodyPr>
          <a:lstStyle/>
          <a:p>
            <a:pPr indent="0" marL="0">
              <a:buNone/>
            </a:pPr>
            <a:r>
              <a:rPr lang="en-US" sz="850" dirty="0">
                <a:solidFill>
                  <a:srgbClr val="5B6472"/>
                </a:solidFill>
                <a:latin typeface="Calibri" pitchFamily="34" charset="0"/>
                <a:ea typeface="Calibri" pitchFamily="34" charset="-122"/>
                <a:cs typeface="Calibri" pitchFamily="34" charset="-120"/>
              </a:rPr>
              <a:t>Focuses on productivity and business processes, including business solutions and collaboration tools.</a:t>
            </a:r>
            <a:endParaRPr lang="en-US" sz="850" dirty="0"/>
          </a:p>
        </p:txBody>
      </p:sp>
      <p:sp>
        <p:nvSpPr>
          <p:cNvPr id="12" name="Shape 10"/>
          <p:cNvSpPr/>
          <p:nvPr/>
        </p:nvSpPr>
        <p:spPr>
          <a:xfrm>
            <a:off x="4291584" y="1143000"/>
            <a:ext cx="3605784" cy="2743200"/>
          </a:xfrm>
          <a:prstGeom prst="roundRect">
            <a:avLst>
              <a:gd name="adj" fmla="val 2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3" name="Text 11"/>
          <p:cNvSpPr/>
          <p:nvPr/>
        </p:nvSpPr>
        <p:spPr>
          <a:xfrm>
            <a:off x="4401312" y="1234440"/>
            <a:ext cx="3386328" cy="411480"/>
          </a:xfrm>
          <a:prstGeom prst="rect">
            <a:avLst/>
          </a:prstGeom>
          <a:noFill/>
          <a:ln/>
        </p:spPr>
        <p:txBody>
          <a:bodyPr wrap="square" rtlCol="0" anchor="ctr">
            <a:normAutofit/>
          </a:bodyPr>
          <a:lstStyle/>
          <a:p>
            <a:pPr indent="0" marL="0">
              <a:buNone/>
            </a:pPr>
            <a:r>
              <a:rPr lang="en-US" sz="1250" b="1" dirty="0">
                <a:solidFill>
                  <a:srgbClr val="1F2D50"/>
                </a:solidFill>
                <a:latin typeface="Calibri" pitchFamily="34" charset="0"/>
                <a:ea typeface="Calibri" pitchFamily="34" charset="-122"/>
                <a:cs typeface="Calibri" pitchFamily="34" charset="-120"/>
              </a:rPr>
              <a:t>Intelligent Cloud</a:t>
            </a:r>
            <a:endParaRPr lang="en-US" sz="1250" dirty="0"/>
          </a:p>
        </p:txBody>
      </p:sp>
      <p:sp>
        <p:nvSpPr>
          <p:cNvPr id="14" name="Text 12"/>
          <p:cNvSpPr/>
          <p:nvPr/>
        </p:nvSpPr>
        <p:spPr>
          <a:xfrm>
            <a:off x="4401312" y="1691640"/>
            <a:ext cx="3386328" cy="256032"/>
          </a:xfrm>
          <a:prstGeom prst="rect">
            <a:avLst/>
          </a:prstGeom>
          <a:noFill/>
          <a:ln/>
        </p:spPr>
        <p:txBody>
          <a:bodyPr wrap="square" rtlCol="0" anchor="ctr"/>
          <a:lstStyle/>
          <a:p>
            <a:pPr indent="0" marL="0">
              <a:buNone/>
            </a:pPr>
            <a:r>
              <a:rPr lang="en-US" sz="950" b="1" dirty="0">
                <a:solidFill>
                  <a:srgbClr val="5B6472"/>
                </a:solidFill>
                <a:latin typeface="Calibri" pitchFamily="34" charset="0"/>
                <a:ea typeface="Calibri" pitchFamily="34" charset="-122"/>
                <a:cs typeface="Calibri" pitchFamily="34" charset="-120"/>
              </a:rPr>
              <a:t>Revenue: </a:t>
            </a:r>
            <a:endParaRPr lang="en-US" sz="950" dirty="0"/>
          </a:p>
        </p:txBody>
      </p:sp>
      <p:sp>
        <p:nvSpPr>
          <p:cNvPr id="15" name="Text 13"/>
          <p:cNvSpPr/>
          <p:nvPr/>
        </p:nvSpPr>
        <p:spPr>
          <a:xfrm>
            <a:off x="4401312" y="1856232"/>
            <a:ext cx="3386328" cy="256032"/>
          </a:xfrm>
          <a:prstGeom prst="rect">
            <a:avLst/>
          </a:prstGeom>
          <a:noFill/>
          <a:ln/>
        </p:spPr>
        <p:txBody>
          <a:bodyPr wrap="square" rtlCol="0" anchor="ctr"/>
          <a:lstStyle/>
          <a:p>
            <a:pPr indent="0" marL="0">
              <a:buNone/>
            </a:pPr>
            <a:r>
              <a:rPr lang="en-US" sz="1150" b="1" dirty="0">
                <a:solidFill>
                  <a:srgbClr val="13192E"/>
                </a:solidFill>
                <a:latin typeface="Calibri" pitchFamily="34" charset="0"/>
                <a:ea typeface="Calibri" pitchFamily="34" charset="-122"/>
                <a:cs typeface="Calibri" pitchFamily="34" charset="-120"/>
              </a:rPr>
              <a:t>$137.8B</a:t>
            </a:r>
            <a:endParaRPr lang="en-US" sz="1150" dirty="0"/>
          </a:p>
        </p:txBody>
      </p:sp>
      <p:sp>
        <p:nvSpPr>
          <p:cNvPr id="16" name="Text 14"/>
          <p:cNvSpPr/>
          <p:nvPr/>
        </p:nvSpPr>
        <p:spPr>
          <a:xfrm>
            <a:off x="4401312" y="2148840"/>
            <a:ext cx="3386328" cy="256032"/>
          </a:xfrm>
          <a:prstGeom prst="rect">
            <a:avLst/>
          </a:prstGeom>
          <a:noFill/>
          <a:ln/>
        </p:spPr>
        <p:txBody>
          <a:bodyPr wrap="square" rtlCol="0" anchor="ctr"/>
          <a:lstStyle/>
          <a:p>
            <a:pPr indent="0" marL="0">
              <a:buNone/>
            </a:pPr>
            <a:r>
              <a:rPr lang="en-US" sz="950" b="1" dirty="0">
                <a:solidFill>
                  <a:srgbClr val="5B6472"/>
                </a:solidFill>
                <a:latin typeface="Calibri" pitchFamily="34" charset="0"/>
                <a:ea typeface="Calibri" pitchFamily="34" charset="-122"/>
                <a:cs typeface="Calibri" pitchFamily="34" charset="-120"/>
              </a:rPr>
              <a:t>Growth: </a:t>
            </a:r>
            <a:endParaRPr lang="en-US" sz="950" dirty="0"/>
          </a:p>
        </p:txBody>
      </p:sp>
      <p:sp>
        <p:nvSpPr>
          <p:cNvPr id="17" name="Text 15"/>
          <p:cNvSpPr/>
          <p:nvPr/>
        </p:nvSpPr>
        <p:spPr>
          <a:xfrm>
            <a:off x="4401312" y="2313432"/>
            <a:ext cx="3386328" cy="256032"/>
          </a:xfrm>
          <a:prstGeom prst="rect">
            <a:avLst/>
          </a:prstGeom>
          <a:noFill/>
          <a:ln/>
        </p:spPr>
        <p:txBody>
          <a:bodyPr wrap="square" rtlCol="0" anchor="ctr"/>
          <a:lstStyle/>
          <a:p>
            <a:pPr indent="0" marL="0">
              <a:buNone/>
            </a:pPr>
            <a:r>
              <a:rPr lang="en-US" sz="1150" b="1" dirty="0">
                <a:solidFill>
                  <a:srgbClr val="13192E"/>
                </a:solidFill>
                <a:latin typeface="Calibri" pitchFamily="34" charset="0"/>
                <a:ea typeface="Calibri" pitchFamily="34" charset="-122"/>
                <a:cs typeface="Calibri" pitchFamily="34" charset="-120"/>
              </a:rPr>
              <a:t>+29.7%</a:t>
            </a:r>
            <a:endParaRPr lang="en-US" sz="1150" dirty="0"/>
          </a:p>
        </p:txBody>
      </p:sp>
      <p:sp>
        <p:nvSpPr>
          <p:cNvPr id="18" name="Text 16"/>
          <p:cNvSpPr/>
          <p:nvPr/>
        </p:nvSpPr>
        <p:spPr>
          <a:xfrm>
            <a:off x="4401312" y="2606040"/>
            <a:ext cx="3386328" cy="256032"/>
          </a:xfrm>
          <a:prstGeom prst="rect">
            <a:avLst/>
          </a:prstGeom>
          <a:noFill/>
          <a:ln/>
        </p:spPr>
        <p:txBody>
          <a:bodyPr wrap="square" rtlCol="0" anchor="ctr"/>
          <a:lstStyle/>
          <a:p>
            <a:pPr indent="0" marL="0">
              <a:buNone/>
            </a:pPr>
            <a:r>
              <a:rPr lang="en-US" sz="950" b="1" dirty="0">
                <a:solidFill>
                  <a:srgbClr val="5B6472"/>
                </a:solidFill>
                <a:latin typeface="Calibri" pitchFamily="34" charset="0"/>
                <a:ea typeface="Calibri" pitchFamily="34" charset="-122"/>
                <a:cs typeface="Calibri" pitchFamily="34" charset="-120"/>
              </a:rPr>
              <a:t>Op. Margin: </a:t>
            </a:r>
            <a:endParaRPr lang="en-US" sz="950" dirty="0"/>
          </a:p>
        </p:txBody>
      </p:sp>
      <p:sp>
        <p:nvSpPr>
          <p:cNvPr id="19" name="Text 17"/>
          <p:cNvSpPr/>
          <p:nvPr/>
        </p:nvSpPr>
        <p:spPr>
          <a:xfrm>
            <a:off x="4401312" y="2770632"/>
            <a:ext cx="3386328" cy="256032"/>
          </a:xfrm>
          <a:prstGeom prst="rect">
            <a:avLst/>
          </a:prstGeom>
          <a:noFill/>
          <a:ln/>
        </p:spPr>
        <p:txBody>
          <a:bodyPr wrap="square" rtlCol="0" anchor="ctr"/>
          <a:lstStyle/>
          <a:p>
            <a:pPr indent="0" marL="0">
              <a:buNone/>
            </a:pPr>
            <a:r>
              <a:rPr lang="en-US" sz="1150" b="1" dirty="0">
                <a:solidFill>
                  <a:srgbClr val="13192E"/>
                </a:solidFill>
                <a:latin typeface="Calibri" pitchFamily="34" charset="0"/>
                <a:ea typeface="Calibri" pitchFamily="34" charset="-122"/>
                <a:cs typeface="Calibri" pitchFamily="34" charset="-120"/>
              </a:rPr>
              <a:t>+0.4%</a:t>
            </a:r>
            <a:endParaRPr lang="en-US" sz="1150" dirty="0"/>
          </a:p>
        </p:txBody>
      </p:sp>
      <p:sp>
        <p:nvSpPr>
          <p:cNvPr id="20" name="Text 18"/>
          <p:cNvSpPr/>
          <p:nvPr/>
        </p:nvSpPr>
        <p:spPr>
          <a:xfrm>
            <a:off x="4401312" y="3108960"/>
            <a:ext cx="3386328" cy="685800"/>
          </a:xfrm>
          <a:prstGeom prst="rect">
            <a:avLst/>
          </a:prstGeom>
          <a:noFill/>
          <a:ln/>
        </p:spPr>
        <p:txBody>
          <a:bodyPr wrap="square" rtlCol="0" anchor="t">
            <a:normAutofit/>
          </a:bodyPr>
          <a:lstStyle/>
          <a:p>
            <a:pPr indent="0" marL="0">
              <a:buNone/>
            </a:pPr>
            <a:r>
              <a:rPr lang="en-US" sz="850" dirty="0">
                <a:solidFill>
                  <a:srgbClr val="5B6472"/>
                </a:solidFill>
                <a:latin typeface="Calibri" pitchFamily="34" charset="0"/>
                <a:ea typeface="Calibri" pitchFamily="34" charset="-122"/>
                <a:cs typeface="Calibri" pitchFamily="34" charset="-120"/>
              </a:rPr>
              <a:t>Consists of public, private, and hybrid server products and cloud services that power modern business and developers.</a:t>
            </a:r>
            <a:endParaRPr lang="en-US" sz="850" dirty="0"/>
          </a:p>
        </p:txBody>
      </p:sp>
      <p:sp>
        <p:nvSpPr>
          <p:cNvPr id="21" name="Shape 19"/>
          <p:cNvSpPr/>
          <p:nvPr/>
        </p:nvSpPr>
        <p:spPr>
          <a:xfrm>
            <a:off x="8125968" y="1143000"/>
            <a:ext cx="3605784" cy="2743200"/>
          </a:xfrm>
          <a:prstGeom prst="roundRect">
            <a:avLst>
              <a:gd name="adj" fmla="val 2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2" name="Text 20"/>
          <p:cNvSpPr/>
          <p:nvPr/>
        </p:nvSpPr>
        <p:spPr>
          <a:xfrm>
            <a:off x="8235696" y="1234440"/>
            <a:ext cx="3386328" cy="411480"/>
          </a:xfrm>
          <a:prstGeom prst="rect">
            <a:avLst/>
          </a:prstGeom>
          <a:noFill/>
          <a:ln/>
        </p:spPr>
        <p:txBody>
          <a:bodyPr wrap="square" rtlCol="0" anchor="ctr">
            <a:normAutofit/>
          </a:bodyPr>
          <a:lstStyle/>
          <a:p>
            <a:pPr indent="0" marL="0">
              <a:buNone/>
            </a:pPr>
            <a:r>
              <a:rPr lang="en-US" sz="1250" b="1" dirty="0">
                <a:solidFill>
                  <a:srgbClr val="1F2D50"/>
                </a:solidFill>
                <a:latin typeface="Calibri" pitchFamily="34" charset="0"/>
                <a:ea typeface="Calibri" pitchFamily="34" charset="-122"/>
                <a:cs typeface="Calibri" pitchFamily="34" charset="-120"/>
              </a:rPr>
              <a:t>More Personal Computing</a:t>
            </a:r>
            <a:endParaRPr lang="en-US" sz="1250" dirty="0"/>
          </a:p>
        </p:txBody>
      </p:sp>
      <p:sp>
        <p:nvSpPr>
          <p:cNvPr id="23" name="Text 21"/>
          <p:cNvSpPr/>
          <p:nvPr/>
        </p:nvSpPr>
        <p:spPr>
          <a:xfrm>
            <a:off x="8235696" y="1691640"/>
            <a:ext cx="3386328" cy="256032"/>
          </a:xfrm>
          <a:prstGeom prst="rect">
            <a:avLst/>
          </a:prstGeom>
          <a:noFill/>
          <a:ln/>
        </p:spPr>
        <p:txBody>
          <a:bodyPr wrap="square" rtlCol="0" anchor="ctr"/>
          <a:lstStyle/>
          <a:p>
            <a:pPr indent="0" marL="0">
              <a:buNone/>
            </a:pPr>
            <a:r>
              <a:rPr lang="en-US" sz="950" b="1" dirty="0">
                <a:solidFill>
                  <a:srgbClr val="5B6472"/>
                </a:solidFill>
                <a:latin typeface="Calibri" pitchFamily="34" charset="0"/>
                <a:ea typeface="Calibri" pitchFamily="34" charset="-122"/>
                <a:cs typeface="Calibri" pitchFamily="34" charset="-120"/>
              </a:rPr>
              <a:t>Revenue: </a:t>
            </a:r>
            <a:endParaRPr lang="en-US" sz="950" dirty="0"/>
          </a:p>
        </p:txBody>
      </p:sp>
      <p:sp>
        <p:nvSpPr>
          <p:cNvPr id="24" name="Text 22"/>
          <p:cNvSpPr/>
          <p:nvPr/>
        </p:nvSpPr>
        <p:spPr>
          <a:xfrm>
            <a:off x="8235696" y="1856232"/>
            <a:ext cx="3386328" cy="256032"/>
          </a:xfrm>
          <a:prstGeom prst="rect">
            <a:avLst/>
          </a:prstGeom>
          <a:noFill/>
          <a:ln/>
        </p:spPr>
        <p:txBody>
          <a:bodyPr wrap="square" rtlCol="0" anchor="ctr"/>
          <a:lstStyle/>
          <a:p>
            <a:pPr indent="0" marL="0">
              <a:buNone/>
            </a:pPr>
            <a:r>
              <a:rPr lang="en-US" sz="1150" b="1" dirty="0">
                <a:solidFill>
                  <a:srgbClr val="13192E"/>
                </a:solidFill>
                <a:latin typeface="Calibri" pitchFamily="34" charset="0"/>
                <a:ea typeface="Calibri" pitchFamily="34" charset="-122"/>
                <a:cs typeface="Calibri" pitchFamily="34" charset="-120"/>
              </a:rPr>
              <a:t>$54.1B</a:t>
            </a:r>
            <a:endParaRPr lang="en-US" sz="1150" dirty="0"/>
          </a:p>
        </p:txBody>
      </p:sp>
      <p:sp>
        <p:nvSpPr>
          <p:cNvPr id="25" name="Text 23"/>
          <p:cNvSpPr/>
          <p:nvPr/>
        </p:nvSpPr>
        <p:spPr>
          <a:xfrm>
            <a:off x="8235696" y="2148840"/>
            <a:ext cx="3386328" cy="256032"/>
          </a:xfrm>
          <a:prstGeom prst="rect">
            <a:avLst/>
          </a:prstGeom>
          <a:noFill/>
          <a:ln/>
        </p:spPr>
        <p:txBody>
          <a:bodyPr wrap="square" rtlCol="0" anchor="ctr"/>
          <a:lstStyle/>
          <a:p>
            <a:pPr indent="0" marL="0">
              <a:buNone/>
            </a:pPr>
            <a:r>
              <a:rPr lang="en-US" sz="950" b="1" dirty="0">
                <a:solidFill>
                  <a:srgbClr val="5B6472"/>
                </a:solidFill>
                <a:latin typeface="Calibri" pitchFamily="34" charset="0"/>
                <a:ea typeface="Calibri" pitchFamily="34" charset="-122"/>
                <a:cs typeface="Calibri" pitchFamily="34" charset="-120"/>
              </a:rPr>
              <a:t>Growth: </a:t>
            </a:r>
            <a:endParaRPr lang="en-US" sz="950" dirty="0"/>
          </a:p>
        </p:txBody>
      </p:sp>
      <p:sp>
        <p:nvSpPr>
          <p:cNvPr id="26" name="Text 24"/>
          <p:cNvSpPr/>
          <p:nvPr/>
        </p:nvSpPr>
        <p:spPr>
          <a:xfrm>
            <a:off x="8235696" y="2313432"/>
            <a:ext cx="3386328" cy="256032"/>
          </a:xfrm>
          <a:prstGeom prst="rect">
            <a:avLst/>
          </a:prstGeom>
          <a:noFill/>
          <a:ln/>
        </p:spPr>
        <p:txBody>
          <a:bodyPr wrap="square" rtlCol="0" anchor="ctr"/>
          <a:lstStyle/>
          <a:p>
            <a:pPr indent="0" marL="0">
              <a:buNone/>
            </a:pPr>
            <a:r>
              <a:rPr lang="en-US" sz="1150" b="1" dirty="0">
                <a:solidFill>
                  <a:srgbClr val="13192E"/>
                </a:solidFill>
                <a:latin typeface="Calibri" pitchFamily="34" charset="0"/>
                <a:ea typeface="Calibri" pitchFamily="34" charset="-122"/>
                <a:cs typeface="Calibri" pitchFamily="34" charset="-120"/>
              </a:rPr>
              <a:t>-1.1%</a:t>
            </a:r>
            <a:endParaRPr lang="en-US" sz="1150" dirty="0"/>
          </a:p>
        </p:txBody>
      </p:sp>
      <p:sp>
        <p:nvSpPr>
          <p:cNvPr id="27" name="Text 25"/>
          <p:cNvSpPr/>
          <p:nvPr/>
        </p:nvSpPr>
        <p:spPr>
          <a:xfrm>
            <a:off x="8235696" y="2606040"/>
            <a:ext cx="3386328" cy="256032"/>
          </a:xfrm>
          <a:prstGeom prst="rect">
            <a:avLst/>
          </a:prstGeom>
          <a:noFill/>
          <a:ln/>
        </p:spPr>
        <p:txBody>
          <a:bodyPr wrap="square" rtlCol="0" anchor="ctr"/>
          <a:lstStyle/>
          <a:p>
            <a:pPr indent="0" marL="0">
              <a:buNone/>
            </a:pPr>
            <a:r>
              <a:rPr lang="en-US" sz="950" b="1" dirty="0">
                <a:solidFill>
                  <a:srgbClr val="5B6472"/>
                </a:solidFill>
                <a:latin typeface="Calibri" pitchFamily="34" charset="0"/>
                <a:ea typeface="Calibri" pitchFamily="34" charset="-122"/>
                <a:cs typeface="Calibri" pitchFamily="34" charset="-120"/>
              </a:rPr>
              <a:t>Op. Margin: </a:t>
            </a:r>
            <a:endParaRPr lang="en-US" sz="950" dirty="0"/>
          </a:p>
        </p:txBody>
      </p:sp>
      <p:sp>
        <p:nvSpPr>
          <p:cNvPr id="28" name="Text 26"/>
          <p:cNvSpPr/>
          <p:nvPr/>
        </p:nvSpPr>
        <p:spPr>
          <a:xfrm>
            <a:off x="8235696" y="2770632"/>
            <a:ext cx="3386328" cy="256032"/>
          </a:xfrm>
          <a:prstGeom prst="rect">
            <a:avLst/>
          </a:prstGeom>
          <a:noFill/>
          <a:ln/>
        </p:spPr>
        <p:txBody>
          <a:bodyPr wrap="square" rtlCol="0" anchor="ctr"/>
          <a:lstStyle/>
          <a:p>
            <a:pPr indent="0" marL="0">
              <a:buNone/>
            </a:pPr>
            <a:r>
              <a:rPr lang="en-US" sz="1150" b="1" dirty="0">
                <a:solidFill>
                  <a:srgbClr val="13192E"/>
                </a:solidFill>
                <a:latin typeface="Calibri" pitchFamily="34" charset="0"/>
                <a:ea typeface="Calibri" pitchFamily="34" charset="-122"/>
                <a:cs typeface="Calibri" pitchFamily="34" charset="-120"/>
              </a:rPr>
              <a:t>+0.3%</a:t>
            </a:r>
            <a:endParaRPr lang="en-US" sz="1150" dirty="0"/>
          </a:p>
        </p:txBody>
      </p:sp>
      <p:sp>
        <p:nvSpPr>
          <p:cNvPr id="29" name="Text 27"/>
          <p:cNvSpPr/>
          <p:nvPr/>
        </p:nvSpPr>
        <p:spPr>
          <a:xfrm>
            <a:off x="8235696" y="3108960"/>
            <a:ext cx="3386328" cy="685800"/>
          </a:xfrm>
          <a:prstGeom prst="rect">
            <a:avLst/>
          </a:prstGeom>
          <a:noFill/>
          <a:ln/>
        </p:spPr>
        <p:txBody>
          <a:bodyPr wrap="square" rtlCol="0" anchor="t">
            <a:normAutofit/>
          </a:bodyPr>
          <a:lstStyle/>
          <a:p>
            <a:pPr indent="0" marL="0">
              <a:buNone/>
            </a:pPr>
            <a:r>
              <a:rPr lang="en-US" sz="850" dirty="0">
                <a:solidFill>
                  <a:srgbClr val="5B6472"/>
                </a:solidFill>
                <a:latin typeface="Calibri" pitchFamily="34" charset="0"/>
                <a:ea typeface="Calibri" pitchFamily="34" charset="-122"/>
                <a:cs typeface="Calibri" pitchFamily="34" charset="-120"/>
              </a:rPr>
              <a:t>Consists of products and services that put customers at the center of the experience with technology.</a:t>
            </a:r>
            <a:endParaRPr lang="en-US" sz="850" dirty="0"/>
          </a:p>
        </p:txBody>
      </p:sp>
      <p:sp>
        <p:nvSpPr>
          <p:cNvPr id="30" name="Text 28"/>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31" name="Text 29"/>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Organization Structure</a:t>
            </a:r>
            <a:endParaRPr lang="en-US" sz="2600" dirty="0"/>
          </a:p>
        </p:txBody>
      </p:sp>
      <p:sp>
        <p:nvSpPr>
          <p:cNvPr id="3" name="Shape 1"/>
          <p:cNvSpPr/>
          <p:nvPr/>
        </p:nvSpPr>
        <p:spPr>
          <a:xfrm>
            <a:off x="457200" y="1143000"/>
            <a:ext cx="11274552" cy="5166360"/>
          </a:xfrm>
          <a:prstGeom prst="roundRect">
            <a:avLst>
              <a:gd name="adj" fmla="val 106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731520" y="1280160"/>
            <a:ext cx="10725912" cy="4937760"/>
          </a:xfrm>
          <a:prstGeom prst="rect">
            <a:avLst/>
          </a:prstGeom>
          <a:noFill/>
          <a:ln/>
        </p:spPr>
        <p:txBody>
          <a:bodyPr wrap="square" rtlCol="0" anchor="ctr">
            <a:normAutofit/>
          </a:bodyPr>
          <a:lstStyle/>
          <a:p>
            <a:pPr indent="0" marL="0">
              <a:buNone/>
            </a:pPr>
            <a:r>
              <a:rPr lang="en-US" sz="1300" dirty="0">
                <a:solidFill>
                  <a:srgbClr val="13192E"/>
                </a:solidFill>
                <a:latin typeface="Calibri" pitchFamily="34" charset="0"/>
                <a:ea typeface="Calibri" pitchFamily="34" charset="-122"/>
                <a:cs typeface="Calibri" pitchFamily="34" charset="-120"/>
              </a:rPr>
              <a:t>The business is organized into three segments: Productivity and Business Processes, Intelligent Cloud, and More Personal Computing.</a:t>
            </a:r>
            <a:endParaRPr lang="en-US" sz="1300" dirty="0"/>
          </a:p>
        </p:txBody>
      </p:sp>
      <p:sp>
        <p:nvSpPr>
          <p:cNvPr id="5" name="Text 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6" name="Text 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Leadership Team</a:t>
            </a:r>
            <a:endParaRPr lang="en-US" sz="2600" dirty="0"/>
          </a:p>
        </p:txBody>
      </p:sp>
      <p:sp>
        <p:nvSpPr>
          <p:cNvPr id="3" name="Shape 1"/>
          <p:cNvSpPr/>
          <p:nvPr/>
        </p:nvSpPr>
        <p:spPr>
          <a:xfrm>
            <a:off x="457200" y="1143000"/>
            <a:ext cx="3575304" cy="5257800"/>
          </a:xfrm>
          <a:prstGeom prst="roundRect">
            <a:avLst>
              <a:gd name="adj" fmla="val 153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pic>
        <p:nvPicPr>
          <p:cNvPr id="4" name="Image 0" descr="photos\satya-nadella.jpg">    </p:cNvPr>
          <p:cNvPicPr>
            <a:picLocks noChangeAspect="1"/>
          </p:cNvPicPr>
          <p:nvPr/>
        </p:nvPicPr>
        <p:blipFill>
          <a:blip r:embed="rId1"/>
          <a:stretch>
            <a:fillRect/>
          </a:stretch>
        </p:blipFill>
        <p:spPr>
          <a:xfrm>
            <a:off x="621792" y="1307592"/>
            <a:ext cx="594360" cy="594360"/>
          </a:xfrm>
          <a:prstGeom prst="ellipse">
            <a:avLst/>
          </a:prstGeom>
        </p:spPr>
      </p:pic>
      <p:sp>
        <p:nvSpPr>
          <p:cNvPr id="5" name="Text 2"/>
          <p:cNvSpPr/>
          <p:nvPr/>
        </p:nvSpPr>
        <p:spPr>
          <a:xfrm>
            <a:off x="1325880" y="1280160"/>
            <a:ext cx="2569464" cy="320040"/>
          </a:xfrm>
          <a:prstGeom prst="rect">
            <a:avLst/>
          </a:prstGeom>
          <a:noFill/>
          <a:ln/>
        </p:spPr>
        <p:txBody>
          <a:bodyPr wrap="square" rtlCol="0" anchor="ctr">
            <a:normAutofit/>
          </a:bodyPr>
          <a:lstStyle/>
          <a:p>
            <a:pPr indent="0" marL="0">
              <a:buNone/>
            </a:pPr>
            <a:r>
              <a:rPr lang="en-US" sz="1150" b="1" dirty="0">
                <a:solidFill>
                  <a:srgbClr val="1F2D50"/>
                </a:solidFill>
                <a:latin typeface="Calibri" pitchFamily="34" charset="0"/>
                <a:ea typeface="Calibri" pitchFamily="34" charset="-122"/>
                <a:cs typeface="Calibri" pitchFamily="34" charset="-120"/>
              </a:rPr>
              <a:t>Satya Nadella</a:t>
            </a:r>
            <a:endParaRPr lang="en-US" sz="1150" dirty="0"/>
          </a:p>
        </p:txBody>
      </p:sp>
      <p:sp>
        <p:nvSpPr>
          <p:cNvPr id="6" name="Text 3"/>
          <p:cNvSpPr/>
          <p:nvPr/>
        </p:nvSpPr>
        <p:spPr>
          <a:xfrm>
            <a:off x="1325880" y="1581912"/>
            <a:ext cx="2569464" cy="411480"/>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Chairman and Chief Executive Officer (Principal Executive Officer)</a:t>
            </a:r>
            <a:endParaRPr lang="en-US" sz="900" dirty="0"/>
          </a:p>
        </p:txBody>
      </p:sp>
      <p:sp>
        <p:nvSpPr>
          <p:cNvPr id="7" name="Text 4"/>
          <p:cNvSpPr/>
          <p:nvPr/>
        </p:nvSpPr>
        <p:spPr>
          <a:xfrm>
            <a:off x="621792" y="2011680"/>
            <a:ext cx="3246120" cy="4206240"/>
          </a:xfrm>
          <a:prstGeom prst="rect">
            <a:avLst/>
          </a:prstGeom>
          <a:noFill/>
          <a:ln/>
        </p:spPr>
        <p:txBody>
          <a:bodyPr wrap="square" rtlCol="0" anchor="t">
            <a:normAutofit/>
          </a:bodyPr>
          <a:lstStyle/>
          <a:p>
            <a:pPr indent="0" marL="0">
              <a:buNone/>
            </a:pPr>
            <a:r>
              <a:rPr lang="en-US" sz="850" dirty="0">
                <a:solidFill>
                  <a:srgbClr val="13192E"/>
                </a:solidFill>
                <a:latin typeface="Calibri" pitchFamily="34" charset="0"/>
                <a:ea typeface="Calibri" pitchFamily="34" charset="-122"/>
                <a:cs typeface="Calibri" pitchFamily="34" charset="-120"/>
              </a:rPr>
              <a:t>Satya Narayana Nadella is an Indian-American business executive. He is the chairman and chief executive officer (CEO) of Microsoft, succeeding Steve Ballmer in 2014 as CEO and John W. Thompson in 2021 as chairman. Before becoming CEO, he was the executive vice president of Microsoft's cloud and enterprise group, responsible for building and running the company's computing platforms.</a:t>
            </a:r>
            <a:endParaRPr lang="en-US" sz="850" dirty="0"/>
          </a:p>
        </p:txBody>
      </p:sp>
      <p:sp>
        <p:nvSpPr>
          <p:cNvPr id="8" name="Text 5">
            <a:hlinkClick r:id="rId2" tooltip=""/>
          </p:cNvPr>
          <p:cNvSpPr/>
          <p:nvPr/>
        </p:nvSpPr>
        <p:spPr>
          <a:xfrm>
            <a:off x="621792" y="6108192"/>
            <a:ext cx="3246120" cy="256032"/>
          </a:xfrm>
          <a:prstGeom prst="rect">
            <a:avLst/>
          </a:prstGeom>
          <a:noFill/>
          <a:ln/>
        </p:spPr>
        <p:txBody>
          <a:bodyPr wrap="square" rtlCol="0" anchor="ctr"/>
          <a:lstStyle/>
          <a:p>
            <a:pPr indent="0" marL="0">
              <a:buNone/>
            </a:pPr>
            <a:r>
              <a:rPr lang="en-US" sz="850" u="sng" dirty="0">
                <a:solidFill>
                  <a:srgbClr val="2E6F9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LinkedIn ↗</a:t>
            </a:r>
            <a:endParaRPr lang="en-US" sz="850" dirty="0"/>
          </a:p>
        </p:txBody>
      </p:sp>
      <p:sp>
        <p:nvSpPr>
          <p:cNvPr id="9" name="Shape 6"/>
          <p:cNvSpPr/>
          <p:nvPr/>
        </p:nvSpPr>
        <p:spPr>
          <a:xfrm>
            <a:off x="4306824" y="1143000"/>
            <a:ext cx="3575304" cy="5257800"/>
          </a:xfrm>
          <a:prstGeom prst="roundRect">
            <a:avLst>
              <a:gd name="adj" fmla="val 153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pic>
        <p:nvPicPr>
          <p:cNvPr id="10" name="Image 1" descr="photos\amy-e-hood.jpg">    </p:cNvPr>
          <p:cNvPicPr>
            <a:picLocks noChangeAspect="1"/>
          </p:cNvPicPr>
          <p:nvPr/>
        </p:nvPicPr>
        <p:blipFill>
          <a:blip r:embed="rId3"/>
          <a:stretch>
            <a:fillRect/>
          </a:stretch>
        </p:blipFill>
        <p:spPr>
          <a:xfrm>
            <a:off x="4471416" y="1307592"/>
            <a:ext cx="594360" cy="594360"/>
          </a:xfrm>
          <a:prstGeom prst="ellipse">
            <a:avLst/>
          </a:prstGeom>
        </p:spPr>
      </p:pic>
      <p:sp>
        <p:nvSpPr>
          <p:cNvPr id="11" name="Text 7"/>
          <p:cNvSpPr/>
          <p:nvPr/>
        </p:nvSpPr>
        <p:spPr>
          <a:xfrm>
            <a:off x="5175504" y="1280160"/>
            <a:ext cx="2569464" cy="320040"/>
          </a:xfrm>
          <a:prstGeom prst="rect">
            <a:avLst/>
          </a:prstGeom>
          <a:noFill/>
          <a:ln/>
        </p:spPr>
        <p:txBody>
          <a:bodyPr wrap="square" rtlCol="0" anchor="ctr">
            <a:normAutofit/>
          </a:bodyPr>
          <a:lstStyle/>
          <a:p>
            <a:pPr indent="0" marL="0">
              <a:buNone/>
            </a:pPr>
            <a:r>
              <a:rPr lang="en-US" sz="1150" b="1" dirty="0">
                <a:solidFill>
                  <a:srgbClr val="1F2D50"/>
                </a:solidFill>
                <a:latin typeface="Calibri" pitchFamily="34" charset="0"/>
                <a:ea typeface="Calibri" pitchFamily="34" charset="-122"/>
                <a:cs typeface="Calibri" pitchFamily="34" charset="-120"/>
              </a:rPr>
              <a:t>Amy E. Hood</a:t>
            </a:r>
            <a:endParaRPr lang="en-US" sz="1150" dirty="0"/>
          </a:p>
        </p:txBody>
      </p:sp>
      <p:sp>
        <p:nvSpPr>
          <p:cNvPr id="12" name="Text 8"/>
          <p:cNvSpPr/>
          <p:nvPr/>
        </p:nvSpPr>
        <p:spPr>
          <a:xfrm>
            <a:off x="5175504" y="1581912"/>
            <a:ext cx="2569464" cy="411480"/>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Executive Vice President and Chief Financial Officer (Principal Financial Officer)</a:t>
            </a:r>
            <a:endParaRPr lang="en-US" sz="900" dirty="0"/>
          </a:p>
        </p:txBody>
      </p:sp>
      <p:sp>
        <p:nvSpPr>
          <p:cNvPr id="13" name="Text 9"/>
          <p:cNvSpPr/>
          <p:nvPr/>
        </p:nvSpPr>
        <p:spPr>
          <a:xfrm>
            <a:off x="4471416" y="2011680"/>
            <a:ext cx="3246120" cy="4206240"/>
          </a:xfrm>
          <a:prstGeom prst="rect">
            <a:avLst/>
          </a:prstGeom>
          <a:noFill/>
          <a:ln/>
        </p:spPr>
        <p:txBody>
          <a:bodyPr wrap="square" rtlCol="0" anchor="t">
            <a:normAutofit/>
          </a:bodyPr>
          <a:lstStyle/>
          <a:p>
            <a:pPr indent="0" marL="0">
              <a:buNone/>
            </a:pPr>
            <a:r>
              <a:rPr lang="en-US" sz="850" dirty="0">
                <a:solidFill>
                  <a:srgbClr val="13192E"/>
                </a:solidFill>
                <a:latin typeface="Calibri" pitchFamily="34" charset="0"/>
                <a:ea typeface="Calibri" pitchFamily="34" charset="-122"/>
                <a:cs typeface="Calibri" pitchFamily="34" charset="-120"/>
              </a:rPr>
              <a:t>Amy Hood is an American business executive and has been the executive vice president and chief financial officer of Microsoft since 2013. Hood is the first female chief financial officer in Microsoft's history.</a:t>
            </a:r>
            <a:endParaRPr lang="en-US" sz="850" dirty="0"/>
          </a:p>
        </p:txBody>
      </p:sp>
      <p:sp>
        <p:nvSpPr>
          <p:cNvPr id="14" name="Text 10">
            <a:hlinkClick r:id="rId4" tooltip=""/>
          </p:cNvPr>
          <p:cNvSpPr/>
          <p:nvPr/>
        </p:nvSpPr>
        <p:spPr>
          <a:xfrm>
            <a:off x="4471416" y="6108192"/>
            <a:ext cx="3246120" cy="256032"/>
          </a:xfrm>
          <a:prstGeom prst="rect">
            <a:avLst/>
          </a:prstGeom>
          <a:noFill/>
          <a:ln/>
        </p:spPr>
        <p:txBody>
          <a:bodyPr wrap="square" rtlCol="0" anchor="ctr"/>
          <a:lstStyle/>
          <a:p>
            <a:pPr indent="0" marL="0">
              <a:buNone/>
            </a:pPr>
            <a:r>
              <a:rPr lang="en-US" sz="850" u="sng" dirty="0">
                <a:solidFill>
                  <a:srgbClr val="2E6F9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LinkedIn ↗</a:t>
            </a:r>
            <a:endParaRPr lang="en-US" sz="850" dirty="0"/>
          </a:p>
        </p:txBody>
      </p:sp>
      <p:sp>
        <p:nvSpPr>
          <p:cNvPr id="15" name="Shape 11"/>
          <p:cNvSpPr/>
          <p:nvPr/>
        </p:nvSpPr>
        <p:spPr>
          <a:xfrm>
            <a:off x="8156448" y="1143000"/>
            <a:ext cx="3575304" cy="5257800"/>
          </a:xfrm>
          <a:prstGeom prst="roundRect">
            <a:avLst>
              <a:gd name="adj" fmla="val 153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Shape 12"/>
          <p:cNvSpPr/>
          <p:nvPr/>
        </p:nvSpPr>
        <p:spPr>
          <a:xfrm>
            <a:off x="8321040" y="1307592"/>
            <a:ext cx="594360" cy="594360"/>
          </a:xfrm>
          <a:prstGeom prst="ellipse">
            <a:avLst/>
          </a:prstGeom>
          <a:solidFill>
            <a:srgbClr val="2E6F9E"/>
          </a:solidFill>
          <a:ln/>
        </p:spPr>
      </p:sp>
      <p:sp>
        <p:nvSpPr>
          <p:cNvPr id="17" name="Text 13"/>
          <p:cNvSpPr/>
          <p:nvPr/>
        </p:nvSpPr>
        <p:spPr>
          <a:xfrm>
            <a:off x="8321040" y="1307592"/>
            <a:ext cx="594360" cy="5943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AL</a:t>
            </a:r>
            <a:endParaRPr lang="en-US" sz="1600" dirty="0"/>
          </a:p>
        </p:txBody>
      </p:sp>
      <p:sp>
        <p:nvSpPr>
          <p:cNvPr id="18" name="Text 14"/>
          <p:cNvSpPr/>
          <p:nvPr/>
        </p:nvSpPr>
        <p:spPr>
          <a:xfrm>
            <a:off x="9025128" y="1280160"/>
            <a:ext cx="2569464" cy="320040"/>
          </a:xfrm>
          <a:prstGeom prst="rect">
            <a:avLst/>
          </a:prstGeom>
          <a:noFill/>
          <a:ln/>
        </p:spPr>
        <p:txBody>
          <a:bodyPr wrap="square" rtlCol="0" anchor="ctr">
            <a:normAutofit/>
          </a:bodyPr>
          <a:lstStyle/>
          <a:p>
            <a:pPr indent="0" marL="0">
              <a:buNone/>
            </a:pPr>
            <a:r>
              <a:rPr lang="en-US" sz="1150" b="1" dirty="0">
                <a:solidFill>
                  <a:srgbClr val="1F2D50"/>
                </a:solidFill>
                <a:latin typeface="Calibri" pitchFamily="34" charset="0"/>
                <a:ea typeface="Calibri" pitchFamily="34" charset="-122"/>
                <a:cs typeface="Calibri" pitchFamily="34" charset="-120"/>
              </a:rPr>
              <a:t>Alice L. Jolla</a:t>
            </a:r>
            <a:endParaRPr lang="en-US" sz="1150" dirty="0"/>
          </a:p>
        </p:txBody>
      </p:sp>
      <p:sp>
        <p:nvSpPr>
          <p:cNvPr id="19" name="Text 15"/>
          <p:cNvSpPr/>
          <p:nvPr/>
        </p:nvSpPr>
        <p:spPr>
          <a:xfrm>
            <a:off x="9025128" y="1581912"/>
            <a:ext cx="2569464" cy="411480"/>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Corporate Vice President and Chief Accounting Officer (Principal Accounting Officer)</a:t>
            </a:r>
            <a:endParaRPr lang="en-US" sz="900" dirty="0"/>
          </a:p>
        </p:txBody>
      </p:sp>
      <p:sp>
        <p:nvSpPr>
          <p:cNvPr id="20" name="Text 16">
            <a:hlinkClick r:id="rId5" tooltip=""/>
          </p:cNvPr>
          <p:cNvSpPr/>
          <p:nvPr/>
        </p:nvSpPr>
        <p:spPr>
          <a:xfrm>
            <a:off x="8321040" y="6108192"/>
            <a:ext cx="3246120" cy="256032"/>
          </a:xfrm>
          <a:prstGeom prst="rect">
            <a:avLst/>
          </a:prstGeom>
          <a:noFill/>
          <a:ln/>
        </p:spPr>
        <p:txBody>
          <a:bodyPr wrap="square" rtlCol="0" anchor="ctr"/>
          <a:lstStyle/>
          <a:p>
            <a:pPr indent="0" marL="0">
              <a:buNone/>
            </a:pPr>
            <a:r>
              <a:rPr lang="en-US" sz="850" u="sng" dirty="0">
                <a:solidFill>
                  <a:srgbClr val="2E6F9E"/>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LinkedIn ↗</a:t>
            </a:r>
            <a:endParaRPr lang="en-US" sz="850" dirty="0"/>
          </a:p>
        </p:txBody>
      </p:sp>
      <p:sp>
        <p:nvSpPr>
          <p:cNvPr id="21" name="Text 17"/>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22" name="Text 18"/>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2D50"/>
        </a:solidFill>
      </p:bgPr>
    </p:bg>
    <p:spTree>
      <p:nvGrpSpPr>
        <p:cNvPr id="1" name=""/>
        <p:cNvGrpSpPr/>
        <p:nvPr/>
      </p:nvGrpSpPr>
      <p:grpSpPr>
        <a:xfrm>
          <a:off x="0" y="0"/>
          <a:ext cx="0" cy="0"/>
          <a:chOff x="0" y="0"/>
          <a:chExt cx="0" cy="0"/>
        </a:xfrm>
      </p:grpSpPr>
      <p:sp>
        <p:nvSpPr>
          <p:cNvPr id="2" name="Text 0"/>
          <p:cNvSpPr/>
          <p:nvPr/>
        </p:nvSpPr>
        <p:spPr>
          <a:xfrm>
            <a:off x="731520" y="2971800"/>
            <a:ext cx="10725912" cy="91440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SWOT Analysis</a:t>
            </a:r>
            <a:endParaRPr 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SWOT Analysis</a:t>
            </a:r>
            <a:endParaRPr lang="en-US" sz="2600" dirty="0"/>
          </a:p>
        </p:txBody>
      </p:sp>
      <p:sp>
        <p:nvSpPr>
          <p:cNvPr id="3" name="Shape 1"/>
          <p:cNvSpPr/>
          <p:nvPr/>
        </p:nvSpPr>
        <p:spPr>
          <a:xfrm>
            <a:off x="457200" y="1143000"/>
            <a:ext cx="2612898" cy="5166360"/>
          </a:xfrm>
          <a:prstGeom prst="roundRect">
            <a:avLst>
              <a:gd name="adj" fmla="val 2100"/>
            </a:avLst>
          </a:prstGeom>
          <a:solidFill>
            <a:srgbClr val="F4F6F9"/>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Shape 2"/>
          <p:cNvSpPr/>
          <p:nvPr/>
        </p:nvSpPr>
        <p:spPr>
          <a:xfrm>
            <a:off x="457200" y="1143000"/>
            <a:ext cx="2612898" cy="457200"/>
          </a:xfrm>
          <a:prstGeom prst="rect">
            <a:avLst/>
          </a:prstGeom>
          <a:solidFill>
            <a:srgbClr val="3C8A5B"/>
          </a:solidFill>
          <a:ln/>
        </p:spPr>
      </p:sp>
      <p:sp>
        <p:nvSpPr>
          <p:cNvPr id="5" name="Text 3"/>
          <p:cNvSpPr/>
          <p:nvPr/>
        </p:nvSpPr>
        <p:spPr>
          <a:xfrm>
            <a:off x="457200" y="1143000"/>
            <a:ext cx="2612898"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STRENGTHS</a:t>
            </a:r>
            <a:endParaRPr lang="en-US" sz="1200" dirty="0"/>
          </a:p>
        </p:txBody>
      </p:sp>
      <p:sp>
        <p:nvSpPr>
          <p:cNvPr id="6" name="Text 4"/>
          <p:cNvSpPr/>
          <p:nvPr/>
        </p:nvSpPr>
        <p:spPr>
          <a:xfrm>
            <a:off x="594360" y="1737360"/>
            <a:ext cx="2338578" cy="4572000"/>
          </a:xfrm>
          <a:prstGeom prst="rect">
            <a:avLst/>
          </a:prstGeom>
          <a:noFill/>
          <a:ln/>
        </p:spPr>
        <p:txBody>
          <a:bodyPr wrap="square" rtlCol="0" anchor="t"/>
          <a:lstStyle/>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Strong financial performance and growth</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Dominant cloud and productivity segments</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High operational efficiency</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Strong balance sheet</a:t>
            </a:r>
            <a:endParaRPr lang="en-US" sz="950" dirty="0"/>
          </a:p>
        </p:txBody>
      </p:sp>
      <p:sp>
        <p:nvSpPr>
          <p:cNvPr id="7" name="Shape 5"/>
          <p:cNvSpPr/>
          <p:nvPr/>
        </p:nvSpPr>
        <p:spPr>
          <a:xfrm>
            <a:off x="3344418" y="1143000"/>
            <a:ext cx="2612898" cy="5166360"/>
          </a:xfrm>
          <a:prstGeom prst="roundRect">
            <a:avLst>
              <a:gd name="adj" fmla="val 2100"/>
            </a:avLst>
          </a:prstGeom>
          <a:solidFill>
            <a:srgbClr val="F4F6F9"/>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Shape 6"/>
          <p:cNvSpPr/>
          <p:nvPr/>
        </p:nvSpPr>
        <p:spPr>
          <a:xfrm>
            <a:off x="3344418" y="1143000"/>
            <a:ext cx="2612898" cy="457200"/>
          </a:xfrm>
          <a:prstGeom prst="rect">
            <a:avLst/>
          </a:prstGeom>
          <a:solidFill>
            <a:srgbClr val="B5473A"/>
          </a:solidFill>
          <a:ln/>
        </p:spPr>
      </p:sp>
      <p:sp>
        <p:nvSpPr>
          <p:cNvPr id="9" name="Text 7"/>
          <p:cNvSpPr/>
          <p:nvPr/>
        </p:nvSpPr>
        <p:spPr>
          <a:xfrm>
            <a:off x="3344418" y="1143000"/>
            <a:ext cx="2612898"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WEAKNESSES</a:t>
            </a:r>
            <a:endParaRPr lang="en-US" sz="1200" dirty="0"/>
          </a:p>
        </p:txBody>
      </p:sp>
      <p:sp>
        <p:nvSpPr>
          <p:cNvPr id="10" name="Text 8"/>
          <p:cNvSpPr/>
          <p:nvPr/>
        </p:nvSpPr>
        <p:spPr>
          <a:xfrm>
            <a:off x="3481578" y="1737360"/>
            <a:ext cx="2338578" cy="4572000"/>
          </a:xfrm>
          <a:prstGeom prst="rect">
            <a:avLst/>
          </a:prstGeom>
          <a:noFill/>
          <a:ln/>
        </p:spPr>
        <p:txBody>
          <a:bodyPr wrap="square" rtlCol="0" anchor="t"/>
          <a:lstStyle/>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Stagnation in personal computing segment</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High capital expenditure requirements</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Integration risks from acquisitions</a:t>
            </a:r>
            <a:endParaRPr lang="en-US" sz="950" dirty="0"/>
          </a:p>
        </p:txBody>
      </p:sp>
      <p:sp>
        <p:nvSpPr>
          <p:cNvPr id="11" name="Shape 9"/>
          <p:cNvSpPr/>
          <p:nvPr/>
        </p:nvSpPr>
        <p:spPr>
          <a:xfrm>
            <a:off x="6231636" y="1143000"/>
            <a:ext cx="2612898" cy="5166360"/>
          </a:xfrm>
          <a:prstGeom prst="roundRect">
            <a:avLst>
              <a:gd name="adj" fmla="val 2100"/>
            </a:avLst>
          </a:prstGeom>
          <a:solidFill>
            <a:srgbClr val="F4F6F9"/>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Shape 10"/>
          <p:cNvSpPr/>
          <p:nvPr/>
        </p:nvSpPr>
        <p:spPr>
          <a:xfrm>
            <a:off x="6231636" y="1143000"/>
            <a:ext cx="2612898" cy="457200"/>
          </a:xfrm>
          <a:prstGeom prst="rect">
            <a:avLst/>
          </a:prstGeom>
          <a:solidFill>
            <a:srgbClr val="2E6F9E"/>
          </a:solidFill>
          <a:ln/>
        </p:spPr>
      </p:sp>
      <p:sp>
        <p:nvSpPr>
          <p:cNvPr id="13" name="Text 11"/>
          <p:cNvSpPr/>
          <p:nvPr/>
        </p:nvSpPr>
        <p:spPr>
          <a:xfrm>
            <a:off x="6231636" y="1143000"/>
            <a:ext cx="2612898"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OPPORTUNITIES</a:t>
            </a:r>
            <a:endParaRPr lang="en-US" sz="1200" dirty="0"/>
          </a:p>
        </p:txBody>
      </p:sp>
      <p:sp>
        <p:nvSpPr>
          <p:cNvPr id="14" name="Text 12"/>
          <p:cNvSpPr/>
          <p:nvPr/>
        </p:nvSpPr>
        <p:spPr>
          <a:xfrm>
            <a:off x="6368796" y="1737360"/>
            <a:ext cx="2338578" cy="4572000"/>
          </a:xfrm>
          <a:prstGeom prst="rect">
            <a:avLst/>
          </a:prstGeom>
          <a:noFill/>
          <a:ln/>
        </p:spPr>
        <p:txBody>
          <a:bodyPr wrap="square" rtlCol="0" anchor="t"/>
          <a:lstStyle/>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Expansion of AI-driven services</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Growth in the XBOX ecosystem</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Global cloud infrastructure scaling</a:t>
            </a:r>
            <a:endParaRPr lang="en-US" sz="950" dirty="0"/>
          </a:p>
        </p:txBody>
      </p:sp>
      <p:sp>
        <p:nvSpPr>
          <p:cNvPr id="15" name="Shape 13"/>
          <p:cNvSpPr/>
          <p:nvPr/>
        </p:nvSpPr>
        <p:spPr>
          <a:xfrm>
            <a:off x="9118854" y="1143000"/>
            <a:ext cx="2612898" cy="5166360"/>
          </a:xfrm>
          <a:prstGeom prst="roundRect">
            <a:avLst>
              <a:gd name="adj" fmla="val 2100"/>
            </a:avLst>
          </a:prstGeom>
          <a:solidFill>
            <a:srgbClr val="F4F6F9"/>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Shape 14"/>
          <p:cNvSpPr/>
          <p:nvPr/>
        </p:nvSpPr>
        <p:spPr>
          <a:xfrm>
            <a:off x="9118854" y="1143000"/>
            <a:ext cx="2612898" cy="457200"/>
          </a:xfrm>
          <a:prstGeom prst="rect">
            <a:avLst/>
          </a:prstGeom>
          <a:solidFill>
            <a:srgbClr val="C6862B"/>
          </a:solidFill>
          <a:ln/>
        </p:spPr>
      </p:sp>
      <p:sp>
        <p:nvSpPr>
          <p:cNvPr id="17" name="Text 15"/>
          <p:cNvSpPr/>
          <p:nvPr/>
        </p:nvSpPr>
        <p:spPr>
          <a:xfrm>
            <a:off x="9118854" y="1143000"/>
            <a:ext cx="2612898"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THREATS</a:t>
            </a:r>
            <a:endParaRPr lang="en-US" sz="1200" dirty="0"/>
          </a:p>
        </p:txBody>
      </p:sp>
      <p:sp>
        <p:nvSpPr>
          <p:cNvPr id="18" name="Text 16"/>
          <p:cNvSpPr/>
          <p:nvPr/>
        </p:nvSpPr>
        <p:spPr>
          <a:xfrm>
            <a:off x="9256014" y="1737360"/>
            <a:ext cx="2338578" cy="4572000"/>
          </a:xfrm>
          <a:prstGeom prst="rect">
            <a:avLst/>
          </a:prstGeom>
          <a:noFill/>
          <a:ln/>
        </p:spPr>
        <p:txBody>
          <a:bodyPr wrap="square" rtlCol="0" anchor="t"/>
          <a:lstStyle/>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Regulatory and compliance risks</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Cybersecurity and infrastructure vulnerabilities</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Supply chain and resource constraints</a:t>
            </a:r>
            <a:endParaRPr lang="en-US" sz="950" dirty="0"/>
          </a:p>
          <a:p>
            <a:pPr marL="342900" indent="-342900">
              <a:buSzPct val="100000"/>
              <a:buChar char="•"/>
            </a:pPr>
            <a:r>
              <a:rPr lang="en-US" sz="950" dirty="0">
                <a:solidFill>
                  <a:srgbClr val="13192E"/>
                </a:solidFill>
                <a:latin typeface="Calibri" pitchFamily="34" charset="0"/>
                <a:ea typeface="Calibri" pitchFamily="34" charset="-122"/>
                <a:cs typeface="Calibri" pitchFamily="34" charset="-120"/>
              </a:rPr>
              <a:t>AI development and deployment risks</a:t>
            </a:r>
            <a:endParaRPr lang="en-US" sz="950" dirty="0"/>
          </a:p>
        </p:txBody>
      </p:sp>
      <p:sp>
        <p:nvSpPr>
          <p:cNvPr id="19" name="Text 17"/>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20" name="Text 18"/>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SWOT – Strengths</a:t>
            </a:r>
            <a:endParaRPr lang="en-US" sz="2600" dirty="0"/>
          </a:p>
        </p:txBody>
      </p:sp>
      <p:sp>
        <p:nvSpPr>
          <p:cNvPr id="3" name="Shape 1"/>
          <p:cNvSpPr/>
          <p:nvPr/>
        </p:nvSpPr>
        <p:spPr>
          <a:xfrm>
            <a:off x="457200" y="114300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Shape 2"/>
          <p:cNvSpPr/>
          <p:nvPr/>
        </p:nvSpPr>
        <p:spPr>
          <a:xfrm>
            <a:off x="640080" y="1289304"/>
            <a:ext cx="128016" cy="128016"/>
          </a:xfrm>
          <a:prstGeom prst="ellipse">
            <a:avLst/>
          </a:prstGeom>
          <a:solidFill>
            <a:srgbClr val="3C8A5B"/>
          </a:solidFill>
          <a:ln/>
        </p:spPr>
      </p:sp>
      <p:sp>
        <p:nvSpPr>
          <p:cNvPr id="5" name="Text 3"/>
          <p:cNvSpPr/>
          <p:nvPr/>
        </p:nvSpPr>
        <p:spPr>
          <a:xfrm>
            <a:off x="896112" y="121615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Strong financial performance and growth</a:t>
            </a:r>
            <a:endParaRPr lang="en-US" sz="1200" dirty="0"/>
          </a:p>
        </p:txBody>
      </p:sp>
      <p:sp>
        <p:nvSpPr>
          <p:cNvPr id="6" name="Text 4"/>
          <p:cNvSpPr/>
          <p:nvPr/>
        </p:nvSpPr>
        <p:spPr>
          <a:xfrm>
            <a:off x="896112" y="152704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Revenue grew to $331.84 billion in 2026 from $281.72 billion in the previous year, with a net income growth of 31.34%.</a:t>
            </a:r>
            <a:endParaRPr lang="en-US" sz="950" dirty="0"/>
          </a:p>
        </p:txBody>
      </p:sp>
      <p:sp>
        <p:nvSpPr>
          <p:cNvPr id="7" name="Shape 5"/>
          <p:cNvSpPr/>
          <p:nvPr/>
        </p:nvSpPr>
        <p:spPr>
          <a:xfrm>
            <a:off x="457200" y="237744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Shape 6"/>
          <p:cNvSpPr/>
          <p:nvPr/>
        </p:nvSpPr>
        <p:spPr>
          <a:xfrm>
            <a:off x="640080" y="2523744"/>
            <a:ext cx="128016" cy="128016"/>
          </a:xfrm>
          <a:prstGeom prst="ellipse">
            <a:avLst/>
          </a:prstGeom>
          <a:solidFill>
            <a:srgbClr val="3C8A5B"/>
          </a:solidFill>
          <a:ln/>
        </p:spPr>
      </p:sp>
      <p:sp>
        <p:nvSpPr>
          <p:cNvPr id="9" name="Text 7"/>
          <p:cNvSpPr/>
          <p:nvPr/>
        </p:nvSpPr>
        <p:spPr>
          <a:xfrm>
            <a:off x="896112" y="245059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Dominant cloud and productivity segments</a:t>
            </a:r>
            <a:endParaRPr lang="en-US" sz="1200" dirty="0"/>
          </a:p>
        </p:txBody>
      </p:sp>
      <p:sp>
        <p:nvSpPr>
          <p:cNvPr id="10" name="Text 8"/>
          <p:cNvSpPr/>
          <p:nvPr/>
        </p:nvSpPr>
        <p:spPr>
          <a:xfrm>
            <a:off x="896112" y="276148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Intelligent Cloud segment generated $137.79 billion in revenue, while Productivity and Business Processes generated $139.99 billion, together accounting for over 83% of total revenue.</a:t>
            </a:r>
            <a:endParaRPr lang="en-US" sz="950" dirty="0"/>
          </a:p>
        </p:txBody>
      </p:sp>
      <p:sp>
        <p:nvSpPr>
          <p:cNvPr id="11" name="Shape 9"/>
          <p:cNvSpPr/>
          <p:nvPr/>
        </p:nvSpPr>
        <p:spPr>
          <a:xfrm>
            <a:off x="457200" y="361188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Shape 10"/>
          <p:cNvSpPr/>
          <p:nvPr/>
        </p:nvSpPr>
        <p:spPr>
          <a:xfrm>
            <a:off x="640080" y="3758184"/>
            <a:ext cx="128016" cy="128016"/>
          </a:xfrm>
          <a:prstGeom prst="ellipse">
            <a:avLst/>
          </a:prstGeom>
          <a:solidFill>
            <a:srgbClr val="3C8A5B"/>
          </a:solidFill>
          <a:ln/>
        </p:spPr>
      </p:sp>
      <p:sp>
        <p:nvSpPr>
          <p:cNvPr id="13" name="Text 11"/>
          <p:cNvSpPr/>
          <p:nvPr/>
        </p:nvSpPr>
        <p:spPr>
          <a:xfrm>
            <a:off x="896112" y="368503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High operational efficiency</a:t>
            </a:r>
            <a:endParaRPr lang="en-US" sz="1200" dirty="0"/>
          </a:p>
        </p:txBody>
      </p:sp>
      <p:sp>
        <p:nvSpPr>
          <p:cNvPr id="14" name="Text 12"/>
          <p:cNvSpPr/>
          <p:nvPr/>
        </p:nvSpPr>
        <p:spPr>
          <a:xfrm>
            <a:off x="896112" y="399592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 maintains a robust operating margin of 46.78% and a gross margin of 67.94%.</a:t>
            </a:r>
            <a:endParaRPr lang="en-US" sz="950" dirty="0"/>
          </a:p>
        </p:txBody>
      </p:sp>
      <p:sp>
        <p:nvSpPr>
          <p:cNvPr id="15" name="Shape 13"/>
          <p:cNvSpPr/>
          <p:nvPr/>
        </p:nvSpPr>
        <p:spPr>
          <a:xfrm>
            <a:off x="457200" y="484632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Shape 14"/>
          <p:cNvSpPr/>
          <p:nvPr/>
        </p:nvSpPr>
        <p:spPr>
          <a:xfrm>
            <a:off x="640080" y="4992624"/>
            <a:ext cx="128016" cy="128016"/>
          </a:xfrm>
          <a:prstGeom prst="ellipse">
            <a:avLst/>
          </a:prstGeom>
          <a:solidFill>
            <a:srgbClr val="3C8A5B"/>
          </a:solidFill>
          <a:ln/>
        </p:spPr>
      </p:sp>
      <p:sp>
        <p:nvSpPr>
          <p:cNvPr id="17" name="Text 15"/>
          <p:cNvSpPr/>
          <p:nvPr/>
        </p:nvSpPr>
        <p:spPr>
          <a:xfrm>
            <a:off x="896112" y="491947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Strong balance sheet</a:t>
            </a:r>
            <a:endParaRPr lang="en-US" sz="1200" dirty="0"/>
          </a:p>
        </p:txBody>
      </p:sp>
      <p:sp>
        <p:nvSpPr>
          <p:cNvPr id="18" name="Text 16"/>
          <p:cNvSpPr/>
          <p:nvPr/>
        </p:nvSpPr>
        <p:spPr>
          <a:xfrm>
            <a:off x="896112" y="523036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 holds $442.39 billion in shareholders' equity with a low debt-to-equity ratio of 0.0911.</a:t>
            </a:r>
            <a:endParaRPr lang="en-US" sz="950" dirty="0"/>
          </a:p>
        </p:txBody>
      </p:sp>
      <p:sp>
        <p:nvSpPr>
          <p:cNvPr id="19" name="Text 17"/>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20" name="Text 18"/>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SWOT – Weaknesses</a:t>
            </a:r>
            <a:endParaRPr lang="en-US" sz="2600" dirty="0"/>
          </a:p>
        </p:txBody>
      </p:sp>
      <p:sp>
        <p:nvSpPr>
          <p:cNvPr id="3" name="Shape 1"/>
          <p:cNvSpPr/>
          <p:nvPr/>
        </p:nvSpPr>
        <p:spPr>
          <a:xfrm>
            <a:off x="457200" y="114300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Shape 2"/>
          <p:cNvSpPr/>
          <p:nvPr/>
        </p:nvSpPr>
        <p:spPr>
          <a:xfrm>
            <a:off x="640080" y="1289304"/>
            <a:ext cx="128016" cy="128016"/>
          </a:xfrm>
          <a:prstGeom prst="ellipse">
            <a:avLst/>
          </a:prstGeom>
          <a:solidFill>
            <a:srgbClr val="B5473A"/>
          </a:solidFill>
          <a:ln/>
        </p:spPr>
      </p:sp>
      <p:sp>
        <p:nvSpPr>
          <p:cNvPr id="5" name="Text 3"/>
          <p:cNvSpPr/>
          <p:nvPr/>
        </p:nvSpPr>
        <p:spPr>
          <a:xfrm>
            <a:off x="896112" y="121615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Stagnation in personal computing segment</a:t>
            </a:r>
            <a:endParaRPr lang="en-US" sz="1200" dirty="0"/>
          </a:p>
        </p:txBody>
      </p:sp>
      <p:sp>
        <p:nvSpPr>
          <p:cNvPr id="6" name="Text 4"/>
          <p:cNvSpPr/>
          <p:nvPr/>
        </p:nvSpPr>
        <p:spPr>
          <a:xfrm>
            <a:off x="896112" y="152704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'More Personal Computing' segment experienced a negative growth rate of -1.09%.</a:t>
            </a:r>
            <a:endParaRPr lang="en-US" sz="950" dirty="0"/>
          </a:p>
        </p:txBody>
      </p:sp>
      <p:sp>
        <p:nvSpPr>
          <p:cNvPr id="7" name="Shape 5"/>
          <p:cNvSpPr/>
          <p:nvPr/>
        </p:nvSpPr>
        <p:spPr>
          <a:xfrm>
            <a:off x="457200" y="237744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Shape 6"/>
          <p:cNvSpPr/>
          <p:nvPr/>
        </p:nvSpPr>
        <p:spPr>
          <a:xfrm>
            <a:off x="640080" y="2523744"/>
            <a:ext cx="128016" cy="128016"/>
          </a:xfrm>
          <a:prstGeom prst="ellipse">
            <a:avLst/>
          </a:prstGeom>
          <a:solidFill>
            <a:srgbClr val="B5473A"/>
          </a:solidFill>
          <a:ln/>
        </p:spPr>
      </p:sp>
      <p:sp>
        <p:nvSpPr>
          <p:cNvPr id="9" name="Text 7"/>
          <p:cNvSpPr/>
          <p:nvPr/>
        </p:nvSpPr>
        <p:spPr>
          <a:xfrm>
            <a:off x="896112" y="245059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High capital expenditure requirements</a:t>
            </a:r>
            <a:endParaRPr lang="en-US" sz="1200" dirty="0"/>
          </a:p>
        </p:txBody>
      </p:sp>
      <p:sp>
        <p:nvSpPr>
          <p:cNvPr id="10" name="Text 8"/>
          <p:cNvSpPr/>
          <p:nvPr/>
        </p:nvSpPr>
        <p:spPr>
          <a:xfrm>
            <a:off x="896112" y="276148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 reported capital expenditures of $115.95 billion, reflecting the high cost of scaling infrastructure.</a:t>
            </a:r>
            <a:endParaRPr lang="en-US" sz="950" dirty="0"/>
          </a:p>
        </p:txBody>
      </p:sp>
      <p:sp>
        <p:nvSpPr>
          <p:cNvPr id="11" name="Shape 9"/>
          <p:cNvSpPr/>
          <p:nvPr/>
        </p:nvSpPr>
        <p:spPr>
          <a:xfrm>
            <a:off x="457200" y="361188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Shape 10"/>
          <p:cNvSpPr/>
          <p:nvPr/>
        </p:nvSpPr>
        <p:spPr>
          <a:xfrm>
            <a:off x="640080" y="3758184"/>
            <a:ext cx="128016" cy="128016"/>
          </a:xfrm>
          <a:prstGeom prst="ellipse">
            <a:avLst/>
          </a:prstGeom>
          <a:solidFill>
            <a:srgbClr val="B5473A"/>
          </a:solidFill>
          <a:ln/>
        </p:spPr>
      </p:sp>
      <p:sp>
        <p:nvSpPr>
          <p:cNvPr id="13" name="Text 11"/>
          <p:cNvSpPr/>
          <p:nvPr/>
        </p:nvSpPr>
        <p:spPr>
          <a:xfrm>
            <a:off x="896112" y="368503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Integration risks from acquisitions</a:t>
            </a:r>
            <a:endParaRPr lang="en-US" sz="1200" dirty="0"/>
          </a:p>
        </p:txBody>
      </p:sp>
      <p:sp>
        <p:nvSpPr>
          <p:cNvPr id="14" name="Text 12"/>
          <p:cNvSpPr/>
          <p:nvPr/>
        </p:nvSpPr>
        <p:spPr>
          <a:xfrm>
            <a:off x="896112" y="399592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Business challenges note that integrating new businesses and technologies is complex and may fail to meet strategic goals or adhere to existing security policies.</a:t>
            </a:r>
            <a:endParaRPr lang="en-US" sz="950" dirty="0"/>
          </a:p>
        </p:txBody>
      </p:sp>
      <p:sp>
        <p:nvSpPr>
          <p:cNvPr id="15" name="Text 1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16" name="Text 1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SWOT – Opportunities</a:t>
            </a:r>
            <a:endParaRPr lang="en-US" sz="2600" dirty="0"/>
          </a:p>
        </p:txBody>
      </p:sp>
      <p:sp>
        <p:nvSpPr>
          <p:cNvPr id="3" name="Shape 1"/>
          <p:cNvSpPr/>
          <p:nvPr/>
        </p:nvSpPr>
        <p:spPr>
          <a:xfrm>
            <a:off x="457200" y="114300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Shape 2"/>
          <p:cNvSpPr/>
          <p:nvPr/>
        </p:nvSpPr>
        <p:spPr>
          <a:xfrm>
            <a:off x="640080" y="1289304"/>
            <a:ext cx="128016" cy="128016"/>
          </a:xfrm>
          <a:prstGeom prst="ellipse">
            <a:avLst/>
          </a:prstGeom>
          <a:solidFill>
            <a:srgbClr val="2E6F9E"/>
          </a:solidFill>
          <a:ln/>
        </p:spPr>
      </p:sp>
      <p:sp>
        <p:nvSpPr>
          <p:cNvPr id="5" name="Text 3"/>
          <p:cNvSpPr/>
          <p:nvPr/>
        </p:nvSpPr>
        <p:spPr>
          <a:xfrm>
            <a:off x="896112" y="121615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Expansion of AI-driven services</a:t>
            </a:r>
            <a:endParaRPr lang="en-US" sz="1200" dirty="0"/>
          </a:p>
        </p:txBody>
      </p:sp>
      <p:sp>
        <p:nvSpPr>
          <p:cNvPr id="6" name="Text 4"/>
          <p:cNvSpPr/>
          <p:nvPr/>
        </p:nvSpPr>
        <p:spPr>
          <a:xfrm>
            <a:off x="896112" y="152704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Strategic priorities include scaling AI infrastructure and services, and leveraging Microsoft Copilot as a digital companion.</a:t>
            </a:r>
            <a:endParaRPr lang="en-US" sz="950" dirty="0"/>
          </a:p>
        </p:txBody>
      </p:sp>
      <p:sp>
        <p:nvSpPr>
          <p:cNvPr id="7" name="Shape 5"/>
          <p:cNvSpPr/>
          <p:nvPr/>
        </p:nvSpPr>
        <p:spPr>
          <a:xfrm>
            <a:off x="457200" y="237744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Shape 6"/>
          <p:cNvSpPr/>
          <p:nvPr/>
        </p:nvSpPr>
        <p:spPr>
          <a:xfrm>
            <a:off x="640080" y="2523744"/>
            <a:ext cx="128016" cy="128016"/>
          </a:xfrm>
          <a:prstGeom prst="ellipse">
            <a:avLst/>
          </a:prstGeom>
          <a:solidFill>
            <a:srgbClr val="2E6F9E"/>
          </a:solidFill>
          <a:ln/>
        </p:spPr>
      </p:sp>
      <p:sp>
        <p:nvSpPr>
          <p:cNvPr id="9" name="Text 7"/>
          <p:cNvSpPr/>
          <p:nvPr/>
        </p:nvSpPr>
        <p:spPr>
          <a:xfrm>
            <a:off x="896112" y="245059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Growth in the XBOX ecosystem</a:t>
            </a:r>
            <a:endParaRPr lang="en-US" sz="1200" dirty="0"/>
          </a:p>
        </p:txBody>
      </p:sp>
      <p:sp>
        <p:nvSpPr>
          <p:cNvPr id="10" name="Text 8"/>
          <p:cNvSpPr/>
          <p:nvPr/>
        </p:nvSpPr>
        <p:spPr>
          <a:xfrm>
            <a:off x="896112" y="276148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Corporate strategy focuses on identifying new opportunities to attract gamers and expanding the platform to new ecosystems like mobile and PC.</a:t>
            </a:r>
            <a:endParaRPr lang="en-US" sz="950" dirty="0"/>
          </a:p>
        </p:txBody>
      </p:sp>
      <p:sp>
        <p:nvSpPr>
          <p:cNvPr id="11" name="Shape 9"/>
          <p:cNvSpPr/>
          <p:nvPr/>
        </p:nvSpPr>
        <p:spPr>
          <a:xfrm>
            <a:off x="457200" y="361188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Shape 10"/>
          <p:cNvSpPr/>
          <p:nvPr/>
        </p:nvSpPr>
        <p:spPr>
          <a:xfrm>
            <a:off x="640080" y="3758184"/>
            <a:ext cx="128016" cy="128016"/>
          </a:xfrm>
          <a:prstGeom prst="ellipse">
            <a:avLst/>
          </a:prstGeom>
          <a:solidFill>
            <a:srgbClr val="2E6F9E"/>
          </a:solidFill>
          <a:ln/>
        </p:spPr>
      </p:sp>
      <p:sp>
        <p:nvSpPr>
          <p:cNvPr id="13" name="Text 11"/>
          <p:cNvSpPr/>
          <p:nvPr/>
        </p:nvSpPr>
        <p:spPr>
          <a:xfrm>
            <a:off x="896112" y="368503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Global cloud infrastructure scaling</a:t>
            </a:r>
            <a:endParaRPr lang="en-US" sz="1200" dirty="0"/>
          </a:p>
        </p:txBody>
      </p:sp>
      <p:sp>
        <p:nvSpPr>
          <p:cNvPr id="14" name="Text 12"/>
          <p:cNvSpPr/>
          <p:nvPr/>
        </p:nvSpPr>
        <p:spPr>
          <a:xfrm>
            <a:off x="896112" y="399592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The company aims to expand its cloud services globally through a network of datacenters to meet the needs of businesses of all sizes.</a:t>
            </a:r>
            <a:endParaRPr lang="en-US" sz="950" dirty="0"/>
          </a:p>
        </p:txBody>
      </p:sp>
      <p:sp>
        <p:nvSpPr>
          <p:cNvPr id="15" name="Text 1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16" name="Text 1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SWOT – Threats</a:t>
            </a:r>
            <a:endParaRPr lang="en-US" sz="2600" dirty="0"/>
          </a:p>
        </p:txBody>
      </p:sp>
      <p:sp>
        <p:nvSpPr>
          <p:cNvPr id="3" name="Shape 1"/>
          <p:cNvSpPr/>
          <p:nvPr/>
        </p:nvSpPr>
        <p:spPr>
          <a:xfrm>
            <a:off x="457200" y="114300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Shape 2"/>
          <p:cNvSpPr/>
          <p:nvPr/>
        </p:nvSpPr>
        <p:spPr>
          <a:xfrm>
            <a:off x="640080" y="1289304"/>
            <a:ext cx="128016" cy="128016"/>
          </a:xfrm>
          <a:prstGeom prst="ellipse">
            <a:avLst/>
          </a:prstGeom>
          <a:solidFill>
            <a:srgbClr val="C6862B"/>
          </a:solidFill>
          <a:ln/>
        </p:spPr>
      </p:sp>
      <p:sp>
        <p:nvSpPr>
          <p:cNvPr id="5" name="Text 3"/>
          <p:cNvSpPr/>
          <p:nvPr/>
        </p:nvSpPr>
        <p:spPr>
          <a:xfrm>
            <a:off x="896112" y="121615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Regulatory and compliance risks</a:t>
            </a:r>
            <a:endParaRPr lang="en-US" sz="1200" dirty="0"/>
          </a:p>
        </p:txBody>
      </p:sp>
      <p:sp>
        <p:nvSpPr>
          <p:cNvPr id="6" name="Text 4"/>
          <p:cNvSpPr/>
          <p:nvPr/>
        </p:nvSpPr>
        <p:spPr>
          <a:xfrm>
            <a:off x="896112" y="152704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Business challenges highlight that global requirements regarding data privacy, cybersecurity, and AI governance are inconsistent and constantly changing, creating compliance uncertainty.</a:t>
            </a:r>
            <a:endParaRPr lang="en-US" sz="950" dirty="0"/>
          </a:p>
        </p:txBody>
      </p:sp>
      <p:sp>
        <p:nvSpPr>
          <p:cNvPr id="7" name="Shape 5"/>
          <p:cNvSpPr/>
          <p:nvPr/>
        </p:nvSpPr>
        <p:spPr>
          <a:xfrm>
            <a:off x="457200" y="237744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Shape 6"/>
          <p:cNvSpPr/>
          <p:nvPr/>
        </p:nvSpPr>
        <p:spPr>
          <a:xfrm>
            <a:off x="640080" y="2523744"/>
            <a:ext cx="128016" cy="128016"/>
          </a:xfrm>
          <a:prstGeom prst="ellipse">
            <a:avLst/>
          </a:prstGeom>
          <a:solidFill>
            <a:srgbClr val="C6862B"/>
          </a:solidFill>
          <a:ln/>
        </p:spPr>
      </p:sp>
      <p:sp>
        <p:nvSpPr>
          <p:cNvPr id="9" name="Text 7"/>
          <p:cNvSpPr/>
          <p:nvPr/>
        </p:nvSpPr>
        <p:spPr>
          <a:xfrm>
            <a:off x="896112" y="245059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Cybersecurity and infrastructure vulnerabilities</a:t>
            </a:r>
            <a:endParaRPr lang="en-US" sz="1200" dirty="0"/>
          </a:p>
        </p:txBody>
      </p:sp>
      <p:sp>
        <p:nvSpPr>
          <p:cNvPr id="10" name="Text 8"/>
          <p:cNvSpPr/>
          <p:nvPr/>
        </p:nvSpPr>
        <p:spPr>
          <a:xfrm>
            <a:off x="896112" y="276148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Threat actors, including nation-states, use sophisticated methods like password sprays and AI to exploit vulnerabilities in infrastructure and software.</a:t>
            </a:r>
            <a:endParaRPr lang="en-US" sz="950" dirty="0"/>
          </a:p>
        </p:txBody>
      </p:sp>
      <p:sp>
        <p:nvSpPr>
          <p:cNvPr id="11" name="Shape 9"/>
          <p:cNvSpPr/>
          <p:nvPr/>
        </p:nvSpPr>
        <p:spPr>
          <a:xfrm>
            <a:off x="457200" y="361188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Shape 10"/>
          <p:cNvSpPr/>
          <p:nvPr/>
        </p:nvSpPr>
        <p:spPr>
          <a:xfrm>
            <a:off x="640080" y="3758184"/>
            <a:ext cx="128016" cy="128016"/>
          </a:xfrm>
          <a:prstGeom prst="ellipse">
            <a:avLst/>
          </a:prstGeom>
          <a:solidFill>
            <a:srgbClr val="C6862B"/>
          </a:solidFill>
          <a:ln/>
        </p:spPr>
      </p:sp>
      <p:sp>
        <p:nvSpPr>
          <p:cNvPr id="13" name="Text 11"/>
          <p:cNvSpPr/>
          <p:nvPr/>
        </p:nvSpPr>
        <p:spPr>
          <a:xfrm>
            <a:off x="896112" y="368503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Supply chain and resource constraints</a:t>
            </a:r>
            <a:endParaRPr lang="en-US" sz="1200" dirty="0"/>
          </a:p>
        </p:txBody>
      </p:sp>
      <p:sp>
        <p:nvSpPr>
          <p:cNvPr id="14" name="Text 12"/>
          <p:cNvSpPr/>
          <p:nvPr/>
        </p:nvSpPr>
        <p:spPr>
          <a:xfrm>
            <a:off x="896112" y="399592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Infrastructure development is hindered by power availability, land zoning, environmental regulations, and shortages of critical components like semiconductors.</a:t>
            </a:r>
            <a:endParaRPr lang="en-US" sz="950" dirty="0"/>
          </a:p>
        </p:txBody>
      </p:sp>
      <p:sp>
        <p:nvSpPr>
          <p:cNvPr id="15" name="Shape 13"/>
          <p:cNvSpPr/>
          <p:nvPr/>
        </p:nvSpPr>
        <p:spPr>
          <a:xfrm>
            <a:off x="457200" y="4846320"/>
            <a:ext cx="11274552" cy="1097280"/>
          </a:xfrm>
          <a:prstGeom prst="roundRect">
            <a:avLst>
              <a:gd name="adj" fmla="val 5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Shape 14"/>
          <p:cNvSpPr/>
          <p:nvPr/>
        </p:nvSpPr>
        <p:spPr>
          <a:xfrm>
            <a:off x="640080" y="4992624"/>
            <a:ext cx="128016" cy="128016"/>
          </a:xfrm>
          <a:prstGeom prst="ellipse">
            <a:avLst/>
          </a:prstGeom>
          <a:solidFill>
            <a:srgbClr val="C6862B"/>
          </a:solidFill>
          <a:ln/>
        </p:spPr>
      </p:sp>
      <p:sp>
        <p:nvSpPr>
          <p:cNvPr id="17" name="Text 15"/>
          <p:cNvSpPr/>
          <p:nvPr/>
        </p:nvSpPr>
        <p:spPr>
          <a:xfrm>
            <a:off x="896112" y="4919472"/>
            <a:ext cx="10607040" cy="320040"/>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AI development and deployment risks</a:t>
            </a:r>
            <a:endParaRPr lang="en-US" sz="1200" dirty="0"/>
          </a:p>
        </p:txBody>
      </p:sp>
      <p:sp>
        <p:nvSpPr>
          <p:cNvPr id="18" name="Text 16"/>
          <p:cNvSpPr/>
          <p:nvPr/>
        </p:nvSpPr>
        <p:spPr>
          <a:xfrm>
            <a:off x="896112" y="5230368"/>
            <a:ext cx="10607040" cy="731520"/>
          </a:xfrm>
          <a:prstGeom prst="rect">
            <a:avLst/>
          </a:prstGeom>
          <a:noFill/>
          <a:ln/>
        </p:spPr>
        <p:txBody>
          <a:bodyPr wrap="square" rtlCol="0" anchor="t">
            <a:normAutofit/>
          </a:bodyPr>
          <a:lstStyle/>
          <a:p>
            <a:pPr indent="0" marL="0">
              <a:buNone/>
            </a:pPr>
            <a:r>
              <a:rPr lang="en-US" sz="950" dirty="0">
                <a:solidFill>
                  <a:srgbClr val="5B6472"/>
                </a:solidFill>
                <a:latin typeface="Calibri" pitchFamily="34" charset="0"/>
                <a:ea typeface="Calibri" pitchFamily="34" charset="-122"/>
                <a:cs typeface="Calibri" pitchFamily="34" charset="-120"/>
              </a:rPr>
              <a:t>AI models may contain biases, inaccuracies, or be used in unforeseen ways, creating new attack surfaces and potential legal or reputational harm.</a:t>
            </a:r>
            <a:endParaRPr lang="en-US" sz="950" dirty="0"/>
          </a:p>
        </p:txBody>
      </p:sp>
      <p:sp>
        <p:nvSpPr>
          <p:cNvPr id="19" name="Text 17"/>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20" name="Text 18"/>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2D50"/>
        </a:solidFill>
      </p:bgPr>
    </p:bg>
    <p:spTree>
      <p:nvGrpSpPr>
        <p:cNvPr id="1" name=""/>
        <p:cNvGrpSpPr/>
        <p:nvPr/>
      </p:nvGrpSpPr>
      <p:grpSpPr>
        <a:xfrm>
          <a:off x="0" y="0"/>
          <a:ext cx="0" cy="0"/>
          <a:chOff x="0" y="0"/>
          <a:chExt cx="0" cy="0"/>
        </a:xfrm>
      </p:grpSpPr>
      <p:sp>
        <p:nvSpPr>
          <p:cNvPr id="2" name="Text 0"/>
          <p:cNvSpPr/>
          <p:nvPr/>
        </p:nvSpPr>
        <p:spPr>
          <a:xfrm>
            <a:off x="731520" y="2971800"/>
            <a:ext cx="10725912" cy="91440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Financials</a:t>
            </a:r>
            <a:endParaRPr 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Financials – Annual</a:t>
            </a:r>
            <a:endParaRPr lang="en-US" sz="2600" dirty="0"/>
          </a:p>
        </p:txBody>
      </p:sp>
      <p:graphicFrame>
        <p:nvGraphicFramePr>
          <p:cNvPr id="3" name="Chart 0" descr=""/>
          <p:cNvGraphicFramePr/>
          <p:nvPr/>
        </p:nvGraphicFramePr>
        <p:xfrm>
          <a:off x="457200" y="1143000"/>
          <a:ext cx="7315200" cy="51206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8092440" y="1143000"/>
            <a:ext cx="3566160" cy="320040"/>
          </a:xfrm>
          <a:prstGeom prst="rect">
            <a:avLst/>
          </a:prstGeom>
          <a:noFill/>
          <a:ln/>
        </p:spPr>
        <p:txBody>
          <a:bodyPr wrap="square" rtlCol="0" anchor="ctr"/>
          <a:lstStyle/>
          <a:p>
            <a:pPr indent="0" marL="0">
              <a:buNone/>
            </a:pPr>
            <a:r>
              <a:rPr lang="en-US" sz="1300" b="1" dirty="0">
                <a:solidFill>
                  <a:srgbClr val="1F2D50"/>
                </a:solidFill>
                <a:latin typeface="Calibri" pitchFamily="34" charset="0"/>
                <a:ea typeface="Calibri" pitchFamily="34" charset="-122"/>
                <a:cs typeface="Calibri" pitchFamily="34" charset="-120"/>
              </a:rPr>
              <a:t>Highlights</a:t>
            </a:r>
            <a:endParaRPr lang="en-US" sz="1300" dirty="0"/>
          </a:p>
        </p:txBody>
      </p:sp>
      <p:sp>
        <p:nvSpPr>
          <p:cNvPr id="5" name="Text 2"/>
          <p:cNvSpPr/>
          <p:nvPr/>
        </p:nvSpPr>
        <p:spPr>
          <a:xfrm>
            <a:off x="8092440" y="1508760"/>
            <a:ext cx="2103120" cy="32004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EBITDA</a:t>
            </a:r>
            <a:endParaRPr lang="en-US" sz="1000" dirty="0"/>
          </a:p>
        </p:txBody>
      </p:sp>
      <p:sp>
        <p:nvSpPr>
          <p:cNvPr id="6" name="Text 3"/>
          <p:cNvSpPr/>
          <p:nvPr/>
        </p:nvSpPr>
        <p:spPr>
          <a:xfrm>
            <a:off x="10149840" y="1508760"/>
            <a:ext cx="1463040" cy="320040"/>
          </a:xfrm>
          <a:prstGeom prst="rect">
            <a:avLst/>
          </a:prstGeom>
          <a:noFill/>
          <a:ln/>
        </p:spPr>
        <p:txBody>
          <a:bodyPr wrap="square" rtlCol="0" anchor="ctr"/>
          <a:lstStyle/>
          <a:p>
            <a:pPr algn="r" indent="0" marL="0">
              <a:buNone/>
            </a:pPr>
            <a:r>
              <a:rPr lang="en-US" sz="1000" b="1" dirty="0">
                <a:solidFill>
                  <a:srgbClr val="13192E"/>
                </a:solidFill>
                <a:latin typeface="Calibri" pitchFamily="34" charset="0"/>
                <a:ea typeface="Calibri" pitchFamily="34" charset="-122"/>
                <a:cs typeface="Calibri" pitchFamily="34" charset="-120"/>
              </a:rPr>
              <a:t>$193.8B</a:t>
            </a:r>
            <a:endParaRPr lang="en-US" sz="1000" dirty="0"/>
          </a:p>
        </p:txBody>
      </p:sp>
      <p:sp>
        <p:nvSpPr>
          <p:cNvPr id="7" name="Text 4"/>
          <p:cNvSpPr/>
          <p:nvPr/>
        </p:nvSpPr>
        <p:spPr>
          <a:xfrm>
            <a:off x="8092440" y="1874520"/>
            <a:ext cx="2103120" cy="32004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Gross Profit</a:t>
            </a:r>
            <a:endParaRPr lang="en-US" sz="1000" dirty="0"/>
          </a:p>
        </p:txBody>
      </p:sp>
      <p:sp>
        <p:nvSpPr>
          <p:cNvPr id="8" name="Text 5"/>
          <p:cNvSpPr/>
          <p:nvPr/>
        </p:nvSpPr>
        <p:spPr>
          <a:xfrm>
            <a:off x="10149840" y="1874520"/>
            <a:ext cx="1463040" cy="320040"/>
          </a:xfrm>
          <a:prstGeom prst="rect">
            <a:avLst/>
          </a:prstGeom>
          <a:noFill/>
          <a:ln/>
        </p:spPr>
        <p:txBody>
          <a:bodyPr wrap="square" rtlCol="0" anchor="ctr"/>
          <a:lstStyle/>
          <a:p>
            <a:pPr algn="r" indent="0" marL="0">
              <a:buNone/>
            </a:pPr>
            <a:r>
              <a:rPr lang="en-US" sz="1000" b="1" dirty="0">
                <a:solidFill>
                  <a:srgbClr val="13192E"/>
                </a:solidFill>
                <a:latin typeface="Calibri" pitchFamily="34" charset="0"/>
                <a:ea typeface="Calibri" pitchFamily="34" charset="-122"/>
                <a:cs typeface="Calibri" pitchFamily="34" charset="-120"/>
              </a:rPr>
              <a:t>$225.5B</a:t>
            </a:r>
            <a:endParaRPr lang="en-US" sz="1000" dirty="0"/>
          </a:p>
        </p:txBody>
      </p:sp>
      <p:sp>
        <p:nvSpPr>
          <p:cNvPr id="9" name="Text 6"/>
          <p:cNvSpPr/>
          <p:nvPr/>
        </p:nvSpPr>
        <p:spPr>
          <a:xfrm>
            <a:off x="8092440" y="2240280"/>
            <a:ext cx="2103120" cy="32004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EPS</a:t>
            </a:r>
            <a:endParaRPr lang="en-US" sz="1000" dirty="0"/>
          </a:p>
        </p:txBody>
      </p:sp>
      <p:sp>
        <p:nvSpPr>
          <p:cNvPr id="10" name="Text 7"/>
          <p:cNvSpPr/>
          <p:nvPr/>
        </p:nvSpPr>
        <p:spPr>
          <a:xfrm>
            <a:off x="10149840" y="2240280"/>
            <a:ext cx="1463040" cy="320040"/>
          </a:xfrm>
          <a:prstGeom prst="rect">
            <a:avLst/>
          </a:prstGeom>
          <a:noFill/>
          <a:ln/>
        </p:spPr>
        <p:txBody>
          <a:bodyPr wrap="square" rtlCol="0" anchor="ctr"/>
          <a:lstStyle/>
          <a:p>
            <a:pPr algn="r" indent="0" marL="0">
              <a:buNone/>
            </a:pPr>
            <a:r>
              <a:rPr lang="en-US" sz="1000" b="1" dirty="0">
                <a:solidFill>
                  <a:srgbClr val="13192E"/>
                </a:solidFill>
                <a:latin typeface="Calibri" pitchFamily="34" charset="0"/>
                <a:ea typeface="Calibri" pitchFamily="34" charset="-122"/>
                <a:cs typeface="Calibri" pitchFamily="34" charset="-120"/>
              </a:rPr>
              <a:t>17.95</a:t>
            </a:r>
            <a:endParaRPr lang="en-US" sz="1000" dirty="0"/>
          </a:p>
        </p:txBody>
      </p:sp>
      <p:sp>
        <p:nvSpPr>
          <p:cNvPr id="11" name="Text 8"/>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12" name="Text 9"/>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Financials – Current Quarter</a:t>
            </a:r>
            <a:endParaRPr lang="en-US" sz="2600" dirty="0"/>
          </a:p>
        </p:txBody>
      </p:sp>
      <p:sp>
        <p:nvSpPr>
          <p:cNvPr id="3" name="Shape 1"/>
          <p:cNvSpPr/>
          <p:nvPr/>
        </p:nvSpPr>
        <p:spPr>
          <a:xfrm>
            <a:off x="457200" y="12344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94360" y="13258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QUARTER</a:t>
            </a:r>
            <a:endParaRPr lang="en-US" sz="900" dirty="0"/>
          </a:p>
        </p:txBody>
      </p:sp>
      <p:sp>
        <p:nvSpPr>
          <p:cNvPr id="5" name="Text 3"/>
          <p:cNvSpPr/>
          <p:nvPr/>
        </p:nvSpPr>
        <p:spPr>
          <a:xfrm>
            <a:off x="594360" y="15819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2026-03-31</a:t>
            </a:r>
            <a:endParaRPr lang="en-US" sz="1400" dirty="0"/>
          </a:p>
        </p:txBody>
      </p:sp>
      <p:sp>
        <p:nvSpPr>
          <p:cNvPr id="6" name="Shape 4"/>
          <p:cNvSpPr/>
          <p:nvPr/>
        </p:nvSpPr>
        <p:spPr>
          <a:xfrm>
            <a:off x="457200" y="21488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594360" y="22402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REVENUE</a:t>
            </a:r>
            <a:endParaRPr lang="en-US" sz="900" dirty="0"/>
          </a:p>
        </p:txBody>
      </p:sp>
      <p:sp>
        <p:nvSpPr>
          <p:cNvPr id="8" name="Text 6"/>
          <p:cNvSpPr/>
          <p:nvPr/>
        </p:nvSpPr>
        <p:spPr>
          <a:xfrm>
            <a:off x="594360" y="24963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$82.9B</a:t>
            </a:r>
            <a:endParaRPr lang="en-US" sz="1400" dirty="0"/>
          </a:p>
        </p:txBody>
      </p:sp>
      <p:sp>
        <p:nvSpPr>
          <p:cNvPr id="9" name="Shape 7"/>
          <p:cNvSpPr/>
          <p:nvPr/>
        </p:nvSpPr>
        <p:spPr>
          <a:xfrm>
            <a:off x="457200" y="30632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Text 8"/>
          <p:cNvSpPr/>
          <p:nvPr/>
        </p:nvSpPr>
        <p:spPr>
          <a:xfrm>
            <a:off x="594360" y="31546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OPERATING INCOME</a:t>
            </a:r>
            <a:endParaRPr lang="en-US" sz="900" dirty="0"/>
          </a:p>
        </p:txBody>
      </p:sp>
      <p:sp>
        <p:nvSpPr>
          <p:cNvPr id="11" name="Text 9"/>
          <p:cNvSpPr/>
          <p:nvPr/>
        </p:nvSpPr>
        <p:spPr>
          <a:xfrm>
            <a:off x="594360" y="34107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$38.4B</a:t>
            </a:r>
            <a:endParaRPr lang="en-US" sz="1400" dirty="0"/>
          </a:p>
        </p:txBody>
      </p:sp>
      <p:sp>
        <p:nvSpPr>
          <p:cNvPr id="12" name="Shape 10"/>
          <p:cNvSpPr/>
          <p:nvPr/>
        </p:nvSpPr>
        <p:spPr>
          <a:xfrm>
            <a:off x="457200" y="39776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3" name="Text 11"/>
          <p:cNvSpPr/>
          <p:nvPr/>
        </p:nvSpPr>
        <p:spPr>
          <a:xfrm>
            <a:off x="594360" y="40690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NET INCOME</a:t>
            </a:r>
            <a:endParaRPr lang="en-US" sz="900" dirty="0"/>
          </a:p>
        </p:txBody>
      </p:sp>
      <p:sp>
        <p:nvSpPr>
          <p:cNvPr id="14" name="Text 12"/>
          <p:cNvSpPr/>
          <p:nvPr/>
        </p:nvSpPr>
        <p:spPr>
          <a:xfrm>
            <a:off x="594360" y="43251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$31.8B</a:t>
            </a:r>
            <a:endParaRPr lang="en-US" sz="1400" dirty="0"/>
          </a:p>
        </p:txBody>
      </p:sp>
      <p:sp>
        <p:nvSpPr>
          <p:cNvPr id="15" name="Shape 13"/>
          <p:cNvSpPr/>
          <p:nvPr/>
        </p:nvSpPr>
        <p:spPr>
          <a:xfrm>
            <a:off x="6185916" y="12344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Text 14"/>
          <p:cNvSpPr/>
          <p:nvPr/>
        </p:nvSpPr>
        <p:spPr>
          <a:xfrm>
            <a:off x="6323076" y="13258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EBITDA</a:t>
            </a:r>
            <a:endParaRPr lang="en-US" sz="900" dirty="0"/>
          </a:p>
        </p:txBody>
      </p:sp>
      <p:sp>
        <p:nvSpPr>
          <p:cNvPr id="17" name="Text 15"/>
          <p:cNvSpPr/>
          <p:nvPr/>
        </p:nvSpPr>
        <p:spPr>
          <a:xfrm>
            <a:off x="6323076" y="15819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$48.6B</a:t>
            </a:r>
            <a:endParaRPr lang="en-US" sz="1400" dirty="0"/>
          </a:p>
        </p:txBody>
      </p:sp>
      <p:sp>
        <p:nvSpPr>
          <p:cNvPr id="18" name="Shape 16"/>
          <p:cNvSpPr/>
          <p:nvPr/>
        </p:nvSpPr>
        <p:spPr>
          <a:xfrm>
            <a:off x="6185916" y="21488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9" name="Text 17"/>
          <p:cNvSpPr/>
          <p:nvPr/>
        </p:nvSpPr>
        <p:spPr>
          <a:xfrm>
            <a:off x="6323076" y="22402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EPS</a:t>
            </a:r>
            <a:endParaRPr lang="en-US" sz="900" dirty="0"/>
          </a:p>
        </p:txBody>
      </p:sp>
      <p:sp>
        <p:nvSpPr>
          <p:cNvPr id="20" name="Text 18"/>
          <p:cNvSpPr/>
          <p:nvPr/>
        </p:nvSpPr>
        <p:spPr>
          <a:xfrm>
            <a:off x="6323076" y="24963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4.27</a:t>
            </a:r>
            <a:endParaRPr lang="en-US" sz="1400" dirty="0"/>
          </a:p>
        </p:txBody>
      </p:sp>
      <p:sp>
        <p:nvSpPr>
          <p:cNvPr id="21" name="Shape 19"/>
          <p:cNvSpPr/>
          <p:nvPr/>
        </p:nvSpPr>
        <p:spPr>
          <a:xfrm>
            <a:off x="6185916" y="3063240"/>
            <a:ext cx="5545836" cy="777240"/>
          </a:xfrm>
          <a:prstGeom prst="roundRect">
            <a:avLst>
              <a:gd name="adj" fmla="val 705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2" name="Text 20"/>
          <p:cNvSpPr/>
          <p:nvPr/>
        </p:nvSpPr>
        <p:spPr>
          <a:xfrm>
            <a:off x="6323076" y="3154680"/>
            <a:ext cx="5271516" cy="274320"/>
          </a:xfrm>
          <a:prstGeom prst="rect">
            <a:avLst/>
          </a:prstGeom>
          <a:noFill/>
          <a:ln/>
        </p:spPr>
        <p:txBody>
          <a:bodyPr wrap="square" rtlCol="0" anchor="ctr"/>
          <a:lstStyle/>
          <a:p>
            <a:pPr indent="0" marL="0">
              <a:buNone/>
            </a:pPr>
            <a:r>
              <a:rPr lang="en-US" sz="900" b="1" dirty="0">
                <a:solidFill>
                  <a:srgbClr val="5B6472"/>
                </a:solidFill>
                <a:latin typeface="Calibri" pitchFamily="34" charset="0"/>
                <a:ea typeface="Calibri" pitchFamily="34" charset="-122"/>
                <a:cs typeface="Calibri" pitchFamily="34" charset="-120"/>
              </a:rPr>
              <a:t>CASH FLOW</a:t>
            </a:r>
            <a:endParaRPr lang="en-US" sz="900" dirty="0"/>
          </a:p>
        </p:txBody>
      </p:sp>
      <p:sp>
        <p:nvSpPr>
          <p:cNvPr id="23" name="Text 21"/>
          <p:cNvSpPr/>
          <p:nvPr/>
        </p:nvSpPr>
        <p:spPr>
          <a:xfrm>
            <a:off x="6323076" y="3410712"/>
            <a:ext cx="5271516" cy="365760"/>
          </a:xfrm>
          <a:prstGeom prst="rect">
            <a:avLst/>
          </a:prstGeom>
          <a:noFill/>
          <a:ln/>
        </p:spPr>
        <p:txBody>
          <a:bodyPr wrap="square" rtlCol="0" anchor="ctr"/>
          <a:lstStyle/>
          <a:p>
            <a:pPr indent="0" marL="0">
              <a:buNone/>
            </a:pPr>
            <a:r>
              <a:rPr lang="en-US" sz="1400" b="1" dirty="0">
                <a:solidFill>
                  <a:srgbClr val="1F2D50"/>
                </a:solidFill>
                <a:latin typeface="Calibri" pitchFamily="34" charset="0"/>
                <a:ea typeface="Calibri" pitchFamily="34" charset="-122"/>
                <a:cs typeface="Calibri" pitchFamily="34" charset="-120"/>
              </a:rPr>
              <a:t>$46.7B</a:t>
            </a:r>
            <a:endParaRPr lang="en-US" sz="1400" dirty="0"/>
          </a:p>
        </p:txBody>
      </p:sp>
      <p:sp>
        <p:nvSpPr>
          <p:cNvPr id="24" name="Text 22"/>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25" name="Text 23"/>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Key Acquisitions</a:t>
            </a:r>
            <a:endParaRPr lang="en-US" sz="2600" dirty="0"/>
          </a:p>
        </p:txBody>
      </p:sp>
      <p:sp>
        <p:nvSpPr>
          <p:cNvPr id="3" name="Shape 1"/>
          <p:cNvSpPr/>
          <p:nvPr/>
        </p:nvSpPr>
        <p:spPr>
          <a:xfrm>
            <a:off x="457200" y="1143000"/>
            <a:ext cx="11274552" cy="1463040"/>
          </a:xfrm>
          <a:prstGeom prst="roundRect">
            <a:avLst>
              <a:gd name="adj" fmla="val 375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94360" y="1234440"/>
            <a:ext cx="11000232"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Activision Blizzard, Inc.</a:t>
            </a:r>
            <a:endParaRPr lang="en-US" sz="1200" dirty="0"/>
          </a:p>
        </p:txBody>
      </p:sp>
      <p:sp>
        <p:nvSpPr>
          <p:cNvPr id="5" name="Text 3"/>
          <p:cNvSpPr/>
          <p:nvPr/>
        </p:nvSpPr>
        <p:spPr>
          <a:xfrm>
            <a:off x="594360" y="1563624"/>
            <a:ext cx="11000232" cy="95097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Year: 2023  |  Value: 75400000000  |  Brief: Activision Blizzard is a leader in game development and an interactive entertainment content publisher. The acquisition will accelerate the growth in our gaming business across mobile, PC, console, and cloud gaming.</a:t>
            </a:r>
            <a:endParaRPr lang="en-US" sz="900" dirty="0"/>
          </a:p>
        </p:txBody>
      </p:sp>
      <p:sp>
        <p:nvSpPr>
          <p:cNvPr id="6" name="Text 4"/>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7" name="Text 5"/>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Awards and Accolades</a:t>
            </a:r>
            <a:endParaRPr lang="en-US" sz="2600" dirty="0"/>
          </a:p>
        </p:txBody>
      </p:sp>
      <p:sp>
        <p:nvSpPr>
          <p:cNvPr id="3" name="Shape 1"/>
          <p:cNvSpPr/>
          <p:nvPr/>
        </p:nvSpPr>
        <p:spPr>
          <a:xfrm>
            <a:off x="457200" y="1143000"/>
            <a:ext cx="11274552" cy="1463040"/>
          </a:xfrm>
          <a:prstGeom prst="roundRect">
            <a:avLst>
              <a:gd name="adj" fmla="val 375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94360" y="1234440"/>
            <a:ext cx="11000232"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ecbeingのエンジニアが3年連続で「Microsoft Top Partner Engineer Award」を受賞</a:t>
            </a:r>
            <a:endParaRPr lang="en-US" sz="1200" dirty="0"/>
          </a:p>
        </p:txBody>
      </p:sp>
      <p:sp>
        <p:nvSpPr>
          <p:cNvPr id="5" name="Text 3"/>
          <p:cNvSpPr/>
          <p:nvPr/>
        </p:nvSpPr>
        <p:spPr>
          <a:xfrm>
            <a:off x="594360" y="1563624"/>
            <a:ext cx="11000232" cy="95097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Date: 2026-08-19T02:00:00Z  |  Brief: [株式会社ecbeing ]</a:t>
            </a:r>
            <a:endParaRPr lang="en-US" sz="900" dirty="0"/>
          </a:p>
          <a:p>
            <a:pPr indent="0" marL="0">
              <a:buNone/>
            </a:pPr>
            <a:r>
              <a:rPr lang="en-US" sz="900" dirty="0">
                <a:solidFill>
                  <a:srgbClr val="5B6472"/>
                </a:solidFill>
                <a:latin typeface="Calibri" pitchFamily="34" charset="0"/>
                <a:ea typeface="Calibri" pitchFamily="34" charset="-122"/>
                <a:cs typeface="Calibri" pitchFamily="34" charset="-120"/>
              </a:rPr>
              <a:t>[画像: https://prcdn.freetls.fastly.net/release_image/7074/183/7074-183-204bc97db6ce79da7d5f783186160dcb-800x450.png?width=536&amp;quality=85%2C75&amp;format=jpeg&amp;auto=webp&amp;fit=bounds&amp;b...</a:t>
            </a:r>
            <a:endParaRPr lang="en-US" sz="900" dirty="0"/>
          </a:p>
        </p:txBody>
      </p:sp>
      <p:sp>
        <p:nvSpPr>
          <p:cNvPr id="6" name="Shape 4"/>
          <p:cNvSpPr/>
          <p:nvPr/>
        </p:nvSpPr>
        <p:spPr>
          <a:xfrm>
            <a:off x="457200" y="2788920"/>
            <a:ext cx="11274552" cy="1463040"/>
          </a:xfrm>
          <a:prstGeom prst="roundRect">
            <a:avLst>
              <a:gd name="adj" fmla="val 375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594360" y="2880360"/>
            <a:ext cx="11000232"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I replaced File Explorer on my Windows 11 laptop with this app — and it's still one step ahead of Microsoft's optimization plans</a:t>
            </a:r>
            <a:endParaRPr lang="en-US" sz="1200" dirty="0"/>
          </a:p>
        </p:txBody>
      </p:sp>
      <p:sp>
        <p:nvSpPr>
          <p:cNvPr id="8" name="Text 6"/>
          <p:cNvSpPr/>
          <p:nvPr/>
        </p:nvSpPr>
        <p:spPr>
          <a:xfrm>
            <a:off x="594360" y="3209544"/>
            <a:ext cx="11000232" cy="95097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Date: 2026-08-18T14:05:34Z  |  Brief: Files v4.2.7 speeds up Windows 11's sluggish context menu and improves memory use, ahead of Microsoft's own planned File Explorer optimizations.</a:t>
            </a:r>
            <a:endParaRPr lang="en-US" sz="900" dirty="0"/>
          </a:p>
        </p:txBody>
      </p:sp>
      <p:sp>
        <p:nvSpPr>
          <p:cNvPr id="9" name="Text 7"/>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10" name="Text 8"/>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Business Challenges</a:t>
            </a:r>
            <a:endParaRPr lang="en-US" sz="2600" dirty="0"/>
          </a:p>
        </p:txBody>
      </p:sp>
      <p:sp>
        <p:nvSpPr>
          <p:cNvPr id="3" name="Shape 1"/>
          <p:cNvSpPr/>
          <p:nvPr/>
        </p:nvSpPr>
        <p:spPr>
          <a:xfrm>
            <a:off x="457200" y="1143000"/>
            <a:ext cx="5522976" cy="1154430"/>
          </a:xfrm>
          <a:prstGeom prst="roundRect">
            <a:avLst>
              <a:gd name="adj" fmla="val 475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94360" y="123444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Cyberattacks and security vulnerabilities</a:t>
            </a:r>
            <a:endParaRPr lang="en-US" sz="1200" dirty="0"/>
          </a:p>
        </p:txBody>
      </p:sp>
      <p:sp>
        <p:nvSpPr>
          <p:cNvPr id="5" name="Text 3"/>
          <p:cNvSpPr/>
          <p:nvPr/>
        </p:nvSpPr>
        <p:spPr>
          <a:xfrm>
            <a:off x="594360" y="1563624"/>
            <a:ext cx="5248656" cy="64236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Reduced revenue, increased costs, liability claims, harm to reputation or competitive position, and unauthorized access to systems and data.  |  Brief: Threat actors, including nation-states, use sophisticated methods like password sprays, social engineering, and AI to exploit vulnerabilities in infrastructure and software.</a:t>
            </a:r>
            <a:endParaRPr lang="en-US" sz="900" dirty="0"/>
          </a:p>
        </p:txBody>
      </p:sp>
      <p:sp>
        <p:nvSpPr>
          <p:cNvPr id="6" name="Shape 4"/>
          <p:cNvSpPr/>
          <p:nvPr/>
        </p:nvSpPr>
        <p:spPr>
          <a:xfrm>
            <a:off x="6208776" y="1143000"/>
            <a:ext cx="5522976" cy="1154430"/>
          </a:xfrm>
          <a:prstGeom prst="roundRect">
            <a:avLst>
              <a:gd name="adj" fmla="val 475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6345936" y="123444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Infrastructure capacity and resource constraints</a:t>
            </a:r>
            <a:endParaRPr lang="en-US" sz="1200" dirty="0"/>
          </a:p>
        </p:txBody>
      </p:sp>
      <p:sp>
        <p:nvSpPr>
          <p:cNvPr id="8" name="Text 6"/>
          <p:cNvSpPr/>
          <p:nvPr/>
        </p:nvSpPr>
        <p:spPr>
          <a:xfrm>
            <a:off x="6345936" y="1563624"/>
            <a:ext cx="5248656" cy="64236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Delayed projects, restricted development opportunities, increased costs, and inability to support customer demand.  |  Brief: Growing demand for AI and cloud services requires massive infrastructure investment, which is hindered by power availability, land zoning, environmental regulations, and labor shortages.</a:t>
            </a:r>
            <a:endParaRPr lang="en-US" sz="900" dirty="0"/>
          </a:p>
        </p:txBody>
      </p:sp>
      <p:sp>
        <p:nvSpPr>
          <p:cNvPr id="9" name="Shape 7"/>
          <p:cNvSpPr/>
          <p:nvPr/>
        </p:nvSpPr>
        <p:spPr>
          <a:xfrm>
            <a:off x="457200" y="2480310"/>
            <a:ext cx="5522976" cy="1154430"/>
          </a:xfrm>
          <a:prstGeom prst="roundRect">
            <a:avLst>
              <a:gd name="adj" fmla="val 475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Text 8"/>
          <p:cNvSpPr/>
          <p:nvPr/>
        </p:nvSpPr>
        <p:spPr>
          <a:xfrm>
            <a:off x="594360" y="257175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Supply chain disruptions</a:t>
            </a:r>
            <a:endParaRPr lang="en-US" sz="1200" dirty="0"/>
          </a:p>
        </p:txBody>
      </p:sp>
      <p:sp>
        <p:nvSpPr>
          <p:cNvPr id="11" name="Text 9"/>
          <p:cNvSpPr/>
          <p:nvPr/>
        </p:nvSpPr>
        <p:spPr>
          <a:xfrm>
            <a:off x="594360" y="2900934"/>
            <a:ext cx="5248656" cy="64236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Delayed infrastructure deployments, reduced sales, and higher costs.  |  Brief: Limited suppliers for critical components like semiconductors and networking equipment lead to shortages and price volatility, exacerbated by geopolitical tensions and trade restrictions.</a:t>
            </a:r>
            <a:endParaRPr lang="en-US" sz="900" dirty="0"/>
          </a:p>
        </p:txBody>
      </p:sp>
      <p:sp>
        <p:nvSpPr>
          <p:cNvPr id="12" name="Shape 10"/>
          <p:cNvSpPr/>
          <p:nvPr/>
        </p:nvSpPr>
        <p:spPr>
          <a:xfrm>
            <a:off x="6208776" y="2480310"/>
            <a:ext cx="5522976" cy="1154430"/>
          </a:xfrm>
          <a:prstGeom prst="roundRect">
            <a:avLst>
              <a:gd name="adj" fmla="val 475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3" name="Text 11"/>
          <p:cNvSpPr/>
          <p:nvPr/>
        </p:nvSpPr>
        <p:spPr>
          <a:xfrm>
            <a:off x="6345936" y="257175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Platform abuse and digital safety</a:t>
            </a:r>
            <a:endParaRPr lang="en-US" sz="1200" dirty="0"/>
          </a:p>
        </p:txBody>
      </p:sp>
      <p:sp>
        <p:nvSpPr>
          <p:cNvPr id="14" name="Text 12"/>
          <p:cNvSpPr/>
          <p:nvPr/>
        </p:nvSpPr>
        <p:spPr>
          <a:xfrm>
            <a:off x="6345936" y="2900934"/>
            <a:ext cx="5248656" cy="64236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Harm to reputation, user engagement, and potential regulatory enforcement or legal liability.  |  Brief: Third parties may use platforms for illegal or inappropriate ends, including impersonation, dissemination of misleading information, or harmful content, requiring costly moderation efforts.</a:t>
            </a:r>
            <a:endParaRPr lang="en-US" sz="900" dirty="0"/>
          </a:p>
        </p:txBody>
      </p:sp>
      <p:sp>
        <p:nvSpPr>
          <p:cNvPr id="15" name="Shape 13"/>
          <p:cNvSpPr/>
          <p:nvPr/>
        </p:nvSpPr>
        <p:spPr>
          <a:xfrm>
            <a:off x="457200" y="3817620"/>
            <a:ext cx="5522976" cy="1154430"/>
          </a:xfrm>
          <a:prstGeom prst="roundRect">
            <a:avLst>
              <a:gd name="adj" fmla="val 475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Text 14"/>
          <p:cNvSpPr/>
          <p:nvPr/>
        </p:nvSpPr>
        <p:spPr>
          <a:xfrm>
            <a:off x="594360" y="390906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AI development and deployment risks</a:t>
            </a:r>
            <a:endParaRPr lang="en-US" sz="1200" dirty="0"/>
          </a:p>
        </p:txBody>
      </p:sp>
      <p:sp>
        <p:nvSpPr>
          <p:cNvPr id="17" name="Text 15"/>
          <p:cNvSpPr/>
          <p:nvPr/>
        </p:nvSpPr>
        <p:spPr>
          <a:xfrm>
            <a:off x="594360" y="4238244"/>
            <a:ext cx="5248656" cy="64236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Reputational, competitive, or legal harm, and potential for products to not work as intended.  |  Brief: AI models may contain biases, inaccuracies, or be used in unforeseen ways, raising ethical concerns and creating new attack surfaces for adversaries.</a:t>
            </a:r>
            <a:endParaRPr lang="en-US" sz="900" dirty="0"/>
          </a:p>
        </p:txBody>
      </p:sp>
      <p:sp>
        <p:nvSpPr>
          <p:cNvPr id="18" name="Shape 16"/>
          <p:cNvSpPr/>
          <p:nvPr/>
        </p:nvSpPr>
        <p:spPr>
          <a:xfrm>
            <a:off x="6208776" y="3817620"/>
            <a:ext cx="5522976" cy="1154430"/>
          </a:xfrm>
          <a:prstGeom prst="roundRect">
            <a:avLst>
              <a:gd name="adj" fmla="val 475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9" name="Text 17"/>
          <p:cNvSpPr/>
          <p:nvPr/>
        </p:nvSpPr>
        <p:spPr>
          <a:xfrm>
            <a:off x="6345936" y="390906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Complex and evolving legal/regulatory landscape</a:t>
            </a:r>
            <a:endParaRPr lang="en-US" sz="1200" dirty="0"/>
          </a:p>
        </p:txBody>
      </p:sp>
      <p:sp>
        <p:nvSpPr>
          <p:cNvPr id="20" name="Text 18"/>
          <p:cNvSpPr/>
          <p:nvPr/>
        </p:nvSpPr>
        <p:spPr>
          <a:xfrm>
            <a:off x="6345936" y="4238244"/>
            <a:ext cx="5248656" cy="64236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Increased operational costs, regulatory enforcement actions, and potential for penalties or service restrictions.  |  Brief: Global requirements regarding data privacy, cybersecurity, environmental standards, and AI governance are inconsistent and constantly changing, creating compliance uncertainty.</a:t>
            </a:r>
            <a:endParaRPr lang="en-US" sz="900" dirty="0"/>
          </a:p>
        </p:txBody>
      </p:sp>
      <p:sp>
        <p:nvSpPr>
          <p:cNvPr id="21" name="Shape 19"/>
          <p:cNvSpPr/>
          <p:nvPr/>
        </p:nvSpPr>
        <p:spPr>
          <a:xfrm>
            <a:off x="457200" y="5154930"/>
            <a:ext cx="5522976" cy="1154430"/>
          </a:xfrm>
          <a:prstGeom prst="roundRect">
            <a:avLst>
              <a:gd name="adj" fmla="val 475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2" name="Text 20"/>
          <p:cNvSpPr/>
          <p:nvPr/>
        </p:nvSpPr>
        <p:spPr>
          <a:xfrm>
            <a:off x="594360" y="524637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Acquisition and strategic alliance integration</a:t>
            </a:r>
            <a:endParaRPr lang="en-US" sz="1200" dirty="0"/>
          </a:p>
        </p:txBody>
      </p:sp>
      <p:sp>
        <p:nvSpPr>
          <p:cNvPr id="23" name="Text 21"/>
          <p:cNvSpPr/>
          <p:nvPr/>
        </p:nvSpPr>
        <p:spPr>
          <a:xfrm>
            <a:off x="594360" y="5575554"/>
            <a:ext cx="5248656" cy="64236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Unsatisfactory returns, impairment of goodwill, management distraction, and compliance challenges.  |  Brief: Integrating new businesses and technologies is complex and may fail to meet strategic goals or adhere to existing security and data governance policies.</a:t>
            </a:r>
            <a:endParaRPr lang="en-US" sz="900" dirty="0"/>
          </a:p>
        </p:txBody>
      </p:sp>
      <p:sp>
        <p:nvSpPr>
          <p:cNvPr id="24" name="Shape 22"/>
          <p:cNvSpPr/>
          <p:nvPr/>
        </p:nvSpPr>
        <p:spPr>
          <a:xfrm>
            <a:off x="6208776" y="5154930"/>
            <a:ext cx="5522976" cy="1154430"/>
          </a:xfrm>
          <a:prstGeom prst="roundRect">
            <a:avLst>
              <a:gd name="adj" fmla="val 475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5" name="Text 23"/>
          <p:cNvSpPr/>
          <p:nvPr/>
        </p:nvSpPr>
        <p:spPr>
          <a:xfrm>
            <a:off x="6345936" y="5246370"/>
            <a:ext cx="5248656" cy="292608"/>
          </a:xfrm>
          <a:prstGeom prst="rect">
            <a:avLst/>
          </a:prstGeom>
          <a:noFill/>
          <a:ln/>
        </p:spPr>
        <p:txBody>
          <a:bodyPr wrap="square" rtlCol="0" anchor="ctr">
            <a:normAutofit/>
          </a:bodyPr>
          <a:lstStyle/>
          <a:p>
            <a:pPr indent="0" marL="0">
              <a:buNone/>
            </a:pPr>
            <a:r>
              <a:rPr lang="en-US" sz="1200" b="1" dirty="0">
                <a:solidFill>
                  <a:srgbClr val="1F2D50"/>
                </a:solidFill>
                <a:latin typeface="Calibri" pitchFamily="34" charset="0"/>
                <a:ea typeface="Calibri" pitchFamily="34" charset="-122"/>
                <a:cs typeface="Calibri" pitchFamily="34" charset="-120"/>
              </a:rPr>
              <a:t>Product quality and reliability issues</a:t>
            </a:r>
            <a:endParaRPr lang="en-US" sz="1200" dirty="0"/>
          </a:p>
        </p:txBody>
      </p:sp>
      <p:sp>
        <p:nvSpPr>
          <p:cNvPr id="26" name="Text 24"/>
          <p:cNvSpPr/>
          <p:nvPr/>
        </p:nvSpPr>
        <p:spPr>
          <a:xfrm>
            <a:off x="6345936" y="5575554"/>
            <a:ext cx="5248656" cy="642366"/>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Impact: Contractual liability, customer claims, reputational damage, and loss of users.  |  Brief: Software bugs, design defects, or failures in interdependent systems can disrupt critical business functions for customers and lead to legal or financial consequences.</a:t>
            </a:r>
            <a:endParaRPr lang="en-US" sz="900" dirty="0"/>
          </a:p>
        </p:txBody>
      </p:sp>
      <p:sp>
        <p:nvSpPr>
          <p:cNvPr id="27" name="Text 25"/>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28" name="Text 26"/>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2D50"/>
        </a:solidFill>
      </p:bgPr>
    </p:bg>
    <p:spTree>
      <p:nvGrpSpPr>
        <p:cNvPr id="1" name=""/>
        <p:cNvGrpSpPr/>
        <p:nvPr/>
      </p:nvGrpSpPr>
      <p:grpSpPr>
        <a:xfrm>
          <a:off x="0" y="0"/>
          <a:ext cx="0" cy="0"/>
          <a:chOff x="0" y="0"/>
          <a:chExt cx="0" cy="0"/>
        </a:xfrm>
      </p:grpSpPr>
      <p:sp>
        <p:nvSpPr>
          <p:cNvPr id="2" name="Text 0"/>
          <p:cNvSpPr/>
          <p:nvPr/>
        </p:nvSpPr>
        <p:spPr>
          <a:xfrm>
            <a:off x="731520" y="2971800"/>
            <a:ext cx="10725912" cy="91440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Market &amp; Technology</a:t>
            </a:r>
            <a:endParaRPr lang="en-US" sz="3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Latest News</a:t>
            </a:r>
            <a:endParaRPr lang="en-US" sz="2600" dirty="0"/>
          </a:p>
        </p:txBody>
      </p:sp>
      <p:sp>
        <p:nvSpPr>
          <p:cNvPr id="3" name="Shape 1"/>
          <p:cNvSpPr/>
          <p:nvPr/>
        </p:nvSpPr>
        <p:spPr>
          <a:xfrm>
            <a:off x="457200" y="1097280"/>
            <a:ext cx="11274552" cy="411480"/>
          </a:xfrm>
          <a:prstGeom prst="roundRect">
            <a:avLst>
              <a:gd name="adj" fmla="val 13333"/>
            </a:avLst>
          </a:prstGeom>
          <a:solidFill>
            <a:srgbClr val="1F2D50"/>
          </a:solidFill>
          <a:ln/>
        </p:spPr>
      </p:sp>
      <p:sp>
        <p:nvSpPr>
          <p:cNvPr id="4" name="Text 2"/>
          <p:cNvSpPr/>
          <p:nvPr/>
        </p:nvSpPr>
        <p:spPr>
          <a:xfrm>
            <a:off x="457200" y="1097280"/>
            <a:ext cx="11274552"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Products/Technology</a:t>
            </a:r>
            <a:endParaRPr lang="en-US" sz="1100" dirty="0"/>
          </a:p>
        </p:txBody>
      </p:sp>
      <p:sp>
        <p:nvSpPr>
          <p:cNvPr id="5" name="Shape 3"/>
          <p:cNvSpPr/>
          <p:nvPr/>
        </p:nvSpPr>
        <p:spPr>
          <a:xfrm>
            <a:off x="457200" y="1645920"/>
            <a:ext cx="11274552" cy="1067562"/>
          </a:xfrm>
          <a:prstGeom prst="roundRect">
            <a:avLst>
              <a:gd name="adj" fmla="val 513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6" name="Text 4"/>
          <p:cNvSpPr/>
          <p:nvPr/>
        </p:nvSpPr>
        <p:spPr>
          <a:xfrm>
            <a:off x="566928" y="1700784"/>
            <a:ext cx="11055096" cy="201168"/>
          </a:xfrm>
          <a:prstGeom prst="rect">
            <a:avLst/>
          </a:prstGeom>
          <a:noFill/>
          <a:ln/>
        </p:spPr>
        <p:txBody>
          <a:bodyPr wrap="square" rtlCol="0" anchor="ctr"/>
          <a:lstStyle/>
          <a:p>
            <a:pPr indent="0" marL="0">
              <a:buNone/>
            </a:pPr>
            <a:r>
              <a:rPr lang="en-US" sz="800" dirty="0">
                <a:solidFill>
                  <a:srgbClr val="5B6472"/>
                </a:solidFill>
                <a:latin typeface="Calibri" pitchFamily="34" charset="0"/>
                <a:ea typeface="Calibri" pitchFamily="34" charset="-122"/>
                <a:cs typeface="Calibri" pitchFamily="34" charset="-120"/>
              </a:rPr>
              <a:t>2026-08-19</a:t>
            </a:r>
            <a:endParaRPr lang="en-US" sz="800" dirty="0"/>
          </a:p>
        </p:txBody>
      </p:sp>
      <p:sp>
        <p:nvSpPr>
          <p:cNvPr id="7" name="Text 5"/>
          <p:cNvSpPr/>
          <p:nvPr/>
        </p:nvSpPr>
        <p:spPr>
          <a:xfrm>
            <a:off x="566928" y="1883664"/>
            <a:ext cx="11055096" cy="365760"/>
          </a:xfrm>
          <a:prstGeom prst="rect">
            <a:avLst/>
          </a:prstGeom>
          <a:noFill/>
          <a:ln/>
        </p:spPr>
        <p:txBody>
          <a:bodyPr wrap="square" rtlCol="0" anchor="t">
            <a:normAutofit/>
          </a:bodyPr>
          <a:lstStyle/>
          <a:p>
            <a:pPr indent="0" marL="0">
              <a:buNone/>
            </a:pPr>
            <a:r>
              <a:rPr lang="en-US" sz="950" b="1" dirty="0">
                <a:solidFill>
                  <a:srgbClr val="1F2D50"/>
                </a:solidFill>
                <a:latin typeface="Calibri" pitchFamily="34" charset="0"/>
                <a:ea typeface="Calibri" pitchFamily="34" charset="-122"/>
                <a:cs typeface="Calibri" pitchFamily="34" charset="-120"/>
              </a:rPr>
              <a:t>Extract Text from a Word Document in Power Automate Using Only the SharePoint Connector</a:t>
            </a:r>
            <a:endParaRPr lang="en-US" sz="950" dirty="0"/>
          </a:p>
        </p:txBody>
      </p:sp>
      <p:sp>
        <p:nvSpPr>
          <p:cNvPr id="8" name="Text 6"/>
          <p:cNvSpPr/>
          <p:nvPr/>
        </p:nvSpPr>
        <p:spPr>
          <a:xfrm>
            <a:off x="566928" y="2212848"/>
            <a:ext cx="11055096" cy="400050"/>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Learn how to extract actual text content from a Microsoft Word (.docx) document in Power Automate using only the SharePoint connector and built-in expressions. This guide explains how to extract the DOCX package, access word/document.xml, use XPath to retriev…</a:t>
            </a:r>
            <a:endParaRPr lang="en-US" sz="800" dirty="0"/>
          </a:p>
        </p:txBody>
      </p:sp>
      <p:sp>
        <p:nvSpPr>
          <p:cNvPr id="9" name="Text 7">
            <a:hlinkClick r:id="rId1" tooltip=""/>
          </p:cNvPr>
          <p:cNvSpPr/>
          <p:nvPr/>
        </p:nvSpPr>
        <p:spPr>
          <a:xfrm>
            <a:off x="566928" y="2567178"/>
            <a:ext cx="11055096" cy="182880"/>
          </a:xfrm>
          <a:prstGeom prst="rect">
            <a:avLst/>
          </a:prstGeom>
          <a:noFill/>
          <a:ln/>
        </p:spPr>
        <p:txBody>
          <a:bodyPr wrap="square" rtlCol="0" anchor="ctr"/>
          <a:lstStyle/>
          <a:p>
            <a:pPr indent="0" marL="0">
              <a:buNone/>
            </a:pPr>
            <a:r>
              <a:rPr lang="en-US" sz="750" u="sng" dirty="0">
                <a:solidFill>
                  <a:srgbClr val="2E6F9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more ↗</a:t>
            </a:r>
            <a:endParaRPr lang="en-US" sz="750" dirty="0"/>
          </a:p>
        </p:txBody>
      </p:sp>
      <p:sp>
        <p:nvSpPr>
          <p:cNvPr id="10" name="Shape 8"/>
          <p:cNvSpPr/>
          <p:nvPr/>
        </p:nvSpPr>
        <p:spPr>
          <a:xfrm>
            <a:off x="457200" y="2823210"/>
            <a:ext cx="11274552" cy="1067562"/>
          </a:xfrm>
          <a:prstGeom prst="roundRect">
            <a:avLst>
              <a:gd name="adj" fmla="val 513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1" name="Text 9"/>
          <p:cNvSpPr/>
          <p:nvPr/>
        </p:nvSpPr>
        <p:spPr>
          <a:xfrm>
            <a:off x="566928" y="2878074"/>
            <a:ext cx="11055096" cy="201168"/>
          </a:xfrm>
          <a:prstGeom prst="rect">
            <a:avLst/>
          </a:prstGeom>
          <a:noFill/>
          <a:ln/>
        </p:spPr>
        <p:txBody>
          <a:bodyPr wrap="square" rtlCol="0" anchor="ctr"/>
          <a:lstStyle/>
          <a:p>
            <a:pPr indent="0" marL="0">
              <a:buNone/>
            </a:pPr>
            <a:r>
              <a:rPr lang="en-US" sz="800" dirty="0">
                <a:solidFill>
                  <a:srgbClr val="5B6472"/>
                </a:solidFill>
                <a:latin typeface="Calibri" pitchFamily="34" charset="0"/>
                <a:ea typeface="Calibri" pitchFamily="34" charset="-122"/>
                <a:cs typeface="Calibri" pitchFamily="34" charset="-120"/>
              </a:rPr>
              <a:t>2026-08-19</a:t>
            </a:r>
            <a:endParaRPr lang="en-US" sz="800" dirty="0"/>
          </a:p>
        </p:txBody>
      </p:sp>
      <p:sp>
        <p:nvSpPr>
          <p:cNvPr id="12" name="Text 10"/>
          <p:cNvSpPr/>
          <p:nvPr/>
        </p:nvSpPr>
        <p:spPr>
          <a:xfrm>
            <a:off x="566928" y="3060954"/>
            <a:ext cx="11055096" cy="365760"/>
          </a:xfrm>
          <a:prstGeom prst="rect">
            <a:avLst/>
          </a:prstGeom>
          <a:noFill/>
          <a:ln/>
        </p:spPr>
        <p:txBody>
          <a:bodyPr wrap="square" rtlCol="0" anchor="t">
            <a:normAutofit/>
          </a:bodyPr>
          <a:lstStyle/>
          <a:p>
            <a:pPr indent="0" marL="0">
              <a:buNone/>
            </a:pPr>
            <a:r>
              <a:rPr lang="en-US" sz="950" b="1" dirty="0">
                <a:solidFill>
                  <a:srgbClr val="1F2D50"/>
                </a:solidFill>
                <a:latin typeface="Calibri" pitchFamily="34" charset="0"/>
                <a:ea typeface="Calibri" pitchFamily="34" charset="-122"/>
                <a:cs typeface="Calibri" pitchFamily="34" charset="-120"/>
              </a:rPr>
              <a:t>Building User-Delegated AI Tools with Microsoft Foundry Toolboxes</a:t>
            </a:r>
            <a:endParaRPr lang="en-US" sz="950" dirty="0"/>
          </a:p>
        </p:txBody>
      </p:sp>
      <p:sp>
        <p:nvSpPr>
          <p:cNvPr id="13" name="Text 11"/>
          <p:cNvSpPr/>
          <p:nvPr/>
        </p:nvSpPr>
        <p:spPr>
          <a:xfrm>
            <a:off x="566928" y="3390138"/>
            <a:ext cx="11055096" cy="400050"/>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Learn how to build user-delegated AI tools with Microsoft Foundry Toolboxes using identity delegation, token isolation, consent, authorization, and secure enterprise access.</a:t>
            </a:r>
            <a:endParaRPr lang="en-US" sz="800" dirty="0"/>
          </a:p>
        </p:txBody>
      </p:sp>
      <p:sp>
        <p:nvSpPr>
          <p:cNvPr id="14" name="Text 12">
            <a:hlinkClick r:id="rId2" tooltip=""/>
          </p:cNvPr>
          <p:cNvSpPr/>
          <p:nvPr/>
        </p:nvSpPr>
        <p:spPr>
          <a:xfrm>
            <a:off x="566928" y="3744468"/>
            <a:ext cx="11055096" cy="182880"/>
          </a:xfrm>
          <a:prstGeom prst="rect">
            <a:avLst/>
          </a:prstGeom>
          <a:noFill/>
          <a:ln/>
        </p:spPr>
        <p:txBody>
          <a:bodyPr wrap="square" rtlCol="0" anchor="ctr"/>
          <a:lstStyle/>
          <a:p>
            <a:pPr indent="0" marL="0">
              <a:buNone/>
            </a:pPr>
            <a:r>
              <a:rPr lang="en-US" sz="750" u="sng" dirty="0">
                <a:solidFill>
                  <a:srgbClr val="2E6F9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Read more ↗</a:t>
            </a:r>
            <a:endParaRPr lang="en-US" sz="750" dirty="0"/>
          </a:p>
        </p:txBody>
      </p:sp>
      <p:sp>
        <p:nvSpPr>
          <p:cNvPr id="15" name="Shape 13"/>
          <p:cNvSpPr/>
          <p:nvPr/>
        </p:nvSpPr>
        <p:spPr>
          <a:xfrm>
            <a:off x="457200" y="4000500"/>
            <a:ext cx="11274552" cy="1067562"/>
          </a:xfrm>
          <a:prstGeom prst="roundRect">
            <a:avLst>
              <a:gd name="adj" fmla="val 513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Text 14"/>
          <p:cNvSpPr/>
          <p:nvPr/>
        </p:nvSpPr>
        <p:spPr>
          <a:xfrm>
            <a:off x="566928" y="4055364"/>
            <a:ext cx="11055096" cy="201168"/>
          </a:xfrm>
          <a:prstGeom prst="rect">
            <a:avLst/>
          </a:prstGeom>
          <a:noFill/>
          <a:ln/>
        </p:spPr>
        <p:txBody>
          <a:bodyPr wrap="square" rtlCol="0" anchor="ctr"/>
          <a:lstStyle/>
          <a:p>
            <a:pPr indent="0" marL="0">
              <a:buNone/>
            </a:pPr>
            <a:r>
              <a:rPr lang="en-US" sz="800" dirty="0">
                <a:solidFill>
                  <a:srgbClr val="5B6472"/>
                </a:solidFill>
                <a:latin typeface="Calibri" pitchFamily="34" charset="0"/>
                <a:ea typeface="Calibri" pitchFamily="34" charset="-122"/>
                <a:cs typeface="Calibri" pitchFamily="34" charset="-120"/>
              </a:rPr>
              <a:t>2026-08-19</a:t>
            </a:r>
            <a:endParaRPr lang="en-US" sz="800" dirty="0"/>
          </a:p>
        </p:txBody>
      </p:sp>
      <p:sp>
        <p:nvSpPr>
          <p:cNvPr id="17" name="Text 15"/>
          <p:cNvSpPr/>
          <p:nvPr/>
        </p:nvSpPr>
        <p:spPr>
          <a:xfrm>
            <a:off x="566928" y="4238244"/>
            <a:ext cx="11055096" cy="365760"/>
          </a:xfrm>
          <a:prstGeom prst="rect">
            <a:avLst/>
          </a:prstGeom>
          <a:noFill/>
          <a:ln/>
        </p:spPr>
        <p:txBody>
          <a:bodyPr wrap="square" rtlCol="0" anchor="t">
            <a:normAutofit/>
          </a:bodyPr>
          <a:lstStyle/>
          <a:p>
            <a:pPr indent="0" marL="0">
              <a:buNone/>
            </a:pPr>
            <a:r>
              <a:rPr lang="en-US" sz="950" b="1" dirty="0">
                <a:solidFill>
                  <a:srgbClr val="1F2D50"/>
                </a:solidFill>
                <a:latin typeface="Calibri" pitchFamily="34" charset="0"/>
                <a:ea typeface="Calibri" pitchFamily="34" charset="-122"/>
                <a:cs typeface="Calibri" pitchFamily="34" charset="-120"/>
              </a:rPr>
              <a:t>Microsoft.Extensions.AI Routing: Benchmarking Cost, Latency, and Failover</a:t>
            </a:r>
            <a:endParaRPr lang="en-US" sz="950" dirty="0"/>
          </a:p>
        </p:txBody>
      </p:sp>
      <p:sp>
        <p:nvSpPr>
          <p:cNvPr id="18" name="Text 16"/>
          <p:cNvSpPr/>
          <p:nvPr/>
        </p:nvSpPr>
        <p:spPr>
          <a:xfrm>
            <a:off x="566928" y="4567428"/>
            <a:ext cx="11055096" cy="400050"/>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Benchmark Microsoft.Extensions.AI routing for model selection, measuring cost, latency, failover behavior, reliability, and performance across multiple AI providers and models.</a:t>
            </a:r>
            <a:endParaRPr lang="en-US" sz="800" dirty="0"/>
          </a:p>
        </p:txBody>
      </p:sp>
      <p:sp>
        <p:nvSpPr>
          <p:cNvPr id="19" name="Text 17">
            <a:hlinkClick r:id="rId3" tooltip=""/>
          </p:cNvPr>
          <p:cNvSpPr/>
          <p:nvPr/>
        </p:nvSpPr>
        <p:spPr>
          <a:xfrm>
            <a:off x="566928" y="4921758"/>
            <a:ext cx="11055096" cy="182880"/>
          </a:xfrm>
          <a:prstGeom prst="rect">
            <a:avLst/>
          </a:prstGeom>
          <a:noFill/>
          <a:ln/>
        </p:spPr>
        <p:txBody>
          <a:bodyPr wrap="square" rtlCol="0" anchor="ctr"/>
          <a:lstStyle/>
          <a:p>
            <a:pPr indent="0" marL="0">
              <a:buNone/>
            </a:pPr>
            <a:r>
              <a:rPr lang="en-US" sz="750" u="sng" dirty="0">
                <a:solidFill>
                  <a:srgbClr val="2E6F9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Read more ↗</a:t>
            </a:r>
            <a:endParaRPr lang="en-US" sz="750" dirty="0"/>
          </a:p>
        </p:txBody>
      </p:sp>
      <p:sp>
        <p:nvSpPr>
          <p:cNvPr id="20" name="Shape 18"/>
          <p:cNvSpPr/>
          <p:nvPr/>
        </p:nvSpPr>
        <p:spPr>
          <a:xfrm>
            <a:off x="457200" y="5177790"/>
            <a:ext cx="11274552" cy="1067562"/>
          </a:xfrm>
          <a:prstGeom prst="roundRect">
            <a:avLst>
              <a:gd name="adj" fmla="val 513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1" name="Text 19"/>
          <p:cNvSpPr/>
          <p:nvPr/>
        </p:nvSpPr>
        <p:spPr>
          <a:xfrm>
            <a:off x="566928" y="5232654"/>
            <a:ext cx="11055096" cy="201168"/>
          </a:xfrm>
          <a:prstGeom prst="rect">
            <a:avLst/>
          </a:prstGeom>
          <a:noFill/>
          <a:ln/>
        </p:spPr>
        <p:txBody>
          <a:bodyPr wrap="square" rtlCol="0" anchor="ctr"/>
          <a:lstStyle/>
          <a:p>
            <a:pPr indent="0" marL="0">
              <a:buNone/>
            </a:pPr>
            <a:r>
              <a:rPr lang="en-US" sz="800" dirty="0">
                <a:solidFill>
                  <a:srgbClr val="5B6472"/>
                </a:solidFill>
                <a:latin typeface="Calibri" pitchFamily="34" charset="0"/>
                <a:ea typeface="Calibri" pitchFamily="34" charset="-122"/>
                <a:cs typeface="Calibri" pitchFamily="34" charset="-120"/>
              </a:rPr>
              <a:t>2026-08-19</a:t>
            </a:r>
            <a:endParaRPr lang="en-US" sz="800" dirty="0"/>
          </a:p>
        </p:txBody>
      </p:sp>
      <p:sp>
        <p:nvSpPr>
          <p:cNvPr id="22" name="Text 20"/>
          <p:cNvSpPr/>
          <p:nvPr/>
        </p:nvSpPr>
        <p:spPr>
          <a:xfrm>
            <a:off x="566928" y="5415534"/>
            <a:ext cx="11055096" cy="365760"/>
          </a:xfrm>
          <a:prstGeom prst="rect">
            <a:avLst/>
          </a:prstGeom>
          <a:noFill/>
          <a:ln/>
        </p:spPr>
        <p:txBody>
          <a:bodyPr wrap="square" rtlCol="0" anchor="t">
            <a:normAutofit/>
          </a:bodyPr>
          <a:lstStyle/>
          <a:p>
            <a:pPr indent="0" marL="0">
              <a:buNone/>
            </a:pPr>
            <a:r>
              <a:rPr lang="en-US" sz="950" b="1" dirty="0">
                <a:solidFill>
                  <a:srgbClr val="1F2D50"/>
                </a:solidFill>
                <a:latin typeface="Calibri" pitchFamily="34" charset="0"/>
                <a:ea typeface="Calibri" pitchFamily="34" charset="-122"/>
                <a:cs typeface="Calibri" pitchFamily="34" charset="-120"/>
              </a:rPr>
              <a:t>Microsoft Links 30+ Rotating Domains to MacSync Stealer Infrastructure</a:t>
            </a:r>
            <a:endParaRPr lang="en-US" sz="950" dirty="0"/>
          </a:p>
        </p:txBody>
      </p:sp>
      <p:sp>
        <p:nvSpPr>
          <p:cNvPr id="23" name="Text 21"/>
          <p:cNvSpPr/>
          <p:nvPr/>
        </p:nvSpPr>
        <p:spPr>
          <a:xfrm>
            <a:off x="566928" y="5744718"/>
            <a:ext cx="11055096" cy="400050"/>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Microsoft Defender Experts have linked more than 30 web domains to MacSync Stealer, a macOS-focused information stealer, after correlating recurring endpoint and network behaviors across changing infrastructure, tracing the malware from payload retrieval thro…</a:t>
            </a:r>
            <a:endParaRPr lang="en-US" sz="800" dirty="0"/>
          </a:p>
        </p:txBody>
      </p:sp>
      <p:sp>
        <p:nvSpPr>
          <p:cNvPr id="24" name="Text 22">
            <a:hlinkClick r:id="rId4" tooltip=""/>
          </p:cNvPr>
          <p:cNvSpPr/>
          <p:nvPr/>
        </p:nvSpPr>
        <p:spPr>
          <a:xfrm>
            <a:off x="566928" y="6099048"/>
            <a:ext cx="11055096" cy="182880"/>
          </a:xfrm>
          <a:prstGeom prst="rect">
            <a:avLst/>
          </a:prstGeom>
          <a:noFill/>
          <a:ln/>
        </p:spPr>
        <p:txBody>
          <a:bodyPr wrap="square" rtlCol="0" anchor="ctr"/>
          <a:lstStyle/>
          <a:p>
            <a:pPr indent="0" marL="0">
              <a:buNone/>
            </a:pPr>
            <a:r>
              <a:rPr lang="en-US" sz="750" u="sng" dirty="0">
                <a:solidFill>
                  <a:srgbClr val="2E6F9E"/>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Read more ↗</a:t>
            </a:r>
            <a:endParaRPr lang="en-US" sz="750" dirty="0"/>
          </a:p>
        </p:txBody>
      </p:sp>
      <p:sp>
        <p:nvSpPr>
          <p:cNvPr id="25" name="Text 2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26" name="Text 2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IT Spending</a:t>
            </a:r>
            <a:endParaRPr lang="en-US" sz="2600" dirty="0"/>
          </a:p>
        </p:txBody>
      </p:sp>
      <p:sp>
        <p:nvSpPr>
          <p:cNvPr id="3" name="Shape 1"/>
          <p:cNvSpPr/>
          <p:nvPr/>
        </p:nvSpPr>
        <p:spPr>
          <a:xfrm>
            <a:off x="457200" y="1143000"/>
            <a:ext cx="11274552" cy="5166360"/>
          </a:xfrm>
          <a:prstGeom prst="roundRect">
            <a:avLst>
              <a:gd name="adj" fmla="val 1062"/>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731520" y="1280160"/>
            <a:ext cx="10725912" cy="4937760"/>
          </a:xfrm>
          <a:prstGeom prst="rect">
            <a:avLst/>
          </a:prstGeom>
          <a:noFill/>
          <a:ln/>
        </p:spPr>
        <p:txBody>
          <a:bodyPr wrap="square" rtlCol="0" anchor="ctr">
            <a:normAutofit/>
          </a:bodyPr>
          <a:lstStyle/>
          <a:p>
            <a:pPr indent="0" marL="0">
              <a:buNone/>
            </a:pPr>
            <a:r>
              <a:rPr lang="en-US" sz="1300" dirty="0">
                <a:solidFill>
                  <a:srgbClr val="13192E"/>
                </a:solidFill>
                <a:latin typeface="Calibri" pitchFamily="34" charset="0"/>
                <a:ea typeface="Calibri" pitchFamily="34" charset="-122"/>
                <a:cs typeface="Calibri" pitchFamily="34" charset="-120"/>
              </a:rPr>
              <a:t>Microsoft is making significant investments in AI infrastructure, including datacenters, compute capacity, and hardware (such as GPUs and custom-built silicon), to support the growth of AI products and services like Microsoft 365 Copilot and Azure AI.</a:t>
            </a:r>
            <a:endParaRPr lang="en-US" sz="1300" dirty="0"/>
          </a:p>
        </p:txBody>
      </p:sp>
      <p:sp>
        <p:nvSpPr>
          <p:cNvPr id="5" name="Text 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6" name="Text 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Deals</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74552" cy="914400"/>
        </p:xfrm>
        <a:graphic>
          <a:graphicData uri="http://schemas.openxmlformats.org/drawingml/2006/table">
            <a:tbl>
              <a:tblPr/>
              <a:tblGrid>
                <a:gridCol w="2560320"/>
                <a:gridCol w="1463040"/>
                <a:gridCol w="1463040"/>
                <a:gridCol w="5788152"/>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Vendor</a:t>
                      </a:r>
                      <a:endParaRPr lang="en-US" sz="10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solidFill>
                      <a:srgbClr val="1F2D5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Start Date</a:t>
                      </a:r>
                      <a:endParaRPr lang="en-US" sz="10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solidFill>
                      <a:srgbClr val="1F2D5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End Date</a:t>
                      </a:r>
                      <a:endParaRPr lang="en-US" sz="10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solidFill>
                      <a:srgbClr val="1F2D5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Contract Details</a:t>
                      </a:r>
                      <a:endParaRPr lang="en-US" sz="10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solidFill>
                      <a:srgbClr val="1F2D50"/>
                    </a:solidFill>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MICROSOFT CORPORATION</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2023-08-31</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2024-08-30</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AWARDED RECOMPETE. — contract value $2,773,400</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MICROSOFT CORPORATION</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2022-02-01</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2024-01-31</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AWARD CONTRACT LABOR AND OTHER DIRECT COSTS. — contract value $5,102,910</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MICROSOFT CORPORATION</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2019-08-26</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2024-01-25</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LABOR — contract value $4,792,211</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MICROSOFT CORPORATION</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2019-07-12</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2024-07-11</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LABOR — contract value $3,481,230</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MICROSOFT CORPORATION</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2019-06-28</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2024-06-27</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MICROSOFT CONSULTING SERVICES - LABOR — contract value $80,515,592</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MICROSOFT CORPORATION</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2019-06-22</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2024-06-21</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MICROSOFT PREMIER SERVICES - LABOR — contract value $11,921,461</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MICROSOFT CORPORATION</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2019-05-31</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2023-08-30</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LABOR — contract value $9,471,367</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MICROSOFT CORPORATION</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2020-05-03</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2021-05-02</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MS PREMIER SERVICES SUPPORT — contract value $14,541,771</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MICROSOFT CORPORATION</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2018-12-26</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2019-08-25</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TAM/PFE (LABOR) — contract value $1,964,500</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r h="0">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MICROSOFT CORPORATION</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2018-07-02</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2019-07-11</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c>
                  <a:txBody>
                    <a:bodyPr/>
                    <a:lstStyle/>
                    <a:p>
                      <a:pPr indent="0" marL="0">
                        <a:buNone/>
                      </a:pPr>
                      <a:r>
                        <a:rPr lang="en-US" sz="950" dirty="0">
                          <a:solidFill>
                            <a:srgbClr val="13192E"/>
                          </a:solidFill>
                          <a:latin typeface="Calibri" pitchFamily="34" charset="0"/>
                          <a:ea typeface="Calibri" pitchFamily="34" charset="-122"/>
                          <a:cs typeface="Calibri" pitchFamily="34" charset="-120"/>
                        </a:rPr>
                        <a:t>MCS LABOR — contract value $3,661,136</a:t>
                      </a:r>
                      <a:endParaRPr lang="en-US" sz="950" dirty="0">
                        <a:latin typeface="Calibri" charset="0"/>
                        <a:ea typeface="Calibri" charset="0"/>
                        <a:cs typeface="Calibri" charset="0"/>
                      </a:endParaRPr>
                    </a:p>
                  </a:txBody>
                  <a:tcPr marL="76200" marR="76200" marT="50800" marB="50800" anchor="ctr">
                    <a:lnL w="6350" cap="flat" cmpd="sng" algn="ctr">
                      <a:solidFill>
                        <a:srgbClr val="E3E7EE"/>
                      </a:solidFill>
                      <a:prstDash val="solid"/>
                      <a:round/>
                      <a:headEnd type="none" w="med" len="med"/>
                      <a:tailEnd type="none" w="med" len="med"/>
                    </a:lnL>
                    <a:lnR w="6350" cap="flat" cmpd="sng" algn="ctr">
                      <a:solidFill>
                        <a:srgbClr val="E3E7EE"/>
                      </a:solidFill>
                      <a:prstDash val="solid"/>
                      <a:round/>
                      <a:headEnd type="none" w="med" len="med"/>
                      <a:tailEnd type="none" w="med" len="med"/>
                    </a:lnR>
                    <a:lnT w="6350" cap="flat" cmpd="sng" algn="ctr">
                      <a:solidFill>
                        <a:srgbClr val="E3E7EE"/>
                      </a:solidFill>
                      <a:prstDash val="solid"/>
                      <a:round/>
                      <a:headEnd type="none" w="med" len="med"/>
                      <a:tailEnd type="none" w="med" len="med"/>
                    </a:lnT>
                    <a:lnB w="6350" cap="flat" cmpd="sng" algn="ctr">
                      <a:solidFill>
                        <a:srgbClr val="E3E7EE"/>
                      </a:solidFill>
                      <a:prstDash val="solid"/>
                      <a:round/>
                      <a:headEnd type="none" w="med" len="med"/>
                      <a:tailEnd type="none" w="med" len="med"/>
                    </a:lnB>
                  </a:tcPr>
                </a:tc>
              </a:tr>
            </a:tbl>
          </a:graphicData>
        </a:graphic>
      </p:graphicFrame>
      <p:sp>
        <p:nvSpPr>
          <p:cNvPr id="4" name="Text 1"/>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5" name="Text 2"/>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Technology Initiatives</a:t>
            </a:r>
            <a:endParaRPr lang="en-US" sz="2600" dirty="0"/>
          </a:p>
        </p:txBody>
      </p:sp>
      <p:sp>
        <p:nvSpPr>
          <p:cNvPr id="3" name="Shape 1"/>
          <p:cNvSpPr/>
          <p:nvPr/>
        </p:nvSpPr>
        <p:spPr>
          <a:xfrm>
            <a:off x="457200" y="1143000"/>
            <a:ext cx="5522976" cy="1371600"/>
          </a:xfrm>
          <a:prstGeom prst="roundRect">
            <a:avLst>
              <a:gd name="adj" fmla="val 4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94360" y="1216152"/>
            <a:ext cx="5248656" cy="228600"/>
          </a:xfrm>
          <a:prstGeom prst="rect">
            <a:avLst/>
          </a:prstGeom>
          <a:noFill/>
          <a:ln/>
        </p:spPr>
        <p:txBody>
          <a:bodyPr wrap="square" rtlCol="0" anchor="ctr"/>
          <a:lstStyle/>
          <a:p>
            <a:pPr indent="0" marL="0">
              <a:buNone/>
            </a:pPr>
            <a:endParaRPr lang="en-US" sz="850" dirty="0"/>
          </a:p>
        </p:txBody>
      </p:sp>
      <p:sp>
        <p:nvSpPr>
          <p:cNvPr id="5" name="Text 3"/>
          <p:cNvSpPr/>
          <p:nvPr/>
        </p:nvSpPr>
        <p:spPr>
          <a:xfrm>
            <a:off x="594360" y="1435608"/>
            <a:ext cx="5248656" cy="320040"/>
          </a:xfrm>
          <a:prstGeom prst="rect">
            <a:avLst/>
          </a:prstGeom>
          <a:noFill/>
          <a:ln/>
        </p:spPr>
        <p:txBody>
          <a:bodyPr wrap="square" rtlCol="0" anchor="ctr">
            <a:normAutofit/>
          </a:bodyPr>
          <a:lstStyle/>
          <a:p>
            <a:pPr indent="0" marL="0">
              <a:buNone/>
            </a:pPr>
            <a:r>
              <a:rPr lang="en-US" sz="1150" b="1" dirty="0">
                <a:solidFill>
                  <a:srgbClr val="1F2D50"/>
                </a:solidFill>
                <a:latin typeface="Calibri" pitchFamily="34" charset="0"/>
                <a:ea typeface="Calibri" pitchFamily="34" charset="-122"/>
                <a:cs typeface="Calibri" pitchFamily="34" charset="-120"/>
              </a:rPr>
              <a:t>Microsoft Copilot</a:t>
            </a:r>
            <a:endParaRPr lang="en-US" sz="1150" dirty="0"/>
          </a:p>
        </p:txBody>
      </p:sp>
      <p:sp>
        <p:nvSpPr>
          <p:cNvPr id="6" name="Text 4"/>
          <p:cNvSpPr/>
          <p:nvPr/>
        </p:nvSpPr>
        <p:spPr>
          <a:xfrm>
            <a:off x="594360" y="1764792"/>
            <a:ext cx="5248656" cy="640080"/>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A digital companion designed to inform, entertain, and inspire, integrated into Microsoft Edge and Bing.</a:t>
            </a:r>
            <a:endParaRPr lang="en-US" sz="900" dirty="0"/>
          </a:p>
        </p:txBody>
      </p:sp>
      <p:sp>
        <p:nvSpPr>
          <p:cNvPr id="7" name="Shape 5"/>
          <p:cNvSpPr/>
          <p:nvPr/>
        </p:nvSpPr>
        <p:spPr>
          <a:xfrm>
            <a:off x="6208776" y="1143000"/>
            <a:ext cx="5522976" cy="1371600"/>
          </a:xfrm>
          <a:prstGeom prst="roundRect">
            <a:avLst>
              <a:gd name="adj" fmla="val 4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Text 6"/>
          <p:cNvSpPr/>
          <p:nvPr/>
        </p:nvSpPr>
        <p:spPr>
          <a:xfrm>
            <a:off x="6345936" y="1216152"/>
            <a:ext cx="5248656" cy="228600"/>
          </a:xfrm>
          <a:prstGeom prst="rect">
            <a:avLst/>
          </a:prstGeom>
          <a:noFill/>
          <a:ln/>
        </p:spPr>
        <p:txBody>
          <a:bodyPr wrap="square" rtlCol="0" anchor="ctr"/>
          <a:lstStyle/>
          <a:p>
            <a:pPr indent="0" marL="0">
              <a:buNone/>
            </a:pPr>
            <a:endParaRPr lang="en-US" sz="850" dirty="0"/>
          </a:p>
        </p:txBody>
      </p:sp>
      <p:sp>
        <p:nvSpPr>
          <p:cNvPr id="9" name="Text 7"/>
          <p:cNvSpPr/>
          <p:nvPr/>
        </p:nvSpPr>
        <p:spPr>
          <a:xfrm>
            <a:off x="6345936" y="1435608"/>
            <a:ext cx="5248656" cy="320040"/>
          </a:xfrm>
          <a:prstGeom prst="rect">
            <a:avLst/>
          </a:prstGeom>
          <a:noFill/>
          <a:ln/>
        </p:spPr>
        <p:txBody>
          <a:bodyPr wrap="square" rtlCol="0" anchor="ctr">
            <a:normAutofit/>
          </a:bodyPr>
          <a:lstStyle/>
          <a:p>
            <a:pPr indent="0" marL="0">
              <a:buNone/>
            </a:pPr>
            <a:r>
              <a:rPr lang="en-US" sz="1150" b="1" dirty="0">
                <a:solidFill>
                  <a:srgbClr val="1F2D50"/>
                </a:solidFill>
                <a:latin typeface="Calibri" pitchFamily="34" charset="0"/>
                <a:ea typeface="Calibri" pitchFamily="34" charset="-122"/>
                <a:cs typeface="Calibri" pitchFamily="34" charset="-120"/>
              </a:rPr>
              <a:t>Azure AI Foundry</a:t>
            </a:r>
            <a:endParaRPr lang="en-US" sz="1150" dirty="0"/>
          </a:p>
        </p:txBody>
      </p:sp>
      <p:sp>
        <p:nvSpPr>
          <p:cNvPr id="10" name="Text 8"/>
          <p:cNvSpPr/>
          <p:nvPr/>
        </p:nvSpPr>
        <p:spPr>
          <a:xfrm>
            <a:off x="6345936" y="1764792"/>
            <a:ext cx="5248656" cy="640080"/>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A unified platform for developers to design, customize, and manage AI applications and agents and applications.</a:t>
            </a:r>
            <a:endParaRPr lang="en-US" sz="900" dirty="0"/>
          </a:p>
        </p:txBody>
      </p:sp>
      <p:sp>
        <p:nvSpPr>
          <p:cNvPr id="11" name="Shape 9"/>
          <p:cNvSpPr/>
          <p:nvPr/>
        </p:nvSpPr>
        <p:spPr>
          <a:xfrm>
            <a:off x="457200" y="2697480"/>
            <a:ext cx="5522976" cy="1371600"/>
          </a:xfrm>
          <a:prstGeom prst="roundRect">
            <a:avLst>
              <a:gd name="adj" fmla="val 4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Text 10"/>
          <p:cNvSpPr/>
          <p:nvPr/>
        </p:nvSpPr>
        <p:spPr>
          <a:xfrm>
            <a:off x="594360" y="2770632"/>
            <a:ext cx="5248656" cy="228600"/>
          </a:xfrm>
          <a:prstGeom prst="rect">
            <a:avLst/>
          </a:prstGeom>
          <a:noFill/>
          <a:ln/>
        </p:spPr>
        <p:txBody>
          <a:bodyPr wrap="square" rtlCol="0" anchor="ctr"/>
          <a:lstStyle/>
          <a:p>
            <a:pPr indent="0" marL="0">
              <a:buNone/>
            </a:pPr>
            <a:endParaRPr lang="en-US" sz="850" dirty="0"/>
          </a:p>
        </p:txBody>
      </p:sp>
      <p:sp>
        <p:nvSpPr>
          <p:cNvPr id="13" name="Text 11"/>
          <p:cNvSpPr/>
          <p:nvPr/>
        </p:nvSpPr>
        <p:spPr>
          <a:xfrm>
            <a:off x="594360" y="2990088"/>
            <a:ext cx="5248656" cy="320040"/>
          </a:xfrm>
          <a:prstGeom prst="rect">
            <a:avLst/>
          </a:prstGeom>
          <a:noFill/>
          <a:ln/>
        </p:spPr>
        <p:txBody>
          <a:bodyPr wrap="square" rtlCol="0" anchor="ctr">
            <a:normAutofit/>
          </a:bodyPr>
          <a:lstStyle/>
          <a:p>
            <a:pPr indent="0" marL="0">
              <a:buNone/>
            </a:pPr>
            <a:r>
              <a:rPr lang="en-US" sz="1150" b="1" dirty="0">
                <a:solidFill>
                  <a:srgbClr val="1F2D50"/>
                </a:solidFill>
                <a:latin typeface="Calibri" pitchFamily="34" charset="0"/>
                <a:ea typeface="Calibri" pitchFamily="34" charset="-122"/>
                <a:cs typeface="Calibri" pitchFamily="34" charset="-120"/>
              </a:rPr>
              <a:t>Microsoft 365 Copilot</a:t>
            </a:r>
            <a:endParaRPr lang="en-US" sz="1150" dirty="0"/>
          </a:p>
        </p:txBody>
      </p:sp>
      <p:sp>
        <p:nvSpPr>
          <p:cNvPr id="14" name="Text 12"/>
          <p:cNvSpPr/>
          <p:nvPr/>
        </p:nvSpPr>
        <p:spPr>
          <a:xfrm>
            <a:off x="594360" y="3319272"/>
            <a:ext cx="5248656" cy="640080"/>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AI and ambient intelligence tools designed to drive insights, revolutionize business processes, and provide productivity gains.</a:t>
            </a:r>
            <a:endParaRPr lang="en-US" sz="900" dirty="0"/>
          </a:p>
        </p:txBody>
      </p:sp>
      <p:sp>
        <p:nvSpPr>
          <p:cNvPr id="15" name="Shape 13"/>
          <p:cNvSpPr/>
          <p:nvPr/>
        </p:nvSpPr>
        <p:spPr>
          <a:xfrm>
            <a:off x="6208776" y="2697480"/>
            <a:ext cx="5522976" cy="1371600"/>
          </a:xfrm>
          <a:prstGeom prst="roundRect">
            <a:avLst>
              <a:gd name="adj" fmla="val 4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Text 14"/>
          <p:cNvSpPr/>
          <p:nvPr/>
        </p:nvSpPr>
        <p:spPr>
          <a:xfrm>
            <a:off x="6345936" y="2770632"/>
            <a:ext cx="5248656" cy="228600"/>
          </a:xfrm>
          <a:prstGeom prst="rect">
            <a:avLst/>
          </a:prstGeom>
          <a:noFill/>
          <a:ln/>
        </p:spPr>
        <p:txBody>
          <a:bodyPr wrap="square" rtlCol="0" anchor="ctr"/>
          <a:lstStyle/>
          <a:p>
            <a:pPr indent="0" marL="0">
              <a:buNone/>
            </a:pPr>
            <a:r>
              <a:rPr lang="en-US" sz="850" b="1" dirty="0">
                <a:solidFill>
                  <a:srgbClr val="2E6F9E"/>
                </a:solidFill>
                <a:latin typeface="Calibri" pitchFamily="34" charset="0"/>
                <a:ea typeface="Calibri" pitchFamily="34" charset="-122"/>
                <a:cs typeface="Calibri" pitchFamily="34" charset="-120"/>
              </a:rPr>
              <a:t>2020</a:t>
            </a:r>
            <a:endParaRPr lang="en-US" sz="850" dirty="0"/>
          </a:p>
        </p:txBody>
      </p:sp>
      <p:sp>
        <p:nvSpPr>
          <p:cNvPr id="17" name="Text 15"/>
          <p:cNvSpPr/>
          <p:nvPr/>
        </p:nvSpPr>
        <p:spPr>
          <a:xfrm>
            <a:off x="6345936" y="2990088"/>
            <a:ext cx="5248656" cy="320040"/>
          </a:xfrm>
          <a:prstGeom prst="rect">
            <a:avLst/>
          </a:prstGeom>
          <a:noFill/>
          <a:ln/>
        </p:spPr>
        <p:txBody>
          <a:bodyPr wrap="square" rtlCol="0" anchor="ctr">
            <a:normAutofit/>
          </a:bodyPr>
          <a:lstStyle/>
          <a:p>
            <a:pPr indent="0" marL="0">
              <a:buNone/>
            </a:pPr>
            <a:r>
              <a:rPr lang="en-US" sz="1150" b="1" dirty="0">
                <a:solidFill>
                  <a:srgbClr val="1F2D50"/>
                </a:solidFill>
                <a:latin typeface="Calibri" pitchFamily="34" charset="0"/>
                <a:ea typeface="Calibri" pitchFamily="34" charset="-122"/>
                <a:cs typeface="Calibri" pitchFamily="34" charset="-120"/>
              </a:rPr>
              <a:t>Sustainability Goals</a:t>
            </a:r>
            <a:endParaRPr lang="en-US" sz="1150" dirty="0"/>
          </a:p>
        </p:txBody>
      </p:sp>
      <p:sp>
        <p:nvSpPr>
          <p:cNvPr id="18" name="Text 16"/>
          <p:cNvSpPr/>
          <p:nvPr/>
        </p:nvSpPr>
        <p:spPr>
          <a:xfrm>
            <a:off x="6345936" y="3319272"/>
            <a:ext cx="5248656" cy="640080"/>
          </a:xfrm>
          <a:prstGeom prst="rect">
            <a:avLst/>
          </a:prstGeom>
          <a:noFill/>
          <a:ln/>
        </p:spPr>
        <p:txBody>
          <a:bodyPr wrap="square" rtlCol="0" anchor="t">
            <a:normAutofit/>
          </a:bodyPr>
          <a:lstStyle/>
          <a:p>
            <a:pPr indent="0" marL="0">
              <a:buNone/>
            </a:pPr>
            <a:r>
              <a:rPr lang="en-US" sz="900" dirty="0">
                <a:solidFill>
                  <a:srgbClr val="5B6472"/>
                </a:solidFill>
                <a:latin typeface="Calibri" pitchFamily="34" charset="0"/>
                <a:ea typeface="Calibri" pitchFamily="34" charset="-122"/>
                <a:cs typeface="Calibri" pitchFamily="34" charset="-120"/>
              </a:rPr>
              <a:t>Commitment to become a carbon negative, water positive, and zero waste company by 2030.</a:t>
            </a:r>
            <a:endParaRPr lang="en-US" sz="900" dirty="0"/>
          </a:p>
        </p:txBody>
      </p:sp>
      <p:sp>
        <p:nvSpPr>
          <p:cNvPr id="19" name="Text 17"/>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20" name="Text 18"/>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Technologies in Use (1)</a:t>
            </a:r>
            <a:endParaRPr lang="en-US" sz="2600" dirty="0"/>
          </a:p>
        </p:txBody>
      </p:sp>
      <p:sp>
        <p:nvSpPr>
          <p:cNvPr id="3" name="Shape 1"/>
          <p:cNvSpPr/>
          <p:nvPr/>
        </p:nvSpPr>
        <p:spPr>
          <a:xfrm>
            <a:off x="457200" y="1143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66928" y="1216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Azure</a:t>
            </a:r>
            <a:endParaRPr lang="en-US" sz="1100" dirty="0"/>
          </a:p>
        </p:txBody>
      </p:sp>
      <p:sp>
        <p:nvSpPr>
          <p:cNvPr id="5" name="Text 3"/>
          <p:cNvSpPr/>
          <p:nvPr/>
        </p:nvSpPr>
        <p:spPr>
          <a:xfrm>
            <a:off x="566928" y="1472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Cloud Services</a:t>
            </a:r>
            <a:endParaRPr lang="en-US" sz="800" dirty="0"/>
          </a:p>
        </p:txBody>
      </p:sp>
      <p:sp>
        <p:nvSpPr>
          <p:cNvPr id="6" name="Text 4"/>
          <p:cNvSpPr/>
          <p:nvPr/>
        </p:nvSpPr>
        <p:spPr>
          <a:xfrm>
            <a:off x="566928" y="1673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A comprehensive set of cloud services for computing, networking, storage, mobile and web application services, AI, and Internet of Things.</a:t>
            </a:r>
            <a:endParaRPr lang="en-US" sz="800" dirty="0"/>
          </a:p>
        </p:txBody>
      </p:sp>
      <p:sp>
        <p:nvSpPr>
          <p:cNvPr id="7" name="Shape 5"/>
          <p:cNvSpPr/>
          <p:nvPr/>
        </p:nvSpPr>
        <p:spPr>
          <a:xfrm>
            <a:off x="4276344" y="1143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Text 6"/>
          <p:cNvSpPr/>
          <p:nvPr/>
        </p:nvSpPr>
        <p:spPr>
          <a:xfrm>
            <a:off x="4386072" y="1216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Microsoft Copilot</a:t>
            </a:r>
            <a:endParaRPr lang="en-US" sz="1100" dirty="0"/>
          </a:p>
        </p:txBody>
      </p:sp>
      <p:sp>
        <p:nvSpPr>
          <p:cNvPr id="9" name="Text 7"/>
          <p:cNvSpPr/>
          <p:nvPr/>
        </p:nvSpPr>
        <p:spPr>
          <a:xfrm>
            <a:off x="4386072" y="1472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AI</a:t>
            </a:r>
            <a:endParaRPr lang="en-US" sz="800" dirty="0"/>
          </a:p>
        </p:txBody>
      </p:sp>
      <p:sp>
        <p:nvSpPr>
          <p:cNvPr id="10" name="Text 8"/>
          <p:cNvSpPr/>
          <p:nvPr/>
        </p:nvSpPr>
        <p:spPr>
          <a:xfrm>
            <a:off x="4386072" y="1673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A digital companion designed to inform, entertain, and inspire.</a:t>
            </a:r>
            <a:endParaRPr lang="en-US" sz="800" dirty="0"/>
          </a:p>
        </p:txBody>
      </p:sp>
      <p:sp>
        <p:nvSpPr>
          <p:cNvPr id="11" name="Shape 9"/>
          <p:cNvSpPr/>
          <p:nvPr/>
        </p:nvSpPr>
        <p:spPr>
          <a:xfrm>
            <a:off x="8095488" y="1143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Text 10"/>
          <p:cNvSpPr/>
          <p:nvPr/>
        </p:nvSpPr>
        <p:spPr>
          <a:xfrm>
            <a:off x="8205216" y="1216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Microsoft Edge</a:t>
            </a:r>
            <a:endParaRPr lang="en-US" sz="1100" dirty="0"/>
          </a:p>
        </p:txBody>
      </p:sp>
      <p:sp>
        <p:nvSpPr>
          <p:cNvPr id="13" name="Text 11"/>
          <p:cNvSpPr/>
          <p:nvPr/>
        </p:nvSpPr>
        <p:spPr>
          <a:xfrm>
            <a:off x="8205216" y="1472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Software</a:t>
            </a:r>
            <a:endParaRPr lang="en-US" sz="800" dirty="0"/>
          </a:p>
        </p:txBody>
      </p:sp>
      <p:sp>
        <p:nvSpPr>
          <p:cNvPr id="14" name="Text 12"/>
          <p:cNvSpPr/>
          <p:nvPr/>
        </p:nvSpPr>
        <p:spPr>
          <a:xfrm>
            <a:off x="8205216" y="1673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A web browser used for user acquisition and engagement.</a:t>
            </a:r>
            <a:endParaRPr lang="en-US" sz="800" dirty="0"/>
          </a:p>
        </p:txBody>
      </p:sp>
      <p:sp>
        <p:nvSpPr>
          <p:cNvPr id="15" name="Shape 13"/>
          <p:cNvSpPr/>
          <p:nvPr/>
        </p:nvSpPr>
        <p:spPr>
          <a:xfrm>
            <a:off x="457200" y="2286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Text 14"/>
          <p:cNvSpPr/>
          <p:nvPr/>
        </p:nvSpPr>
        <p:spPr>
          <a:xfrm>
            <a:off x="566928" y="2359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Bing</a:t>
            </a:r>
            <a:endParaRPr lang="en-US" sz="1100" dirty="0"/>
          </a:p>
        </p:txBody>
      </p:sp>
      <p:sp>
        <p:nvSpPr>
          <p:cNvPr id="17" name="Text 15"/>
          <p:cNvSpPr/>
          <p:nvPr/>
        </p:nvSpPr>
        <p:spPr>
          <a:xfrm>
            <a:off x="566928" y="2615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Search Engine</a:t>
            </a:r>
            <a:endParaRPr lang="en-US" sz="800" dirty="0"/>
          </a:p>
        </p:txBody>
      </p:sp>
      <p:sp>
        <p:nvSpPr>
          <p:cNvPr id="18" name="Text 16"/>
          <p:cNvSpPr/>
          <p:nvPr/>
        </p:nvSpPr>
        <p:spPr>
          <a:xfrm>
            <a:off x="566928" y="2816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A search engine used for user acquisition and engagement.</a:t>
            </a:r>
            <a:endParaRPr lang="en-US" sz="800" dirty="0"/>
          </a:p>
        </p:txBody>
      </p:sp>
      <p:sp>
        <p:nvSpPr>
          <p:cNvPr id="19" name="Shape 17"/>
          <p:cNvSpPr/>
          <p:nvPr/>
        </p:nvSpPr>
        <p:spPr>
          <a:xfrm>
            <a:off x="4276344" y="2286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0" name="Text 18"/>
          <p:cNvSpPr/>
          <p:nvPr/>
        </p:nvSpPr>
        <p:spPr>
          <a:xfrm>
            <a:off x="4386072" y="2359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Windows Server</a:t>
            </a:r>
            <a:endParaRPr lang="en-US" sz="1100" dirty="0"/>
          </a:p>
        </p:txBody>
      </p:sp>
      <p:sp>
        <p:nvSpPr>
          <p:cNvPr id="21" name="Text 19"/>
          <p:cNvSpPr/>
          <p:nvPr/>
        </p:nvSpPr>
        <p:spPr>
          <a:xfrm>
            <a:off x="4386072" y="2615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Operating System</a:t>
            </a:r>
            <a:endParaRPr lang="en-US" sz="800" dirty="0"/>
          </a:p>
        </p:txBody>
      </p:sp>
      <p:sp>
        <p:nvSpPr>
          <p:cNvPr id="22" name="Text 20"/>
          <p:cNvSpPr/>
          <p:nvPr/>
        </p:nvSpPr>
        <p:spPr>
          <a:xfrm>
            <a:off x="4386072" y="2816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An operating system designed to support integrated server infrastructure and middleware.</a:t>
            </a:r>
            <a:endParaRPr lang="en-US" sz="800" dirty="0"/>
          </a:p>
        </p:txBody>
      </p:sp>
      <p:sp>
        <p:nvSpPr>
          <p:cNvPr id="23" name="Shape 21"/>
          <p:cNvSpPr/>
          <p:nvPr/>
        </p:nvSpPr>
        <p:spPr>
          <a:xfrm>
            <a:off x="8095488" y="2286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4" name="Text 22"/>
          <p:cNvSpPr/>
          <p:nvPr/>
        </p:nvSpPr>
        <p:spPr>
          <a:xfrm>
            <a:off x="8205216" y="2359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SQL Server</a:t>
            </a:r>
            <a:endParaRPr lang="en-US" sz="1100" dirty="0"/>
          </a:p>
        </p:txBody>
      </p:sp>
      <p:sp>
        <p:nvSpPr>
          <p:cNvPr id="25" name="Text 23"/>
          <p:cNvSpPr/>
          <p:nvPr/>
        </p:nvSpPr>
        <p:spPr>
          <a:xfrm>
            <a:off x="8205216" y="2615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Database</a:t>
            </a:r>
            <a:endParaRPr lang="en-US" sz="800" dirty="0"/>
          </a:p>
        </p:txBody>
      </p:sp>
      <p:sp>
        <p:nvSpPr>
          <p:cNvPr id="26" name="Text 24"/>
          <p:cNvSpPr/>
          <p:nvPr/>
        </p:nvSpPr>
        <p:spPr>
          <a:xfrm>
            <a:off x="8205216" y="2816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A database management system provided as part of server products.</a:t>
            </a:r>
            <a:endParaRPr lang="en-US" sz="800" dirty="0"/>
          </a:p>
        </p:txBody>
      </p:sp>
      <p:sp>
        <p:nvSpPr>
          <p:cNvPr id="27" name="Shape 25"/>
          <p:cNvSpPr/>
          <p:nvPr/>
        </p:nvSpPr>
        <p:spPr>
          <a:xfrm>
            <a:off x="457200" y="3429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8" name="Text 26"/>
          <p:cNvSpPr/>
          <p:nvPr/>
        </p:nvSpPr>
        <p:spPr>
          <a:xfrm>
            <a:off x="566928" y="3502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GitHub</a:t>
            </a:r>
            <a:endParaRPr lang="en-US" sz="1100" dirty="0"/>
          </a:p>
        </p:txBody>
      </p:sp>
      <p:sp>
        <p:nvSpPr>
          <p:cNvPr id="29" name="Text 27"/>
          <p:cNvSpPr/>
          <p:nvPr/>
        </p:nvSpPr>
        <p:spPr>
          <a:xfrm>
            <a:off x="566928" y="3758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Development Platform</a:t>
            </a:r>
            <a:endParaRPr lang="en-US" sz="800" dirty="0"/>
          </a:p>
        </p:txBody>
      </p:sp>
      <p:sp>
        <p:nvSpPr>
          <p:cNvPr id="30" name="Text 28"/>
          <p:cNvSpPr/>
          <p:nvPr/>
        </p:nvSpPr>
        <p:spPr>
          <a:xfrm>
            <a:off x="566928" y="3959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A collaboration platform for developers to manage code and incorporate AI and agent-based tools.</a:t>
            </a:r>
            <a:endParaRPr lang="en-US" sz="800" dirty="0"/>
          </a:p>
        </p:txBody>
      </p:sp>
      <p:sp>
        <p:nvSpPr>
          <p:cNvPr id="31" name="Shape 29"/>
          <p:cNvSpPr/>
          <p:nvPr/>
        </p:nvSpPr>
        <p:spPr>
          <a:xfrm>
            <a:off x="4276344" y="3429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32" name="Text 30"/>
          <p:cNvSpPr/>
          <p:nvPr/>
        </p:nvSpPr>
        <p:spPr>
          <a:xfrm>
            <a:off x="4386072" y="3502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Azure AI Foundry</a:t>
            </a:r>
            <a:endParaRPr lang="en-US" sz="1100" dirty="0"/>
          </a:p>
        </p:txBody>
      </p:sp>
      <p:sp>
        <p:nvSpPr>
          <p:cNvPr id="33" name="Text 31"/>
          <p:cNvSpPr/>
          <p:nvPr/>
        </p:nvSpPr>
        <p:spPr>
          <a:xfrm>
            <a:off x="4386072" y="3758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AI Platform</a:t>
            </a:r>
            <a:endParaRPr lang="en-US" sz="800" dirty="0"/>
          </a:p>
        </p:txBody>
      </p:sp>
      <p:sp>
        <p:nvSpPr>
          <p:cNvPr id="34" name="Text 32"/>
          <p:cNvSpPr/>
          <p:nvPr/>
        </p:nvSpPr>
        <p:spPr>
          <a:xfrm>
            <a:off x="4386072" y="3959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A unified platform for developers to design, customize, and manage AI applications and agents.</a:t>
            </a:r>
            <a:endParaRPr lang="en-US" sz="800" dirty="0"/>
          </a:p>
        </p:txBody>
      </p:sp>
      <p:sp>
        <p:nvSpPr>
          <p:cNvPr id="35" name="Shape 33"/>
          <p:cNvSpPr/>
          <p:nvPr/>
        </p:nvSpPr>
        <p:spPr>
          <a:xfrm>
            <a:off x="8095488" y="3429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36" name="Text 34"/>
          <p:cNvSpPr/>
          <p:nvPr/>
        </p:nvSpPr>
        <p:spPr>
          <a:xfrm>
            <a:off x="8205216" y="3502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Power Apps</a:t>
            </a:r>
            <a:endParaRPr lang="en-US" sz="1100" dirty="0"/>
          </a:p>
        </p:txBody>
      </p:sp>
      <p:sp>
        <p:nvSpPr>
          <p:cNvPr id="37" name="Text 35"/>
          <p:cNvSpPr/>
          <p:nvPr/>
        </p:nvSpPr>
        <p:spPr>
          <a:xfrm>
            <a:off x="8205216" y="3758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Low Code Platform</a:t>
            </a:r>
            <a:endParaRPr lang="en-US" sz="800" dirty="0"/>
          </a:p>
        </p:txBody>
      </p:sp>
      <p:sp>
        <p:nvSpPr>
          <p:cNvPr id="38" name="Text 36"/>
          <p:cNvSpPr/>
          <p:nvPr/>
        </p:nvSpPr>
        <p:spPr>
          <a:xfrm>
            <a:off x="8205216" y="3959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A low code development platform for building business applications.</a:t>
            </a:r>
            <a:endParaRPr lang="en-US" sz="800" dirty="0"/>
          </a:p>
        </p:txBody>
      </p:sp>
      <p:sp>
        <p:nvSpPr>
          <p:cNvPr id="39" name="Shape 37"/>
          <p:cNvSpPr/>
          <p:nvPr/>
        </p:nvSpPr>
        <p:spPr>
          <a:xfrm>
            <a:off x="457200" y="4572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0" name="Text 38"/>
          <p:cNvSpPr/>
          <p:nvPr/>
        </p:nvSpPr>
        <p:spPr>
          <a:xfrm>
            <a:off x="566928" y="4645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Power Automate</a:t>
            </a:r>
            <a:endParaRPr lang="en-US" sz="1100" dirty="0"/>
          </a:p>
        </p:txBody>
      </p:sp>
      <p:sp>
        <p:nvSpPr>
          <p:cNvPr id="41" name="Text 39"/>
          <p:cNvSpPr/>
          <p:nvPr/>
        </p:nvSpPr>
        <p:spPr>
          <a:xfrm>
            <a:off x="566928" y="4901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Low Code Platform</a:t>
            </a:r>
            <a:endParaRPr lang="en-US" sz="800" dirty="0"/>
          </a:p>
        </p:txBody>
      </p:sp>
      <p:sp>
        <p:nvSpPr>
          <p:cNvPr id="42" name="Text 40"/>
          <p:cNvSpPr/>
          <p:nvPr/>
        </p:nvSpPr>
        <p:spPr>
          <a:xfrm>
            <a:off x="566928" y="5102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A low code development platform for business process automation.</a:t>
            </a:r>
            <a:endParaRPr lang="en-US" sz="800" dirty="0"/>
          </a:p>
        </p:txBody>
      </p:sp>
      <p:sp>
        <p:nvSpPr>
          <p:cNvPr id="43" name="Shape 41"/>
          <p:cNvSpPr/>
          <p:nvPr/>
        </p:nvSpPr>
        <p:spPr>
          <a:xfrm>
            <a:off x="4276344" y="4572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4" name="Text 42"/>
          <p:cNvSpPr/>
          <p:nvPr/>
        </p:nvSpPr>
        <p:spPr>
          <a:xfrm>
            <a:off x="4386072" y="4645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XBOX Game Pass</a:t>
            </a:r>
            <a:endParaRPr lang="en-US" sz="1100" dirty="0"/>
          </a:p>
        </p:txBody>
      </p:sp>
      <p:sp>
        <p:nvSpPr>
          <p:cNvPr id="45" name="Text 43"/>
          <p:cNvSpPr/>
          <p:nvPr/>
        </p:nvSpPr>
        <p:spPr>
          <a:xfrm>
            <a:off x="4386072" y="4901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Subscription Service</a:t>
            </a:r>
            <a:endParaRPr lang="en-US" sz="800" dirty="0"/>
          </a:p>
        </p:txBody>
      </p:sp>
      <p:sp>
        <p:nvSpPr>
          <p:cNvPr id="46" name="Text 44"/>
          <p:cNvSpPr/>
          <p:nvPr/>
        </p:nvSpPr>
        <p:spPr>
          <a:xfrm>
            <a:off x="4386072" y="5102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A subscription service providing access to a curated library of first- and third-party gaming titles.</a:t>
            </a:r>
            <a:endParaRPr lang="en-US" sz="800" dirty="0"/>
          </a:p>
        </p:txBody>
      </p:sp>
      <p:sp>
        <p:nvSpPr>
          <p:cNvPr id="47" name="Shape 45"/>
          <p:cNvSpPr/>
          <p:nvPr/>
        </p:nvSpPr>
        <p:spPr>
          <a:xfrm>
            <a:off x="8095488" y="4572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8" name="Text 46"/>
          <p:cNvSpPr/>
          <p:nvPr/>
        </p:nvSpPr>
        <p:spPr>
          <a:xfrm>
            <a:off x="8205216" y="4645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Surface</a:t>
            </a:r>
            <a:endParaRPr lang="en-US" sz="1100" dirty="0"/>
          </a:p>
        </p:txBody>
      </p:sp>
      <p:sp>
        <p:nvSpPr>
          <p:cNvPr id="49" name="Text 47"/>
          <p:cNvSpPr/>
          <p:nvPr/>
        </p:nvSpPr>
        <p:spPr>
          <a:xfrm>
            <a:off x="8205216" y="4901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Hardware</a:t>
            </a:r>
            <a:endParaRPr lang="en-US" sz="800" dirty="0"/>
          </a:p>
        </p:txBody>
      </p:sp>
      <p:sp>
        <p:nvSpPr>
          <p:cNvPr id="50" name="Text 48"/>
          <p:cNvSpPr/>
          <p:nvPr/>
        </p:nvSpPr>
        <p:spPr>
          <a:xfrm>
            <a:off x="8205216" y="5102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A line of computing devices including Copilot+ PCs.</a:t>
            </a:r>
            <a:endParaRPr lang="en-US" sz="800" dirty="0"/>
          </a:p>
        </p:txBody>
      </p:sp>
      <p:sp>
        <p:nvSpPr>
          <p:cNvPr id="51" name="Text 49"/>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52" name="Text 50"/>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Technologies in Use (2)</a:t>
            </a:r>
            <a:endParaRPr lang="en-US" sz="2600" dirty="0"/>
          </a:p>
        </p:txBody>
      </p:sp>
      <p:sp>
        <p:nvSpPr>
          <p:cNvPr id="3" name="Shape 1"/>
          <p:cNvSpPr/>
          <p:nvPr/>
        </p:nvSpPr>
        <p:spPr>
          <a:xfrm>
            <a:off x="457200" y="1143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566928" y="1216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Microsoft 365 Copilot</a:t>
            </a:r>
            <a:endParaRPr lang="en-US" sz="1100" dirty="0"/>
          </a:p>
        </p:txBody>
      </p:sp>
      <p:sp>
        <p:nvSpPr>
          <p:cNvPr id="5" name="Text 3"/>
          <p:cNvSpPr/>
          <p:nvPr/>
        </p:nvSpPr>
        <p:spPr>
          <a:xfrm>
            <a:off x="566928" y="1472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AI</a:t>
            </a:r>
            <a:endParaRPr lang="en-US" sz="800" dirty="0"/>
          </a:p>
        </p:txBody>
      </p:sp>
      <p:sp>
        <p:nvSpPr>
          <p:cNvPr id="6" name="Text 4"/>
          <p:cNvSpPr/>
          <p:nvPr/>
        </p:nvSpPr>
        <p:spPr>
          <a:xfrm>
            <a:off x="566928" y="1673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An AI-driven tool designed to provide productivity gains and revolutionize business processes.</a:t>
            </a:r>
            <a:endParaRPr lang="en-US" sz="800" dirty="0"/>
          </a:p>
        </p:txBody>
      </p:sp>
      <p:sp>
        <p:nvSpPr>
          <p:cNvPr id="7" name="Shape 5"/>
          <p:cNvSpPr/>
          <p:nvPr/>
        </p:nvSpPr>
        <p:spPr>
          <a:xfrm>
            <a:off x="4276344" y="1143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8" name="Text 6"/>
          <p:cNvSpPr/>
          <p:nvPr/>
        </p:nvSpPr>
        <p:spPr>
          <a:xfrm>
            <a:off x="4386072" y="1216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Microsoft Defender for Endpoint</a:t>
            </a:r>
            <a:endParaRPr lang="en-US" sz="1100" dirty="0"/>
          </a:p>
        </p:txBody>
      </p:sp>
      <p:sp>
        <p:nvSpPr>
          <p:cNvPr id="9" name="Text 7"/>
          <p:cNvSpPr/>
          <p:nvPr/>
        </p:nvSpPr>
        <p:spPr>
          <a:xfrm>
            <a:off x="4386072" y="1472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Security</a:t>
            </a:r>
            <a:endParaRPr lang="en-US" sz="800" dirty="0"/>
          </a:p>
        </p:txBody>
      </p:sp>
      <p:sp>
        <p:nvSpPr>
          <p:cNvPr id="10" name="Text 8"/>
          <p:cNvSpPr/>
          <p:nvPr/>
        </p:nvSpPr>
        <p:spPr>
          <a:xfrm>
            <a:off x="4386072" y="1673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An endpoint security solution.</a:t>
            </a:r>
            <a:endParaRPr lang="en-US" sz="800" dirty="0"/>
          </a:p>
        </p:txBody>
      </p:sp>
      <p:sp>
        <p:nvSpPr>
          <p:cNvPr id="11" name="Shape 9"/>
          <p:cNvSpPr/>
          <p:nvPr/>
        </p:nvSpPr>
        <p:spPr>
          <a:xfrm>
            <a:off x="8095488" y="1143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2" name="Text 10"/>
          <p:cNvSpPr/>
          <p:nvPr/>
        </p:nvSpPr>
        <p:spPr>
          <a:xfrm>
            <a:off x="8205216" y="1216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System Center</a:t>
            </a:r>
            <a:endParaRPr lang="en-US" sz="1100" dirty="0"/>
          </a:p>
        </p:txBody>
      </p:sp>
      <p:sp>
        <p:nvSpPr>
          <p:cNvPr id="13" name="Text 11"/>
          <p:cNvSpPr/>
          <p:nvPr/>
        </p:nvSpPr>
        <p:spPr>
          <a:xfrm>
            <a:off x="8205216" y="1472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Management Software</a:t>
            </a:r>
            <a:endParaRPr lang="en-US" sz="800" dirty="0"/>
          </a:p>
        </p:txBody>
      </p:sp>
      <p:sp>
        <p:nvSpPr>
          <p:cNvPr id="14" name="Text 12"/>
          <p:cNvSpPr/>
          <p:nvPr/>
        </p:nvSpPr>
        <p:spPr>
          <a:xfrm>
            <a:off x="8205216" y="1673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Tools for server management and operations.</a:t>
            </a:r>
            <a:endParaRPr lang="en-US" sz="800" dirty="0"/>
          </a:p>
        </p:txBody>
      </p:sp>
      <p:sp>
        <p:nvSpPr>
          <p:cNvPr id="15" name="Shape 13"/>
          <p:cNvSpPr/>
          <p:nvPr/>
        </p:nvSpPr>
        <p:spPr>
          <a:xfrm>
            <a:off x="457200" y="2286000"/>
            <a:ext cx="3636264" cy="1005840"/>
          </a:xfrm>
          <a:prstGeom prst="roundRect">
            <a:avLst>
              <a:gd name="adj" fmla="val 5455"/>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6" name="Text 14"/>
          <p:cNvSpPr/>
          <p:nvPr/>
        </p:nvSpPr>
        <p:spPr>
          <a:xfrm>
            <a:off x="566928" y="2359152"/>
            <a:ext cx="3416808" cy="274320"/>
          </a:xfrm>
          <a:prstGeom prst="rect">
            <a:avLst/>
          </a:prstGeom>
          <a:noFill/>
          <a:ln/>
        </p:spPr>
        <p:txBody>
          <a:bodyPr wrap="square" rtlCol="0" anchor="ctr">
            <a:normAutofit/>
          </a:bodyPr>
          <a:lstStyle/>
          <a:p>
            <a:pPr indent="0" marL="0">
              <a:buNone/>
            </a:pPr>
            <a:r>
              <a:rPr lang="en-US" sz="1100" b="1" dirty="0">
                <a:solidFill>
                  <a:srgbClr val="1F2D50"/>
                </a:solidFill>
                <a:latin typeface="Calibri" pitchFamily="34" charset="0"/>
                <a:ea typeface="Calibri" pitchFamily="34" charset="-122"/>
                <a:cs typeface="Calibri" pitchFamily="34" charset="-120"/>
              </a:rPr>
              <a:t>Visual Studio</a:t>
            </a:r>
            <a:endParaRPr lang="en-US" sz="1100" dirty="0"/>
          </a:p>
        </p:txBody>
      </p:sp>
      <p:sp>
        <p:nvSpPr>
          <p:cNvPr id="17" name="Text 15"/>
          <p:cNvSpPr/>
          <p:nvPr/>
        </p:nvSpPr>
        <p:spPr>
          <a:xfrm>
            <a:off x="566928" y="2615184"/>
            <a:ext cx="3416808" cy="201168"/>
          </a:xfrm>
          <a:prstGeom prst="rect">
            <a:avLst/>
          </a:prstGeom>
          <a:noFill/>
          <a:ln/>
        </p:spPr>
        <p:txBody>
          <a:bodyPr wrap="square" rtlCol="0" anchor="ctr"/>
          <a:lstStyle/>
          <a:p>
            <a:pPr indent="0" marL="0">
              <a:buNone/>
            </a:pPr>
            <a:r>
              <a:rPr lang="en-US" sz="800" dirty="0">
                <a:solidFill>
                  <a:srgbClr val="2E6F9E"/>
                </a:solidFill>
                <a:latin typeface="Calibri" pitchFamily="34" charset="0"/>
                <a:ea typeface="Calibri" pitchFamily="34" charset="-122"/>
                <a:cs typeface="Calibri" pitchFamily="34" charset="-120"/>
              </a:rPr>
              <a:t>Development Tools</a:t>
            </a:r>
            <a:endParaRPr lang="en-US" sz="800" dirty="0"/>
          </a:p>
        </p:txBody>
      </p:sp>
      <p:sp>
        <p:nvSpPr>
          <p:cNvPr id="18" name="Text 16"/>
          <p:cNvSpPr/>
          <p:nvPr/>
        </p:nvSpPr>
        <p:spPr>
          <a:xfrm>
            <a:off x="566928" y="2816352"/>
            <a:ext cx="3416808" cy="384048"/>
          </a:xfrm>
          <a:prstGeom prst="rect">
            <a:avLst/>
          </a:prstGeom>
          <a:noFill/>
          <a:ln/>
        </p:spPr>
        <p:txBody>
          <a:bodyPr wrap="square" rtlCol="0" anchor="t">
            <a:normAutofit/>
          </a:bodyPr>
          <a:lstStyle/>
          <a:p>
            <a:pPr indent="0" marL="0">
              <a:buNone/>
            </a:pPr>
            <a:r>
              <a:rPr lang="en-US" sz="800" dirty="0">
                <a:solidFill>
                  <a:srgbClr val="5B6472"/>
                </a:solidFill>
                <a:latin typeface="Calibri" pitchFamily="34" charset="0"/>
                <a:ea typeface="Calibri" pitchFamily="34" charset="-122"/>
                <a:cs typeface="Calibri" pitchFamily="34" charset="-120"/>
              </a:rPr>
              <a:t>Software development lifecycle tools for architects, developers, and testers.</a:t>
            </a:r>
            <a:endParaRPr lang="en-US" sz="800" dirty="0"/>
          </a:p>
        </p:txBody>
      </p:sp>
      <p:sp>
        <p:nvSpPr>
          <p:cNvPr id="19" name="Text 17"/>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20" name="Text 18"/>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F2D50"/>
        </a:solidFill>
      </p:bgPr>
    </p:bg>
    <p:spTree>
      <p:nvGrpSpPr>
        <p:cNvPr id="1" name=""/>
        <p:cNvGrpSpPr/>
        <p:nvPr/>
      </p:nvGrpSpPr>
      <p:grpSpPr>
        <a:xfrm>
          <a:off x="0" y="0"/>
          <a:ext cx="0" cy="0"/>
          <a:chOff x="0" y="0"/>
          <a:chExt cx="0" cy="0"/>
        </a:xfrm>
      </p:grpSpPr>
      <p:sp>
        <p:nvSpPr>
          <p:cNvPr id="2" name="Text 0"/>
          <p:cNvSpPr/>
          <p:nvPr/>
        </p:nvSpPr>
        <p:spPr>
          <a:xfrm>
            <a:off x="731520" y="2971800"/>
            <a:ext cx="10725912" cy="914400"/>
          </a:xfrm>
          <a:prstGeom prst="rect">
            <a:avLst/>
          </a:prstGeom>
          <a:noFill/>
          <a:ln/>
        </p:spPr>
        <p:txBody>
          <a:bodyPr wrap="square"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Industry Outlook</a:t>
            </a:r>
            <a:endParaRPr lang="en-US" sz="3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Industry Indicators</a:t>
            </a:r>
            <a:endParaRPr lang="en-US" sz="2600" dirty="0"/>
          </a:p>
        </p:txBody>
      </p:sp>
      <p:sp>
        <p:nvSpPr>
          <p:cNvPr id="3" name="Text 1"/>
          <p:cNvSpPr/>
          <p:nvPr/>
        </p:nvSpPr>
        <p:spPr>
          <a:xfrm>
            <a:off x="457200" y="1188720"/>
            <a:ext cx="2743200" cy="320040"/>
          </a:xfrm>
          <a:prstGeom prst="rect">
            <a:avLst/>
          </a:prstGeom>
          <a:noFill/>
          <a:ln/>
        </p:spPr>
        <p:txBody>
          <a:bodyPr wrap="square" rtlCol="0" anchor="ctr"/>
          <a:lstStyle/>
          <a:p>
            <a:pPr indent="0" marL="0">
              <a:buNone/>
            </a:pPr>
            <a:r>
              <a:rPr lang="en-US" sz="1200" b="1" dirty="0">
                <a:solidFill>
                  <a:srgbClr val="1F2D50"/>
                </a:solidFill>
                <a:latin typeface="Calibri" pitchFamily="34" charset="0"/>
                <a:ea typeface="Calibri" pitchFamily="34" charset="-122"/>
                <a:cs typeface="Calibri" pitchFamily="34" charset="-120"/>
              </a:rPr>
              <a:t>Growth Rating</a:t>
            </a:r>
            <a:endParaRPr lang="en-US" sz="1200" dirty="0"/>
          </a:p>
        </p:txBody>
      </p:sp>
      <p:sp>
        <p:nvSpPr>
          <p:cNvPr id="4" name="Shape 2"/>
          <p:cNvSpPr/>
          <p:nvPr/>
        </p:nvSpPr>
        <p:spPr>
          <a:xfrm>
            <a:off x="457200" y="1600200"/>
            <a:ext cx="1645920" cy="548640"/>
          </a:xfrm>
          <a:prstGeom prst="roundRect">
            <a:avLst>
              <a:gd name="adj" fmla="val 13333"/>
            </a:avLst>
          </a:prstGeom>
          <a:solidFill>
            <a:srgbClr val="F4F6F9"/>
          </a:solidFill>
          <a:ln w="12700">
            <a:solidFill>
              <a:srgbClr val="E3E7EE"/>
            </a:solidFill>
            <a:prstDash val="solid"/>
          </a:ln>
        </p:spPr>
      </p:sp>
      <p:sp>
        <p:nvSpPr>
          <p:cNvPr id="5" name="Text 3"/>
          <p:cNvSpPr/>
          <p:nvPr/>
        </p:nvSpPr>
        <p:spPr>
          <a:xfrm>
            <a:off x="457200" y="1600200"/>
            <a:ext cx="1645920" cy="548640"/>
          </a:xfrm>
          <a:prstGeom prst="rect">
            <a:avLst/>
          </a:prstGeom>
          <a:noFill/>
          <a:ln/>
        </p:spPr>
        <p:txBody>
          <a:bodyPr wrap="square" rtlCol="0" anchor="ctr"/>
          <a:lstStyle/>
          <a:p>
            <a:pPr algn="ctr" indent="0" marL="0">
              <a:buNone/>
            </a:pPr>
            <a:r>
              <a:rPr lang="en-US" sz="1100" b="1" dirty="0">
                <a:solidFill>
                  <a:srgbClr val="5B6472"/>
                </a:solidFill>
                <a:latin typeface="Calibri" pitchFamily="34" charset="0"/>
                <a:ea typeface="Calibri" pitchFamily="34" charset="-122"/>
                <a:cs typeface="Calibri" pitchFamily="34" charset="-120"/>
              </a:rPr>
              <a:t>Low</a:t>
            </a:r>
            <a:endParaRPr lang="en-US" sz="1100" dirty="0"/>
          </a:p>
        </p:txBody>
      </p:sp>
      <p:sp>
        <p:nvSpPr>
          <p:cNvPr id="6" name="Shape 4"/>
          <p:cNvSpPr/>
          <p:nvPr/>
        </p:nvSpPr>
        <p:spPr>
          <a:xfrm>
            <a:off x="2286000" y="1600200"/>
            <a:ext cx="1645920" cy="548640"/>
          </a:xfrm>
          <a:prstGeom prst="roundRect">
            <a:avLst>
              <a:gd name="adj" fmla="val 13333"/>
            </a:avLst>
          </a:prstGeom>
          <a:solidFill>
            <a:srgbClr val="F4F6F9"/>
          </a:solidFill>
          <a:ln w="12700">
            <a:solidFill>
              <a:srgbClr val="E3E7EE"/>
            </a:solidFill>
            <a:prstDash val="solid"/>
          </a:ln>
        </p:spPr>
      </p:sp>
      <p:sp>
        <p:nvSpPr>
          <p:cNvPr id="7" name="Text 5"/>
          <p:cNvSpPr/>
          <p:nvPr/>
        </p:nvSpPr>
        <p:spPr>
          <a:xfrm>
            <a:off x="2286000" y="1600200"/>
            <a:ext cx="1645920" cy="548640"/>
          </a:xfrm>
          <a:prstGeom prst="rect">
            <a:avLst/>
          </a:prstGeom>
          <a:noFill/>
          <a:ln/>
        </p:spPr>
        <p:txBody>
          <a:bodyPr wrap="square" rtlCol="0" anchor="ctr"/>
          <a:lstStyle/>
          <a:p>
            <a:pPr algn="ctr" indent="0" marL="0">
              <a:buNone/>
            </a:pPr>
            <a:r>
              <a:rPr lang="en-US" sz="1100" b="1" dirty="0">
                <a:solidFill>
                  <a:srgbClr val="5B6472"/>
                </a:solidFill>
                <a:latin typeface="Calibri" pitchFamily="34" charset="0"/>
                <a:ea typeface="Calibri" pitchFamily="34" charset="-122"/>
                <a:cs typeface="Calibri" pitchFamily="34" charset="-120"/>
              </a:rPr>
              <a:t>Medium</a:t>
            </a:r>
            <a:endParaRPr lang="en-US" sz="1100" dirty="0"/>
          </a:p>
        </p:txBody>
      </p:sp>
      <p:sp>
        <p:nvSpPr>
          <p:cNvPr id="8" name="Shape 6"/>
          <p:cNvSpPr/>
          <p:nvPr/>
        </p:nvSpPr>
        <p:spPr>
          <a:xfrm>
            <a:off x="4114800" y="1600200"/>
            <a:ext cx="1645920" cy="548640"/>
          </a:xfrm>
          <a:prstGeom prst="roundRect">
            <a:avLst>
              <a:gd name="adj" fmla="val 13333"/>
            </a:avLst>
          </a:prstGeom>
          <a:solidFill>
            <a:srgbClr val="2E6F9E"/>
          </a:solidFill>
          <a:ln w="12700">
            <a:solidFill>
              <a:srgbClr val="E3E7EE"/>
            </a:solidFill>
            <a:prstDash val="solid"/>
          </a:ln>
        </p:spPr>
      </p:sp>
      <p:sp>
        <p:nvSpPr>
          <p:cNvPr id="9" name="Text 7"/>
          <p:cNvSpPr/>
          <p:nvPr/>
        </p:nvSpPr>
        <p:spPr>
          <a:xfrm>
            <a:off x="4114800" y="1600200"/>
            <a:ext cx="164592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High</a:t>
            </a:r>
            <a:endParaRPr lang="en-US" sz="1100" dirty="0"/>
          </a:p>
        </p:txBody>
      </p:sp>
      <p:sp>
        <p:nvSpPr>
          <p:cNvPr id="10" name="Shape 8"/>
          <p:cNvSpPr/>
          <p:nvPr/>
        </p:nvSpPr>
        <p:spPr>
          <a:xfrm>
            <a:off x="457200" y="251460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1" name="Text 9"/>
          <p:cNvSpPr/>
          <p:nvPr/>
        </p:nvSpPr>
        <p:spPr>
          <a:xfrm>
            <a:off x="640080" y="251460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Demand Trend</a:t>
            </a:r>
            <a:endParaRPr lang="en-US" sz="1100" dirty="0"/>
          </a:p>
        </p:txBody>
      </p:sp>
      <p:sp>
        <p:nvSpPr>
          <p:cNvPr id="12" name="Text 10"/>
          <p:cNvSpPr/>
          <p:nvPr/>
        </p:nvSpPr>
        <p:spPr>
          <a:xfrm>
            <a:off x="3931920" y="251460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Strong</a:t>
            </a:r>
            <a:endParaRPr lang="en-US" sz="1100" dirty="0"/>
          </a:p>
        </p:txBody>
      </p:sp>
      <p:sp>
        <p:nvSpPr>
          <p:cNvPr id="13" name="Shape 11"/>
          <p:cNvSpPr/>
          <p:nvPr/>
        </p:nvSpPr>
        <p:spPr>
          <a:xfrm>
            <a:off x="457200" y="310896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4" name="Text 12"/>
          <p:cNvSpPr/>
          <p:nvPr/>
        </p:nvSpPr>
        <p:spPr>
          <a:xfrm>
            <a:off x="640080" y="310896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Technology Adoption</a:t>
            </a:r>
            <a:endParaRPr lang="en-US" sz="1100" dirty="0"/>
          </a:p>
        </p:txBody>
      </p:sp>
      <p:sp>
        <p:nvSpPr>
          <p:cNvPr id="15" name="Text 13"/>
          <p:cNvSpPr/>
          <p:nvPr/>
        </p:nvSpPr>
        <p:spPr>
          <a:xfrm>
            <a:off x="3931920" y="310896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Rapid</a:t>
            </a:r>
            <a:endParaRPr lang="en-US" sz="1100" dirty="0"/>
          </a:p>
        </p:txBody>
      </p:sp>
      <p:sp>
        <p:nvSpPr>
          <p:cNvPr id="16" name="Shape 14"/>
          <p:cNvSpPr/>
          <p:nvPr/>
        </p:nvSpPr>
        <p:spPr>
          <a:xfrm>
            <a:off x="457200" y="370332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7" name="Text 15"/>
          <p:cNvSpPr/>
          <p:nvPr/>
        </p:nvSpPr>
        <p:spPr>
          <a:xfrm>
            <a:off x="640080" y="370332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Spending Trend</a:t>
            </a:r>
            <a:endParaRPr lang="en-US" sz="1100" dirty="0"/>
          </a:p>
        </p:txBody>
      </p:sp>
      <p:sp>
        <p:nvSpPr>
          <p:cNvPr id="18" name="Text 16"/>
          <p:cNvSpPr/>
          <p:nvPr/>
        </p:nvSpPr>
        <p:spPr>
          <a:xfrm>
            <a:off x="3931920" y="370332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Increasing</a:t>
            </a:r>
            <a:endParaRPr lang="en-US" sz="1100" dirty="0"/>
          </a:p>
        </p:txBody>
      </p:sp>
      <p:sp>
        <p:nvSpPr>
          <p:cNvPr id="19" name="Shape 17"/>
          <p:cNvSpPr/>
          <p:nvPr/>
        </p:nvSpPr>
        <p:spPr>
          <a:xfrm>
            <a:off x="457200" y="429768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0" name="Text 18"/>
          <p:cNvSpPr/>
          <p:nvPr/>
        </p:nvSpPr>
        <p:spPr>
          <a:xfrm>
            <a:off x="640080" y="429768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Regulatory Environment</a:t>
            </a:r>
            <a:endParaRPr lang="en-US" sz="1100" dirty="0"/>
          </a:p>
        </p:txBody>
      </p:sp>
      <p:sp>
        <p:nvSpPr>
          <p:cNvPr id="21" name="Text 19"/>
          <p:cNvSpPr/>
          <p:nvPr/>
        </p:nvSpPr>
        <p:spPr>
          <a:xfrm>
            <a:off x="3931920" y="429768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Complex and restrictive</a:t>
            </a:r>
            <a:endParaRPr lang="en-US" sz="1100" dirty="0"/>
          </a:p>
        </p:txBody>
      </p:sp>
      <p:sp>
        <p:nvSpPr>
          <p:cNvPr id="22" name="Shape 20"/>
          <p:cNvSpPr/>
          <p:nvPr/>
        </p:nvSpPr>
        <p:spPr>
          <a:xfrm>
            <a:off x="457200" y="489204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3" name="Text 21"/>
          <p:cNvSpPr/>
          <p:nvPr/>
        </p:nvSpPr>
        <p:spPr>
          <a:xfrm>
            <a:off x="640080" y="489204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Competitive Intensity</a:t>
            </a:r>
            <a:endParaRPr lang="en-US" sz="1100" dirty="0"/>
          </a:p>
        </p:txBody>
      </p:sp>
      <p:sp>
        <p:nvSpPr>
          <p:cNvPr id="24" name="Text 22"/>
          <p:cNvSpPr/>
          <p:nvPr/>
        </p:nvSpPr>
        <p:spPr>
          <a:xfrm>
            <a:off x="3931920" y="489204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Very high</a:t>
            </a:r>
            <a:endParaRPr lang="en-US" sz="1100" dirty="0"/>
          </a:p>
        </p:txBody>
      </p:sp>
      <p:sp>
        <p:nvSpPr>
          <p:cNvPr id="25" name="Shape 23"/>
          <p:cNvSpPr/>
          <p:nvPr/>
        </p:nvSpPr>
        <p:spPr>
          <a:xfrm>
            <a:off x="457200" y="5486400"/>
            <a:ext cx="11274552" cy="502920"/>
          </a:xfrm>
          <a:prstGeom prst="roundRect">
            <a:avLst>
              <a:gd name="adj" fmla="val 10909"/>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26" name="Text 24"/>
          <p:cNvSpPr/>
          <p:nvPr/>
        </p:nvSpPr>
        <p:spPr>
          <a:xfrm>
            <a:off x="640080" y="5486400"/>
            <a:ext cx="3200400" cy="502920"/>
          </a:xfrm>
          <a:prstGeom prst="rect">
            <a:avLst/>
          </a:prstGeom>
          <a:noFill/>
          <a:ln/>
        </p:spPr>
        <p:txBody>
          <a:bodyPr wrap="square" rtlCol="0" anchor="ctr"/>
          <a:lstStyle/>
          <a:p>
            <a:pPr indent="0" marL="0">
              <a:buNone/>
            </a:pPr>
            <a:r>
              <a:rPr lang="en-US" sz="1100" b="1" dirty="0">
                <a:solidFill>
                  <a:srgbClr val="5B6472"/>
                </a:solidFill>
                <a:latin typeface="Calibri" pitchFamily="34" charset="0"/>
                <a:ea typeface="Calibri" pitchFamily="34" charset="-122"/>
                <a:cs typeface="Calibri" pitchFamily="34" charset="-120"/>
              </a:rPr>
              <a:t>Outlook</a:t>
            </a:r>
            <a:endParaRPr lang="en-US" sz="1100" dirty="0"/>
          </a:p>
        </p:txBody>
      </p:sp>
      <p:sp>
        <p:nvSpPr>
          <p:cNvPr id="27" name="Text 25"/>
          <p:cNvSpPr/>
          <p:nvPr/>
        </p:nvSpPr>
        <p:spPr>
          <a:xfrm>
            <a:off x="3931920" y="5486400"/>
            <a:ext cx="7616952" cy="502920"/>
          </a:xfrm>
          <a:prstGeom prst="rect">
            <a:avLst/>
          </a:prstGeom>
          <a:noFill/>
          <a:ln/>
        </p:spPr>
        <p:txBody>
          <a:bodyPr wrap="square" rtlCol="0" anchor="ctr">
            <a:normAutofit/>
          </a:bodyPr>
          <a:lstStyle/>
          <a:p>
            <a:pPr indent="0" marL="0">
              <a:buNone/>
            </a:pPr>
            <a:r>
              <a:rPr lang="en-US" sz="1100" dirty="0">
                <a:solidFill>
                  <a:srgbClr val="13192E"/>
                </a:solidFill>
                <a:latin typeface="Calibri" pitchFamily="34" charset="0"/>
                <a:ea typeface="Calibri" pitchFamily="34" charset="-122"/>
                <a:cs typeface="Calibri" pitchFamily="34" charset="-120"/>
              </a:rPr>
              <a:t>Positive</a:t>
            </a:r>
            <a:endParaRPr lang="en-US" sz="1100" dirty="0"/>
          </a:p>
        </p:txBody>
      </p:sp>
      <p:sp>
        <p:nvSpPr>
          <p:cNvPr id="28" name="Text 26"/>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29" name="Text 27"/>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74552" cy="594360"/>
          </a:xfrm>
          <a:prstGeom prst="rect">
            <a:avLst/>
          </a:prstGeom>
          <a:noFill/>
          <a:ln/>
        </p:spPr>
        <p:txBody>
          <a:bodyPr wrap="square" rtlCol="0" anchor="ctr"/>
          <a:lstStyle/>
          <a:p>
            <a:pPr indent="0" marL="0">
              <a:buNone/>
            </a:pPr>
            <a:r>
              <a:rPr lang="en-US" sz="2600" b="1" dirty="0">
                <a:solidFill>
                  <a:srgbClr val="1F2D50"/>
                </a:solidFill>
                <a:latin typeface="Calibri" pitchFamily="34" charset="0"/>
                <a:ea typeface="Calibri" pitchFamily="34" charset="-122"/>
                <a:cs typeface="Calibri" pitchFamily="34" charset="-120"/>
              </a:rPr>
              <a:t>Industry Forecast &amp; Competitive Landscape</a:t>
            </a:r>
            <a:endParaRPr lang="en-US" sz="2600" dirty="0"/>
          </a:p>
        </p:txBody>
      </p:sp>
      <p:sp>
        <p:nvSpPr>
          <p:cNvPr id="3" name="Shape 1"/>
          <p:cNvSpPr/>
          <p:nvPr/>
        </p:nvSpPr>
        <p:spPr>
          <a:xfrm>
            <a:off x="457200" y="1143000"/>
            <a:ext cx="11274552" cy="685800"/>
          </a:xfrm>
          <a:prstGeom prst="roundRect">
            <a:avLst>
              <a:gd name="adj" fmla="val 8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4" name="Text 2"/>
          <p:cNvSpPr/>
          <p:nvPr/>
        </p:nvSpPr>
        <p:spPr>
          <a:xfrm>
            <a:off x="685800" y="1234440"/>
            <a:ext cx="10817352"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Industry</a:t>
            </a:r>
            <a:endParaRPr lang="en-US" sz="1200" dirty="0"/>
          </a:p>
        </p:txBody>
      </p:sp>
      <p:sp>
        <p:nvSpPr>
          <p:cNvPr id="5" name="Text 3"/>
          <p:cNvSpPr/>
          <p:nvPr/>
        </p:nvSpPr>
        <p:spPr>
          <a:xfrm>
            <a:off x="685800" y="1527048"/>
            <a:ext cx="10817352" cy="274320"/>
          </a:xfrm>
          <a:prstGeom prst="rect">
            <a:avLst/>
          </a:prstGeom>
          <a:noFill/>
          <a:ln/>
        </p:spPr>
        <p:txBody>
          <a:bodyPr wrap="square" rtlCol="0" anchor="t">
            <a:normAutofit/>
          </a:bodyPr>
          <a:lstStyle/>
          <a:p>
            <a:pPr indent="0" marL="0">
              <a:buNone/>
            </a:pPr>
            <a:r>
              <a:rPr lang="en-US" sz="950" dirty="0">
                <a:solidFill>
                  <a:srgbClr val="13192E"/>
                </a:solidFill>
                <a:latin typeface="Calibri" pitchFamily="34" charset="0"/>
                <a:ea typeface="Calibri" pitchFamily="34" charset="-122"/>
                <a:cs typeface="Calibri" pitchFamily="34" charset="-120"/>
              </a:rPr>
              <a:t>technology</a:t>
            </a:r>
            <a:endParaRPr lang="en-US" sz="950" dirty="0"/>
          </a:p>
        </p:txBody>
      </p:sp>
      <p:sp>
        <p:nvSpPr>
          <p:cNvPr id="6" name="Shape 4"/>
          <p:cNvSpPr/>
          <p:nvPr/>
        </p:nvSpPr>
        <p:spPr>
          <a:xfrm>
            <a:off x="457200" y="1965960"/>
            <a:ext cx="11274552" cy="1077822"/>
          </a:xfrm>
          <a:prstGeom prst="roundRect">
            <a:avLst>
              <a:gd name="adj" fmla="val 509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7" name="Text 5"/>
          <p:cNvSpPr/>
          <p:nvPr/>
        </p:nvSpPr>
        <p:spPr>
          <a:xfrm>
            <a:off x="685800" y="2057400"/>
            <a:ext cx="10817352"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Competitive Landscape</a:t>
            </a:r>
            <a:endParaRPr lang="en-US" sz="1200" dirty="0"/>
          </a:p>
        </p:txBody>
      </p:sp>
      <p:sp>
        <p:nvSpPr>
          <p:cNvPr id="8" name="Text 6"/>
          <p:cNvSpPr/>
          <p:nvPr/>
        </p:nvSpPr>
        <p:spPr>
          <a:xfrm>
            <a:off x="685800" y="2350008"/>
            <a:ext cx="10817352" cy="666342"/>
          </a:xfrm>
          <a:prstGeom prst="rect">
            <a:avLst/>
          </a:prstGeom>
          <a:noFill/>
          <a:ln/>
        </p:spPr>
        <p:txBody>
          <a:bodyPr wrap="square" rtlCol="0" anchor="t">
            <a:normAutofit/>
          </a:bodyPr>
          <a:lstStyle/>
          <a:p>
            <a:pPr indent="0" marL="0">
              <a:buNone/>
            </a:pPr>
            <a:r>
              <a:rPr lang="en-US" sz="950" dirty="0">
                <a:solidFill>
                  <a:srgbClr val="13192E"/>
                </a:solidFill>
                <a:latin typeface="Calibri" pitchFamily="34" charset="0"/>
                <a:ea typeface="Calibri" pitchFamily="34" charset="-122"/>
                <a:cs typeface="Calibri" pitchFamily="34" charset="-120"/>
              </a:rPr>
              <a:t>The company faces competition from various software products, alternative platforms, hardware manufacturers, cloud service providers, open-source offerings, search engines, social platforms, and multinational consulting firms.</a:t>
            </a:r>
            <a:endParaRPr lang="en-US" sz="950" dirty="0"/>
          </a:p>
        </p:txBody>
      </p:sp>
      <p:sp>
        <p:nvSpPr>
          <p:cNvPr id="9" name="Shape 7"/>
          <p:cNvSpPr/>
          <p:nvPr/>
        </p:nvSpPr>
        <p:spPr>
          <a:xfrm>
            <a:off x="457200" y="3180942"/>
            <a:ext cx="11274552" cy="2948678"/>
          </a:xfrm>
          <a:prstGeom prst="roundRect">
            <a:avLst>
              <a:gd name="adj" fmla="val 1861"/>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0" name="Text 8"/>
          <p:cNvSpPr/>
          <p:nvPr/>
        </p:nvSpPr>
        <p:spPr>
          <a:xfrm>
            <a:off x="685800" y="3272382"/>
            <a:ext cx="10817352"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Forecast</a:t>
            </a:r>
            <a:endParaRPr lang="en-US" sz="1200" dirty="0"/>
          </a:p>
        </p:txBody>
      </p:sp>
      <p:sp>
        <p:nvSpPr>
          <p:cNvPr id="11" name="Text 9"/>
          <p:cNvSpPr/>
          <p:nvPr/>
        </p:nvSpPr>
        <p:spPr>
          <a:xfrm>
            <a:off x="685800" y="3564990"/>
            <a:ext cx="10817352" cy="2537198"/>
          </a:xfrm>
          <a:prstGeom prst="rect">
            <a:avLst/>
          </a:prstGeom>
          <a:noFill/>
          <a:ln/>
        </p:spPr>
        <p:txBody>
          <a:bodyPr wrap="square" rtlCol="0" anchor="t">
            <a:normAutofit/>
          </a:bodyPr>
          <a:lstStyle/>
          <a:p>
            <a:pPr indent="0" marL="0">
              <a:buNone/>
            </a:pPr>
            <a:r>
              <a:rPr lang="en-US" sz="950" dirty="0">
                <a:solidFill>
                  <a:srgbClr val="13192E"/>
                </a:solidFill>
                <a:latin typeface="Calibri" pitchFamily="34" charset="0"/>
                <a:ea typeface="Calibri" pitchFamily="34" charset="-122"/>
                <a:cs typeface="Calibri" pitchFamily="34" charset="-120"/>
              </a:rPr>
              <a:t>Microsoft is positioned for strong near-term growth, primarily driven by the Intelligent Cloud segment, which is currently expanding at a robust 29.67% rate. The company's strategic focus on scaling AI infrastructure and integrating Microsoft Copilot across its productivity suite serves as a key catalyst for sustained revenue momentum. While the More Personal Computing segment faces slight headwinds, the overall trajectory remains positive as the firm leverages its unified cloud platform and enterprise solutions to capture increasing demand for digital transformation.</a:t>
            </a:r>
            <a:endParaRPr lang="en-US" sz="950" dirty="0"/>
          </a:p>
        </p:txBody>
      </p:sp>
      <p:sp>
        <p:nvSpPr>
          <p:cNvPr id="12" name="Shape 10"/>
          <p:cNvSpPr/>
          <p:nvPr/>
        </p:nvSpPr>
        <p:spPr>
          <a:xfrm>
            <a:off x="457200" y="6266780"/>
            <a:ext cx="11274552" cy="685800"/>
          </a:xfrm>
          <a:prstGeom prst="roundRect">
            <a:avLst>
              <a:gd name="adj" fmla="val 8000"/>
            </a:avLst>
          </a:prstGeom>
          <a:solidFill>
            <a:srgbClr val="FFFFFF"/>
          </a:solidFill>
          <a:ln w="12700">
            <a:solidFill>
              <a:srgbClr val="E3E7EE"/>
            </a:solidFill>
            <a:prstDash val="solid"/>
          </a:ln>
          <a:effectLst>
            <a:outerShdw sx="100000" sy="100000" kx="0" ky="0" algn="bl" rotWithShape="0" blurRad="76200" dist="25400" dir="5400000">
              <a:srgbClr val="888888">
                <a:alpha val="18000"/>
              </a:srgbClr>
            </a:outerShdw>
          </a:effectLst>
        </p:spPr>
      </p:sp>
      <p:sp>
        <p:nvSpPr>
          <p:cNvPr id="13" name="Text 11"/>
          <p:cNvSpPr/>
          <p:nvPr/>
        </p:nvSpPr>
        <p:spPr>
          <a:xfrm>
            <a:off x="685800" y="6358220"/>
            <a:ext cx="10817352" cy="274320"/>
          </a:xfrm>
          <a:prstGeom prst="rect">
            <a:avLst/>
          </a:prstGeom>
          <a:noFill/>
          <a:ln/>
        </p:spPr>
        <p:txBody>
          <a:bodyPr wrap="square" rtlCol="0" anchor="ctr"/>
          <a:lstStyle/>
          <a:p>
            <a:pPr indent="0" marL="0">
              <a:buNone/>
            </a:pPr>
            <a:r>
              <a:rPr lang="en-US" sz="1200" b="1" dirty="0">
                <a:solidFill>
                  <a:srgbClr val="2E6F9E"/>
                </a:solidFill>
                <a:latin typeface="Calibri" pitchFamily="34" charset="0"/>
                <a:ea typeface="Calibri" pitchFamily="34" charset="-122"/>
                <a:cs typeface="Calibri" pitchFamily="34" charset="-120"/>
              </a:rPr>
              <a:t>Growth Drivers</a:t>
            </a:r>
            <a:endParaRPr lang="en-US" sz="1200" dirty="0"/>
          </a:p>
        </p:txBody>
      </p:sp>
      <p:sp>
        <p:nvSpPr>
          <p:cNvPr id="14" name="Text 12"/>
          <p:cNvSpPr/>
          <p:nvPr/>
        </p:nvSpPr>
        <p:spPr>
          <a:xfrm>
            <a:off x="685800" y="6650828"/>
            <a:ext cx="10817352" cy="274320"/>
          </a:xfrm>
          <a:prstGeom prst="rect">
            <a:avLst/>
          </a:prstGeom>
          <a:noFill/>
          <a:ln/>
        </p:spPr>
        <p:txBody>
          <a:bodyPr wrap="square" rtlCol="0" anchor="t">
            <a:normAutofit/>
          </a:bodyPr>
          <a:lstStyle/>
          <a:p>
            <a:pPr indent="0" marL="0">
              <a:buNone/>
            </a:pPr>
            <a:r>
              <a:rPr lang="en-US" sz="950" dirty="0">
                <a:solidFill>
                  <a:srgbClr val="13192E"/>
                </a:solidFill>
                <a:latin typeface="Calibri" pitchFamily="34" charset="0"/>
                <a:ea typeface="Calibri" pitchFamily="34" charset="-122"/>
                <a:cs typeface="Calibri" pitchFamily="34" charset="-120"/>
              </a:rPr>
              <a:t>cloud computing adoption, artificial intelligence integration, enterprise digital transformation, search advertising expansion, gaming ecosystem growth</a:t>
            </a:r>
            <a:endParaRPr lang="en-US" sz="950" dirty="0"/>
          </a:p>
        </p:txBody>
      </p:sp>
      <p:sp>
        <p:nvSpPr>
          <p:cNvPr id="15" name="Text 13"/>
          <p:cNvSpPr/>
          <p:nvPr/>
        </p:nvSpPr>
        <p:spPr>
          <a:xfrm>
            <a:off x="365760" y="653796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MICROSOFT CORP</a:t>
            </a:r>
            <a:endParaRPr lang="en-US" sz="900" dirty="0"/>
          </a:p>
        </p:txBody>
      </p:sp>
      <p:sp>
        <p:nvSpPr>
          <p:cNvPr id="16" name="Text 14"/>
          <p:cNvSpPr/>
          <p:nvPr/>
        </p:nvSpPr>
        <p:spPr>
          <a:xfrm>
            <a:off x="9079992" y="6537960"/>
            <a:ext cx="274320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Company Intelligence</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3192E"/>
        </a:solidFill>
      </p:bgPr>
    </p:bg>
    <p:spTree>
      <p:nvGrpSpPr>
        <p:cNvPr id="1" name=""/>
        <p:cNvGrpSpPr/>
        <p:nvPr/>
      </p:nvGrpSpPr>
      <p:grpSpPr>
        <a:xfrm>
          <a:off x="0" y="0"/>
          <a:ext cx="0" cy="0"/>
          <a:chOff x="0" y="0"/>
          <a:chExt cx="0" cy="0"/>
        </a:xfrm>
      </p:grpSpPr>
      <p:sp>
        <p:nvSpPr>
          <p:cNvPr id="2" name="Text 0"/>
          <p:cNvSpPr/>
          <p:nvPr/>
        </p:nvSpPr>
        <p:spPr>
          <a:xfrm>
            <a:off x="731520" y="2743200"/>
            <a:ext cx="10725912" cy="91440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p:nvPr/>
        </p:nvSpPr>
        <p:spPr>
          <a:xfrm>
            <a:off x="731520" y="3566160"/>
            <a:ext cx="10725912" cy="457200"/>
          </a:xfrm>
          <a:prstGeom prst="rect">
            <a:avLst/>
          </a:prstGeom>
          <a:noFill/>
          <a:ln/>
        </p:spPr>
        <p:txBody>
          <a:bodyPr wrap="square" rtlCol="0" anchor="ctr"/>
          <a:lstStyle/>
          <a:p>
            <a:pPr indent="0" marL="0">
              <a:buNone/>
            </a:pPr>
            <a:r>
              <a:rPr lang="en-US" sz="1400" dirty="0">
                <a:solidFill>
                  <a:srgbClr val="AFC6E3"/>
                </a:solidFill>
                <a:latin typeface="Calibri" pitchFamily="34" charset="0"/>
                <a:ea typeface="Calibri" pitchFamily="34" charset="-122"/>
                <a:cs typeface="Calibri" pitchFamily="34" charset="-120"/>
              </a:rPr>
              <a:t>MICROSOFT CORP — Company Intelligence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2026-08-20T07:16:27Z</dcterms:created>
  <dcterms:modified xsi:type="dcterms:W3CDTF">2026-08-20T07:16:27Z</dcterms:modified>
</cp:coreProperties>
</file>